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PARTNERSHIP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200" b="1">
                <a:solidFill>
                  <a:srgbClr val="FFFFFF"/>
                </a:solidFill>
                <a:latin typeface="Arial"/>
              </a:rPr>
              <a:t>AI Workforce Deployment for</a:t>
            </a:r>
          </a:p>
          <a:p>
            <a:r>
              <a:rPr sz="5200" b="1">
                <a:solidFill>
                  <a:srgbClr val="22D3EE"/>
                </a:solidFill>
                <a:latin typeface="Arial"/>
              </a:rPr>
              <a:t>Oaktree Capital Portfolio Companies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$223B AUM  |  Credit, Equity, and Real Estate  |  Global Portfolio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OAKTREE CAPITAL MANAGEMENT</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$223B in assets under management.</a:t>
            </a:r>
          </a:p>
          <a:p>
            <a:r>
              <a:rPr sz="3800" b="1">
                <a:solidFill>
                  <a:srgbClr val="22D3EE"/>
                </a:solidFill>
                <a:latin typeface="Arial"/>
              </a:rPr>
              <a:t>Specializing in credit, distressed, and private equity.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188720"/>
          </a:xfrm>
          <a:prstGeom prst="rect">
            <a:avLst/>
          </a:prstGeom>
          <a:noFill/>
        </p:spPr>
        <p:txBody>
          <a:bodyPr wrap="square">
            <a:spAutoFit/>
          </a:bodyPr>
          <a:lstStyle/>
          <a:p>
            <a:pPr algn="l"/>
            <a:r>
              <a:rPr sz="1400" b="0" i="0">
                <a:solidFill>
                  <a:srgbClr val="737373"/>
                </a:solidFill>
                <a:latin typeface="Arial"/>
              </a:rPr>
              <a:t>Founded in 1995, Oaktree Capital Management is one of the world's largest alternative asset managers. Backed by Brookfield Asset Management, Oaktree manages $223B across credit, equity, and real estate strategies — with a specific focus on distressed debt, high-yield bonds, leveraged loans, and opportunistic investments. Their portfolio spans hundreds of companies across industries including logistics, retail, healthcare, energy, real estate, and financial services.</a:t>
            </a:r>
          </a:p>
        </p:txBody>
      </p:sp>
      <p:sp>
        <p:nvSpPr>
          <p:cNvPr id="6" name="Rectangle 5"/>
          <p:cNvSpPr/>
          <p:nvPr/>
        </p:nvSpPr>
        <p:spPr>
          <a:xfrm>
            <a:off x="73152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79392"/>
            <a:ext cx="2377440" cy="594360"/>
          </a:xfrm>
          <a:prstGeom prst="rect">
            <a:avLst/>
          </a:prstGeom>
          <a:noFill/>
        </p:spPr>
        <p:txBody>
          <a:bodyPr wrap="square">
            <a:spAutoFit/>
          </a:bodyPr>
          <a:lstStyle/>
          <a:p>
            <a:pPr algn="l"/>
            <a:r>
              <a:rPr sz="2600" b="1" i="0">
                <a:solidFill>
                  <a:srgbClr val="22D3EE"/>
                </a:solidFill>
                <a:latin typeface="Arial"/>
              </a:rPr>
              <a:t>$223B</a:t>
            </a:r>
          </a:p>
        </p:txBody>
      </p:sp>
      <p:sp>
        <p:nvSpPr>
          <p:cNvPr id="8" name="TextBox 7"/>
          <p:cNvSpPr txBox="1"/>
          <p:nvPr/>
        </p:nvSpPr>
        <p:spPr>
          <a:xfrm>
            <a:off x="868680" y="4901184"/>
            <a:ext cx="2377440" cy="320040"/>
          </a:xfrm>
          <a:prstGeom prst="rect">
            <a:avLst/>
          </a:prstGeom>
          <a:noFill/>
        </p:spPr>
        <p:txBody>
          <a:bodyPr wrap="square">
            <a:spAutoFit/>
          </a:bodyPr>
          <a:lstStyle/>
          <a:p>
            <a:pPr algn="l"/>
            <a:r>
              <a:rPr sz="1300" b="1" i="0">
                <a:solidFill>
                  <a:srgbClr val="FFFFFF"/>
                </a:solidFill>
                <a:latin typeface="Arial"/>
              </a:rPr>
              <a:t>Assets Under Management</a:t>
            </a:r>
          </a:p>
        </p:txBody>
      </p:sp>
      <p:sp>
        <p:nvSpPr>
          <p:cNvPr id="9" name="TextBox 8"/>
          <p:cNvSpPr txBox="1"/>
          <p:nvPr/>
        </p:nvSpPr>
        <p:spPr>
          <a:xfrm>
            <a:off x="868680" y="5248656"/>
            <a:ext cx="2377440" cy="502920"/>
          </a:xfrm>
          <a:prstGeom prst="rect">
            <a:avLst/>
          </a:prstGeom>
          <a:noFill/>
        </p:spPr>
        <p:txBody>
          <a:bodyPr wrap="square">
            <a:spAutoFit/>
          </a:bodyPr>
          <a:lstStyle/>
          <a:p>
            <a:pPr algn="l"/>
            <a:r>
              <a:rPr sz="1100" b="0" i="0">
                <a:solidFill>
                  <a:srgbClr val="737373"/>
                </a:solidFill>
                <a:latin typeface="Arial"/>
              </a:rPr>
              <a:t>Global alternative investment leader</a:t>
            </a:r>
          </a:p>
        </p:txBody>
      </p:sp>
      <p:sp>
        <p:nvSpPr>
          <p:cNvPr id="10" name="Rectangle 9"/>
          <p:cNvSpPr/>
          <p:nvPr/>
        </p:nvSpPr>
        <p:spPr>
          <a:xfrm>
            <a:off x="356616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279392"/>
            <a:ext cx="2377440" cy="594360"/>
          </a:xfrm>
          <a:prstGeom prst="rect">
            <a:avLst/>
          </a:prstGeom>
          <a:noFill/>
        </p:spPr>
        <p:txBody>
          <a:bodyPr wrap="square">
            <a:spAutoFit/>
          </a:bodyPr>
          <a:lstStyle/>
          <a:p>
            <a:pPr algn="l"/>
            <a:r>
              <a:rPr sz="2600" b="1" i="0">
                <a:solidFill>
                  <a:srgbClr val="22D3EE"/>
                </a:solidFill>
                <a:latin typeface="Arial"/>
              </a:rPr>
              <a:t>1,500+</a:t>
            </a:r>
          </a:p>
        </p:txBody>
      </p:sp>
      <p:sp>
        <p:nvSpPr>
          <p:cNvPr id="12" name="TextBox 11"/>
          <p:cNvSpPr txBox="1"/>
          <p:nvPr/>
        </p:nvSpPr>
        <p:spPr>
          <a:xfrm>
            <a:off x="3703320" y="4901184"/>
            <a:ext cx="2377440" cy="320040"/>
          </a:xfrm>
          <a:prstGeom prst="rect">
            <a:avLst/>
          </a:prstGeom>
          <a:noFill/>
        </p:spPr>
        <p:txBody>
          <a:bodyPr wrap="square">
            <a:spAutoFit/>
          </a:bodyPr>
          <a:lstStyle/>
          <a:p>
            <a:pPr algn="l"/>
            <a:r>
              <a:rPr sz="1300" b="1" i="0">
                <a:solidFill>
                  <a:srgbClr val="FFFFFF"/>
                </a:solidFill>
                <a:latin typeface="Arial"/>
              </a:rPr>
              <a:t>Employees</a:t>
            </a:r>
          </a:p>
        </p:txBody>
      </p:sp>
      <p:sp>
        <p:nvSpPr>
          <p:cNvPr id="13" name="TextBox 12"/>
          <p:cNvSpPr txBox="1"/>
          <p:nvPr/>
        </p:nvSpPr>
        <p:spPr>
          <a:xfrm>
            <a:off x="3703320" y="5248656"/>
            <a:ext cx="2377440" cy="502920"/>
          </a:xfrm>
          <a:prstGeom prst="rect">
            <a:avLst/>
          </a:prstGeom>
          <a:noFill/>
        </p:spPr>
        <p:txBody>
          <a:bodyPr wrap="square">
            <a:spAutoFit/>
          </a:bodyPr>
          <a:lstStyle/>
          <a:p>
            <a:pPr algn="l"/>
            <a:r>
              <a:rPr sz="1100" b="0" i="0">
                <a:solidFill>
                  <a:srgbClr val="737373"/>
                </a:solidFill>
                <a:latin typeface="Arial"/>
              </a:rPr>
              <a:t>Across 20+ global offices</a:t>
            </a:r>
          </a:p>
        </p:txBody>
      </p:sp>
      <p:sp>
        <p:nvSpPr>
          <p:cNvPr id="14" name="Rectangle 13"/>
          <p:cNvSpPr/>
          <p:nvPr/>
        </p:nvSpPr>
        <p:spPr>
          <a:xfrm>
            <a:off x="640080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79392"/>
            <a:ext cx="2377440" cy="594360"/>
          </a:xfrm>
          <a:prstGeom prst="rect">
            <a:avLst/>
          </a:prstGeom>
          <a:noFill/>
        </p:spPr>
        <p:txBody>
          <a:bodyPr wrap="square">
            <a:spAutoFit/>
          </a:bodyPr>
          <a:lstStyle/>
          <a:p>
            <a:pPr algn="l"/>
            <a:r>
              <a:rPr sz="2600" b="1" i="0">
                <a:solidFill>
                  <a:srgbClr val="22D3EE"/>
                </a:solidFill>
                <a:latin typeface="Arial"/>
              </a:rPr>
              <a:t>550+</a:t>
            </a:r>
          </a:p>
        </p:txBody>
      </p:sp>
      <p:sp>
        <p:nvSpPr>
          <p:cNvPr id="16" name="TextBox 15"/>
          <p:cNvSpPr txBox="1"/>
          <p:nvPr/>
        </p:nvSpPr>
        <p:spPr>
          <a:xfrm>
            <a:off x="6537960" y="4901184"/>
            <a:ext cx="2377440" cy="320040"/>
          </a:xfrm>
          <a:prstGeom prst="rect">
            <a:avLst/>
          </a:prstGeom>
          <a:noFill/>
        </p:spPr>
        <p:txBody>
          <a:bodyPr wrap="square">
            <a:spAutoFit/>
          </a:bodyPr>
          <a:lstStyle/>
          <a:p>
            <a:pPr algn="l"/>
            <a:r>
              <a:rPr sz="1300" b="1" i="0">
                <a:solidFill>
                  <a:srgbClr val="FFFFFF"/>
                </a:solidFill>
                <a:latin typeface="Arial"/>
              </a:rPr>
              <a:t>Corporate Clients</a:t>
            </a:r>
          </a:p>
        </p:txBody>
      </p:sp>
      <p:sp>
        <p:nvSpPr>
          <p:cNvPr id="17" name="TextBox 16"/>
          <p:cNvSpPr txBox="1"/>
          <p:nvPr/>
        </p:nvSpPr>
        <p:spPr>
          <a:xfrm>
            <a:off x="6537960" y="5248656"/>
            <a:ext cx="2377440" cy="502920"/>
          </a:xfrm>
          <a:prstGeom prst="rect">
            <a:avLst/>
          </a:prstGeom>
          <a:noFill/>
        </p:spPr>
        <p:txBody>
          <a:bodyPr wrap="square">
            <a:spAutoFit/>
          </a:bodyPr>
          <a:lstStyle/>
          <a:p>
            <a:pPr algn="l"/>
            <a:r>
              <a:rPr sz="1100" b="0" i="0">
                <a:solidFill>
                  <a:srgbClr val="737373"/>
                </a:solidFill>
                <a:latin typeface="Arial"/>
              </a:rPr>
              <a:t>Including 64 of 100 largest US pension plans</a:t>
            </a:r>
          </a:p>
        </p:txBody>
      </p:sp>
      <p:sp>
        <p:nvSpPr>
          <p:cNvPr id="18" name="Rectangle 17"/>
          <p:cNvSpPr/>
          <p:nvPr/>
        </p:nvSpPr>
        <p:spPr>
          <a:xfrm>
            <a:off x="923544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4279392"/>
            <a:ext cx="2377440" cy="594360"/>
          </a:xfrm>
          <a:prstGeom prst="rect">
            <a:avLst/>
          </a:prstGeom>
          <a:noFill/>
        </p:spPr>
        <p:txBody>
          <a:bodyPr wrap="square">
            <a:spAutoFit/>
          </a:bodyPr>
          <a:lstStyle/>
          <a:p>
            <a:pPr algn="l"/>
            <a:r>
              <a:rPr sz="2600" b="1" i="0">
                <a:solidFill>
                  <a:srgbClr val="22D3EE"/>
                </a:solidFill>
                <a:latin typeface="Arial"/>
              </a:rPr>
              <a:t>Brookfield</a:t>
            </a:r>
          </a:p>
        </p:txBody>
      </p:sp>
      <p:sp>
        <p:nvSpPr>
          <p:cNvPr id="20" name="TextBox 19"/>
          <p:cNvSpPr txBox="1"/>
          <p:nvPr/>
        </p:nvSpPr>
        <p:spPr>
          <a:xfrm>
            <a:off x="9372600" y="4901184"/>
            <a:ext cx="2377440" cy="320040"/>
          </a:xfrm>
          <a:prstGeom prst="rect">
            <a:avLst/>
          </a:prstGeom>
          <a:noFill/>
        </p:spPr>
        <p:txBody>
          <a:bodyPr wrap="square">
            <a:spAutoFit/>
          </a:bodyPr>
          <a:lstStyle/>
          <a:p>
            <a:pPr algn="l"/>
            <a:r>
              <a:rPr sz="1300" b="1" i="0">
                <a:solidFill>
                  <a:srgbClr val="FFFFFF"/>
                </a:solidFill>
                <a:latin typeface="Arial"/>
              </a:rPr>
              <a:t>Parent Company</a:t>
            </a:r>
          </a:p>
        </p:txBody>
      </p:sp>
      <p:sp>
        <p:nvSpPr>
          <p:cNvPr id="21" name="TextBox 20"/>
          <p:cNvSpPr txBox="1"/>
          <p:nvPr/>
        </p:nvSpPr>
        <p:spPr>
          <a:xfrm>
            <a:off x="9372600" y="5248656"/>
            <a:ext cx="2377440" cy="502920"/>
          </a:xfrm>
          <a:prstGeom prst="rect">
            <a:avLst/>
          </a:prstGeom>
          <a:noFill/>
        </p:spPr>
        <p:txBody>
          <a:bodyPr wrap="square">
            <a:spAutoFit/>
          </a:bodyPr>
          <a:lstStyle/>
          <a:p>
            <a:pPr algn="l"/>
            <a:r>
              <a:rPr sz="1100" b="0" i="0">
                <a:solidFill>
                  <a:srgbClr val="737373"/>
                </a:solidFill>
                <a:latin typeface="Arial"/>
              </a:rPr>
              <a:t>One of the world's largest asset managers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Oaktree owns companies under pressure.</a:t>
            </a:r>
          </a:p>
          <a:p>
            <a:r>
              <a:rPr sz="3800" b="1">
                <a:solidFill>
                  <a:srgbClr val="22D3EE"/>
                </a:solidFill>
                <a:latin typeface="Arial"/>
              </a:rPr>
              <a:t>AI workforce deployment is the fastest path to EBITDA improvement.</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188720"/>
          </a:xfrm>
          <a:prstGeom prst="rect">
            <a:avLst/>
          </a:prstGeom>
          <a:noFill/>
        </p:spPr>
        <p:txBody>
          <a:bodyPr wrap="square">
            <a:spAutoFit/>
          </a:bodyPr>
          <a:lstStyle/>
          <a:p>
            <a:pPr algn="l"/>
            <a:r>
              <a:rPr sz="1400" b="0" i="0">
                <a:solidFill>
                  <a:srgbClr val="737373"/>
                </a:solidFill>
                <a:latin typeface="Arial"/>
              </a:rPr>
              <a:t>Oaktree's investment thesis is built on buying distressed or undervalued assets and improving their operations to generate returns. The single largest lever available to any portfolio company today is reducing the coordination and back-office overhead that consumes 15-25% of total operating cost — while delivering the same or better output. Devolution Lab deploys AI workforces that systematically absorb that overhead. Every dollar saved flows directly to EBITDA, directly to returns.</a:t>
            </a:r>
          </a:p>
        </p:txBody>
      </p:sp>
      <p:sp>
        <p:nvSpPr>
          <p:cNvPr id="6" name="TextBox 5"/>
          <p:cNvSpPr txBox="1"/>
          <p:nvPr/>
        </p:nvSpPr>
        <p:spPr>
          <a:xfrm>
            <a:off x="731520" y="4114800"/>
            <a:ext cx="10515600" cy="502920"/>
          </a:xfrm>
          <a:prstGeom prst="rect">
            <a:avLst/>
          </a:prstGeom>
          <a:noFill/>
        </p:spPr>
        <p:txBody>
          <a:bodyPr wrap="square">
            <a:spAutoFit/>
          </a:bodyPr>
          <a:lstStyle/>
          <a:p>
            <a:pPr algn="l"/>
            <a:r>
              <a:rPr sz="1500" b="1" i="0">
                <a:solidFill>
                  <a:srgbClr val="FFFFFF"/>
                </a:solidFill>
                <a:latin typeface="Arial"/>
              </a:rPr>
              <a:t>This is not a technology investment. This is an operational improvement that compounds across every company in the portfolio.</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PARTNERSHIP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relationship.</a:t>
            </a:r>
          </a:p>
          <a:p>
            <a:r>
              <a:rPr sz="3800" b="1">
                <a:solidFill>
                  <a:srgbClr val="22D3EE"/>
                </a:solidFill>
                <a:latin typeface="Arial"/>
              </a:rPr>
              <a:t>Deployed across every portfolio company.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868680"/>
          </a:xfrm>
          <a:prstGeom prst="rect">
            <a:avLst/>
          </a:prstGeom>
          <a:noFill/>
        </p:spPr>
        <p:txBody>
          <a:bodyPr wrap="square">
            <a:spAutoFit/>
          </a:bodyPr>
          <a:lstStyle/>
          <a:p>
            <a:pPr algn="l"/>
            <a:r>
              <a:rPr sz="1400" b="0" i="0">
                <a:solidFill>
                  <a:srgbClr val="737373"/>
                </a:solidFill>
                <a:latin typeface="Arial"/>
              </a:rPr>
              <a:t>Rather than each portfolio company engaging Devolution Lab independently, Oaktree deploys us as a platform-level operational partner — available to every company in the portfolio with standardized pricing, proven playbooks, and accelerated deployment timelines. The engagement model we have proven with individual clients scales directly to a portfolio approach.</a:t>
            </a:r>
          </a:p>
        </p:txBody>
      </p:sp>
      <p:sp>
        <p:nvSpPr>
          <p:cNvPr id="6" name="Rectangle 5"/>
          <p:cNvSpPr/>
          <p:nvPr/>
        </p:nvSpPr>
        <p:spPr>
          <a:xfrm>
            <a:off x="731520" y="3794760"/>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79476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86200"/>
            <a:ext cx="4937760" cy="320040"/>
          </a:xfrm>
          <a:prstGeom prst="rect">
            <a:avLst/>
          </a:prstGeom>
          <a:noFill/>
        </p:spPr>
        <p:txBody>
          <a:bodyPr wrap="square">
            <a:spAutoFit/>
          </a:bodyPr>
          <a:lstStyle/>
          <a:p>
            <a:pPr algn="l"/>
            <a:r>
              <a:rPr sz="1300" b="1" i="0">
                <a:solidFill>
                  <a:srgbClr val="FFFFFF"/>
                </a:solidFill>
                <a:latin typeface="Arial"/>
              </a:rPr>
              <a:t>Step 1  |  Portfolio Assessment</a:t>
            </a:r>
          </a:p>
        </p:txBody>
      </p:sp>
      <p:sp>
        <p:nvSpPr>
          <p:cNvPr id="9" name="TextBox 8"/>
          <p:cNvSpPr txBox="1"/>
          <p:nvPr/>
        </p:nvSpPr>
        <p:spPr>
          <a:xfrm>
            <a:off x="914400" y="4297680"/>
            <a:ext cx="4937760" cy="749808"/>
          </a:xfrm>
          <a:prstGeom prst="rect">
            <a:avLst/>
          </a:prstGeom>
          <a:noFill/>
        </p:spPr>
        <p:txBody>
          <a:bodyPr wrap="square">
            <a:spAutoFit/>
          </a:bodyPr>
          <a:lstStyle/>
          <a:p>
            <a:pPr algn="l"/>
            <a:r>
              <a:rPr sz="1100" b="0" i="0">
                <a:solidFill>
                  <a:srgbClr val="737373"/>
                </a:solidFill>
                <a:latin typeface="Arial"/>
              </a:rPr>
              <a:t>We conduct a rapid operational audit across Oaktree's portfolio to identify the highest-ROI deployment targets. Typically 30-45 days. Output: prioritized list of portfolio companies by AI workforce opportunity and projected EBITDA impact.</a:t>
            </a:r>
          </a:p>
        </p:txBody>
      </p:sp>
      <p:sp>
        <p:nvSpPr>
          <p:cNvPr id="10" name="Rectangle 9"/>
          <p:cNvSpPr/>
          <p:nvPr/>
        </p:nvSpPr>
        <p:spPr>
          <a:xfrm>
            <a:off x="6400800" y="3794760"/>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794760"/>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886200"/>
            <a:ext cx="4937760" cy="320040"/>
          </a:xfrm>
          <a:prstGeom prst="rect">
            <a:avLst/>
          </a:prstGeom>
          <a:noFill/>
        </p:spPr>
        <p:txBody>
          <a:bodyPr wrap="square">
            <a:spAutoFit/>
          </a:bodyPr>
          <a:lstStyle/>
          <a:p>
            <a:pPr algn="l"/>
            <a:r>
              <a:rPr sz="1300" b="1" i="0">
                <a:solidFill>
                  <a:srgbClr val="FFFFFF"/>
                </a:solidFill>
                <a:latin typeface="Arial"/>
              </a:rPr>
              <a:t>Step 2  |  Pilot Deployments</a:t>
            </a:r>
          </a:p>
        </p:txBody>
      </p:sp>
      <p:sp>
        <p:nvSpPr>
          <p:cNvPr id="13" name="TextBox 12"/>
          <p:cNvSpPr txBox="1"/>
          <p:nvPr/>
        </p:nvSpPr>
        <p:spPr>
          <a:xfrm>
            <a:off x="6583680" y="4297680"/>
            <a:ext cx="4937760" cy="749808"/>
          </a:xfrm>
          <a:prstGeom prst="rect">
            <a:avLst/>
          </a:prstGeom>
          <a:noFill/>
        </p:spPr>
        <p:txBody>
          <a:bodyPr wrap="square">
            <a:spAutoFit/>
          </a:bodyPr>
          <a:lstStyle/>
          <a:p>
            <a:pPr algn="l"/>
            <a:r>
              <a:rPr sz="1100" b="0" i="0">
                <a:solidFill>
                  <a:srgbClr val="737373"/>
                </a:solidFill>
                <a:latin typeface="Arial"/>
              </a:rPr>
              <a:t>We deploy a 30-day pilot at 3-5 priority portfolio companies simultaneously. Each pilot is scoped, funded, and structured to show measurable EBITDA improvement within the first month.</a:t>
            </a:r>
          </a:p>
        </p:txBody>
      </p:sp>
      <p:sp>
        <p:nvSpPr>
          <p:cNvPr id="14" name="Rectangle 13"/>
          <p:cNvSpPr/>
          <p:nvPr/>
        </p:nvSpPr>
        <p:spPr>
          <a:xfrm>
            <a:off x="731520" y="5276088"/>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276088"/>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67528"/>
            <a:ext cx="4937760" cy="320040"/>
          </a:xfrm>
          <a:prstGeom prst="rect">
            <a:avLst/>
          </a:prstGeom>
          <a:noFill/>
        </p:spPr>
        <p:txBody>
          <a:bodyPr wrap="square">
            <a:spAutoFit/>
          </a:bodyPr>
          <a:lstStyle/>
          <a:p>
            <a:pPr algn="l"/>
            <a:r>
              <a:rPr sz="1300" b="1" i="0">
                <a:solidFill>
                  <a:srgbClr val="FFFFFF"/>
                </a:solidFill>
                <a:latin typeface="Arial"/>
              </a:rPr>
              <a:t>Step 3  |  Portfolio Rollout</a:t>
            </a:r>
          </a:p>
        </p:txBody>
      </p:sp>
      <p:sp>
        <p:nvSpPr>
          <p:cNvPr id="17" name="TextBox 16"/>
          <p:cNvSpPr txBox="1"/>
          <p:nvPr/>
        </p:nvSpPr>
        <p:spPr>
          <a:xfrm>
            <a:off x="914400" y="5779008"/>
            <a:ext cx="4937760" cy="749808"/>
          </a:xfrm>
          <a:prstGeom prst="rect">
            <a:avLst/>
          </a:prstGeom>
          <a:noFill/>
        </p:spPr>
        <p:txBody>
          <a:bodyPr wrap="square">
            <a:spAutoFit/>
          </a:bodyPr>
          <a:lstStyle/>
          <a:p>
            <a:pPr algn="l"/>
            <a:r>
              <a:rPr sz="1100" b="0" i="0">
                <a:solidFill>
                  <a:srgbClr val="737373"/>
                </a:solidFill>
                <a:latin typeface="Arial"/>
              </a:rPr>
              <a:t>Proven results from pilots create the mandate for portfolio-wide deployment. We build a standardized AI workforce playbook for each industry vertical represented in the Oaktree portfolio and roll out systematically.</a:t>
            </a:r>
          </a:p>
        </p:txBody>
      </p:sp>
      <p:sp>
        <p:nvSpPr>
          <p:cNvPr id="18" name="Rectangle 17"/>
          <p:cNvSpPr/>
          <p:nvPr/>
        </p:nvSpPr>
        <p:spPr>
          <a:xfrm>
            <a:off x="6400800" y="5276088"/>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5276088"/>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367528"/>
            <a:ext cx="4937760" cy="320040"/>
          </a:xfrm>
          <a:prstGeom prst="rect">
            <a:avLst/>
          </a:prstGeom>
          <a:noFill/>
        </p:spPr>
        <p:txBody>
          <a:bodyPr wrap="square">
            <a:spAutoFit/>
          </a:bodyPr>
          <a:lstStyle/>
          <a:p>
            <a:pPr algn="l"/>
            <a:r>
              <a:rPr sz="1300" b="1" i="0">
                <a:solidFill>
                  <a:srgbClr val="FFFFFF"/>
                </a:solidFill>
                <a:latin typeface="Arial"/>
              </a:rPr>
              <a:t>Step 4  |  Ongoing Operations</a:t>
            </a:r>
          </a:p>
        </p:txBody>
      </p:sp>
      <p:sp>
        <p:nvSpPr>
          <p:cNvPr id="21" name="TextBox 20"/>
          <p:cNvSpPr txBox="1"/>
          <p:nvPr/>
        </p:nvSpPr>
        <p:spPr>
          <a:xfrm>
            <a:off x="6583680" y="5779008"/>
            <a:ext cx="4937760" cy="749808"/>
          </a:xfrm>
          <a:prstGeom prst="rect">
            <a:avLst/>
          </a:prstGeom>
          <a:noFill/>
        </p:spPr>
        <p:txBody>
          <a:bodyPr wrap="square">
            <a:spAutoFit/>
          </a:bodyPr>
          <a:lstStyle/>
          <a:p>
            <a:pPr algn="l"/>
            <a:r>
              <a:rPr sz="1100" b="0" i="0">
                <a:solidFill>
                  <a:srgbClr val="737373"/>
                </a:solidFill>
                <a:latin typeface="Arial"/>
              </a:rPr>
              <a:t>Devolution Lab operates the AI workforce for each portfolio company as a managed service. As companies are sold or refinanced, the AI workforce becomes a value-add asset that improves exit multiples.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AI WORKFORCE APPLICATIONS ACROSS OAKTREE PORTFOLIO VERTICALS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Every vertical.</a:t>
            </a:r>
          </a:p>
          <a:p>
            <a:r>
              <a:rPr sz="3600" b="1">
                <a:solidFill>
                  <a:srgbClr val="22D3EE"/>
                </a:solidFill>
                <a:latin typeface="Arial"/>
              </a:rPr>
              <a:t>Same playbook. Different configuration.</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347472"/>
          </a:xfrm>
          <a:prstGeom prst="rect">
            <a:avLst/>
          </a:prstGeom>
          <a:noFill/>
        </p:spPr>
        <p:txBody>
          <a:bodyPr wrap="square">
            <a:spAutoFit/>
          </a:bodyPr>
          <a:lstStyle/>
          <a:p>
            <a:pPr algn="l"/>
            <a:r>
              <a:rPr sz="1300" b="1" i="0">
                <a:solidFill>
                  <a:srgbClr val="FFFFFF"/>
                </a:solidFill>
                <a:latin typeface="Arial"/>
              </a:rPr>
              <a:t>Credit and Financial Services</a:t>
            </a:r>
          </a:p>
        </p:txBody>
      </p:sp>
      <p:sp>
        <p:nvSpPr>
          <p:cNvPr id="7" name="TextBox 6"/>
          <p:cNvSpPr txBox="1"/>
          <p:nvPr/>
        </p:nvSpPr>
        <p:spPr>
          <a:xfrm>
            <a:off x="868680" y="3081528"/>
            <a:ext cx="3310128" cy="804672"/>
          </a:xfrm>
          <a:prstGeom prst="rect">
            <a:avLst/>
          </a:prstGeom>
          <a:noFill/>
        </p:spPr>
        <p:txBody>
          <a:bodyPr wrap="square">
            <a:spAutoFit/>
          </a:bodyPr>
          <a:lstStyle/>
          <a:p>
            <a:pPr algn="l"/>
            <a:r>
              <a:rPr sz="1100" b="0" i="0">
                <a:solidFill>
                  <a:srgbClr val="737373"/>
                </a:solidFill>
                <a:latin typeface="Arial"/>
              </a:rPr>
              <a:t>Back-office automation for portfolio companies in financial services. Reporting agents, compliance agents, client communications, and analytics — reducing analyst and coordinator headcount while improving output speed and accuracy.</a:t>
            </a:r>
          </a:p>
        </p:txBody>
      </p:sp>
      <p:sp>
        <p:nvSpPr>
          <p:cNvPr id="8" name="Rectangle 7"/>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9704" y="2670048"/>
            <a:ext cx="3310128" cy="347472"/>
          </a:xfrm>
          <a:prstGeom prst="rect">
            <a:avLst/>
          </a:prstGeom>
          <a:noFill/>
        </p:spPr>
        <p:txBody>
          <a:bodyPr wrap="square">
            <a:spAutoFit/>
          </a:bodyPr>
          <a:lstStyle/>
          <a:p>
            <a:pPr algn="l"/>
            <a:r>
              <a:rPr sz="1300" b="1" i="0">
                <a:solidFill>
                  <a:srgbClr val="FFFFFF"/>
                </a:solidFill>
                <a:latin typeface="Arial"/>
              </a:rPr>
              <a:t>Real Estate</a:t>
            </a:r>
          </a:p>
        </p:txBody>
      </p:sp>
      <p:sp>
        <p:nvSpPr>
          <p:cNvPr id="11" name="TextBox 10"/>
          <p:cNvSpPr txBox="1"/>
          <p:nvPr/>
        </p:nvSpPr>
        <p:spPr>
          <a:xfrm>
            <a:off x="4489704" y="3081528"/>
            <a:ext cx="3310128" cy="804672"/>
          </a:xfrm>
          <a:prstGeom prst="rect">
            <a:avLst/>
          </a:prstGeom>
          <a:noFill/>
        </p:spPr>
        <p:txBody>
          <a:bodyPr wrap="square">
            <a:spAutoFit/>
          </a:bodyPr>
          <a:lstStyle/>
          <a:p>
            <a:pPr algn="l"/>
            <a:r>
              <a:rPr sz="1100" b="0" i="0">
                <a:solidFill>
                  <a:srgbClr val="737373"/>
                </a:solidFill>
                <a:latin typeface="Arial"/>
              </a:rPr>
              <a:t>Property management AI for Oaktree real estate holdings. Tenant communications, maintenance coordination, lease administration, vendor management, and financial reporting — all automated across the entire portfolio.</a:t>
            </a:r>
          </a:p>
        </p:txBody>
      </p:sp>
      <p:sp>
        <p:nvSpPr>
          <p:cNvPr id="12" name="Rectangle 11"/>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0728" y="2670048"/>
            <a:ext cx="3310128" cy="347472"/>
          </a:xfrm>
          <a:prstGeom prst="rect">
            <a:avLst/>
          </a:prstGeom>
          <a:noFill/>
        </p:spPr>
        <p:txBody>
          <a:bodyPr wrap="square">
            <a:spAutoFit/>
          </a:bodyPr>
          <a:lstStyle/>
          <a:p>
            <a:pPr algn="l"/>
            <a:r>
              <a:rPr sz="1300" b="1" i="0">
                <a:solidFill>
                  <a:srgbClr val="FFFFFF"/>
                </a:solidFill>
                <a:latin typeface="Arial"/>
              </a:rPr>
              <a:t>Logistics and Distribution</a:t>
            </a:r>
          </a:p>
        </p:txBody>
      </p:sp>
      <p:sp>
        <p:nvSpPr>
          <p:cNvPr id="15" name="TextBox 14"/>
          <p:cNvSpPr txBox="1"/>
          <p:nvPr/>
        </p:nvSpPr>
        <p:spPr>
          <a:xfrm>
            <a:off x="8110728" y="3081528"/>
            <a:ext cx="3310128" cy="804672"/>
          </a:xfrm>
          <a:prstGeom prst="rect">
            <a:avLst/>
          </a:prstGeom>
          <a:noFill/>
        </p:spPr>
        <p:txBody>
          <a:bodyPr wrap="square">
            <a:spAutoFit/>
          </a:bodyPr>
          <a:lstStyle/>
          <a:p>
            <a:pPr algn="l"/>
            <a:r>
              <a:rPr sz="1100" b="0" i="0">
                <a:solidFill>
                  <a:srgbClr val="737373"/>
                </a:solidFill>
                <a:latin typeface="Arial"/>
              </a:rPr>
              <a:t>Operations coordination, dispatch management, vendor SLA tracking, and route optimization across logistics portfolio companies. Directly applicable to Oaktree's investments in freight, warehousing, and distribution.</a:t>
            </a:r>
          </a:p>
        </p:txBody>
      </p:sp>
      <p:sp>
        <p:nvSpPr>
          <p:cNvPr id="16" name="Rectangle 15"/>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06240"/>
            <a:ext cx="3310128" cy="347472"/>
          </a:xfrm>
          <a:prstGeom prst="rect">
            <a:avLst/>
          </a:prstGeom>
          <a:noFill/>
        </p:spPr>
        <p:txBody>
          <a:bodyPr wrap="square">
            <a:spAutoFit/>
          </a:bodyPr>
          <a:lstStyle/>
          <a:p>
            <a:pPr algn="l"/>
            <a:r>
              <a:rPr sz="1300" b="1" i="0">
                <a:solidFill>
                  <a:srgbClr val="FFFFFF"/>
                </a:solidFill>
                <a:latin typeface="Arial"/>
              </a:rPr>
              <a:t>Healthcare and Life Sciences</a:t>
            </a:r>
          </a:p>
        </p:txBody>
      </p:sp>
      <p:sp>
        <p:nvSpPr>
          <p:cNvPr id="19" name="TextBox 18"/>
          <p:cNvSpPr txBox="1"/>
          <p:nvPr/>
        </p:nvSpPr>
        <p:spPr>
          <a:xfrm>
            <a:off x="868680" y="4617720"/>
            <a:ext cx="3310128" cy="804672"/>
          </a:xfrm>
          <a:prstGeom prst="rect">
            <a:avLst/>
          </a:prstGeom>
          <a:noFill/>
        </p:spPr>
        <p:txBody>
          <a:bodyPr wrap="square">
            <a:spAutoFit/>
          </a:bodyPr>
          <a:lstStyle/>
          <a:p>
            <a:pPr algn="l"/>
            <a:r>
              <a:rPr sz="1100" b="0" i="0">
                <a:solidFill>
                  <a:srgbClr val="737373"/>
                </a:solidFill>
                <a:latin typeface="Arial"/>
              </a:rPr>
              <a:t>Billing coordination, compliance documentation, patient communications, scheduling, and vendor management for healthcare portfolio companies. Massive manual overhead immediately addressable.</a:t>
            </a:r>
          </a:p>
        </p:txBody>
      </p:sp>
      <p:sp>
        <p:nvSpPr>
          <p:cNvPr id="20" name="Rectangle 19"/>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9704" y="4206240"/>
            <a:ext cx="3310128" cy="347472"/>
          </a:xfrm>
          <a:prstGeom prst="rect">
            <a:avLst/>
          </a:prstGeom>
          <a:noFill/>
        </p:spPr>
        <p:txBody>
          <a:bodyPr wrap="square">
            <a:spAutoFit/>
          </a:bodyPr>
          <a:lstStyle/>
          <a:p>
            <a:pPr algn="l"/>
            <a:r>
              <a:rPr sz="1300" b="1" i="0">
                <a:solidFill>
                  <a:srgbClr val="FFFFFF"/>
                </a:solidFill>
                <a:latin typeface="Arial"/>
              </a:rPr>
              <a:t>Retail and Consumer</a:t>
            </a:r>
          </a:p>
        </p:txBody>
      </p:sp>
      <p:sp>
        <p:nvSpPr>
          <p:cNvPr id="23" name="TextBox 22"/>
          <p:cNvSpPr txBox="1"/>
          <p:nvPr/>
        </p:nvSpPr>
        <p:spPr>
          <a:xfrm>
            <a:off x="4489704" y="4617720"/>
            <a:ext cx="3310128" cy="804672"/>
          </a:xfrm>
          <a:prstGeom prst="rect">
            <a:avLst/>
          </a:prstGeom>
          <a:noFill/>
        </p:spPr>
        <p:txBody>
          <a:bodyPr wrap="square">
            <a:spAutoFit/>
          </a:bodyPr>
          <a:lstStyle/>
          <a:p>
            <a:pPr algn="l"/>
            <a:r>
              <a:rPr sz="1100" b="0" i="0">
                <a:solidFill>
                  <a:srgbClr val="737373"/>
                </a:solidFill>
                <a:latin typeface="Arial"/>
              </a:rPr>
              <a:t>Inventory intelligence, merchandising coordination, store operations, loss prevention, and customer service automation for retail portfolio companies under margin pressure.</a:t>
            </a:r>
          </a:p>
        </p:txBody>
      </p:sp>
      <p:sp>
        <p:nvSpPr>
          <p:cNvPr id="24" name="Rectangle 23"/>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10728" y="4206240"/>
            <a:ext cx="3310128" cy="347472"/>
          </a:xfrm>
          <a:prstGeom prst="rect">
            <a:avLst/>
          </a:prstGeom>
          <a:noFill/>
        </p:spPr>
        <p:txBody>
          <a:bodyPr wrap="square">
            <a:spAutoFit/>
          </a:bodyPr>
          <a:lstStyle/>
          <a:p>
            <a:pPr algn="l"/>
            <a:r>
              <a:rPr sz="1300" b="1" i="0">
                <a:solidFill>
                  <a:srgbClr val="FFFFFF"/>
                </a:solidFill>
                <a:latin typeface="Arial"/>
              </a:rPr>
              <a:t>Energy and Infrastructure</a:t>
            </a:r>
          </a:p>
        </p:txBody>
      </p:sp>
      <p:sp>
        <p:nvSpPr>
          <p:cNvPr id="27" name="TextBox 26"/>
          <p:cNvSpPr txBox="1"/>
          <p:nvPr/>
        </p:nvSpPr>
        <p:spPr>
          <a:xfrm>
            <a:off x="8110728" y="4617720"/>
            <a:ext cx="3310128" cy="804672"/>
          </a:xfrm>
          <a:prstGeom prst="rect">
            <a:avLst/>
          </a:prstGeom>
          <a:noFill/>
        </p:spPr>
        <p:txBody>
          <a:bodyPr wrap="square">
            <a:spAutoFit/>
          </a:bodyPr>
          <a:lstStyle/>
          <a:p>
            <a:pPr algn="l"/>
            <a:r>
              <a:rPr sz="1100" b="0" i="0">
                <a:solidFill>
                  <a:srgbClr val="737373"/>
                </a:solidFill>
                <a:latin typeface="Arial"/>
              </a:rPr>
              <a:t>Regulatory reporting, maintenance coordination, vendor management, and compliance tracking for energy and infrastructure assets. Highly repetitive workflows with zero tolerance for error.</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EBITDA IMPACT ACROSS THE PORTFOLIO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percentage point of EBITDA improvement</a:t>
            </a:r>
          </a:p>
          <a:p>
            <a:r>
              <a:rPr sz="3800" b="1">
                <a:solidFill>
                  <a:srgbClr val="22D3EE"/>
                </a:solidFill>
                <a:latin typeface="Arial"/>
              </a:rPr>
              <a:t>multiplies across a $223B portfolio.</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914400"/>
          </a:xfrm>
          <a:prstGeom prst="rect">
            <a:avLst/>
          </a:prstGeom>
          <a:noFill/>
        </p:spPr>
        <p:txBody>
          <a:bodyPr wrap="square">
            <a:spAutoFit/>
          </a:bodyPr>
          <a:lstStyle/>
          <a:p>
            <a:pPr algn="l"/>
            <a:r>
              <a:rPr sz="1400" b="0" i="0">
                <a:solidFill>
                  <a:srgbClr val="737373"/>
                </a:solidFill>
                <a:latin typeface="Arial"/>
              </a:rPr>
              <a:t>Oaktree holds operating companies across its credit and equity strategies. For a typical mid-market portfolio company with $100M-$500M in revenue, a Devolution Lab deployment generates $5M-$30M in annual EBITDA improvement through reduced headcount costs, faster operations, and improved output quality. Across a portfolio of 20-30 such companies, the aggregate impact runs into hundreds of millions annually.</a:t>
            </a:r>
          </a:p>
        </p:txBody>
      </p:sp>
      <p:sp>
        <p:nvSpPr>
          <p:cNvPr id="6" name="Rectangle 5"/>
          <p:cNvSpPr/>
          <p:nvPr/>
        </p:nvSpPr>
        <p:spPr>
          <a:xfrm>
            <a:off x="731520" y="3840480"/>
            <a:ext cx="11155680" cy="5029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31920"/>
            <a:ext cx="3657600" cy="320040"/>
          </a:xfrm>
          <a:prstGeom prst="rect">
            <a:avLst/>
          </a:prstGeom>
          <a:noFill/>
        </p:spPr>
        <p:txBody>
          <a:bodyPr wrap="square">
            <a:spAutoFit/>
          </a:bodyPr>
          <a:lstStyle/>
          <a:p>
            <a:pPr algn="l"/>
            <a:r>
              <a:rPr sz="1300" b="0" i="0">
                <a:solidFill>
                  <a:srgbClr val="737373"/>
                </a:solidFill>
                <a:latin typeface="Arial"/>
              </a:rPr>
              <a:t>$50M-$150M revenue company</a:t>
            </a:r>
          </a:p>
        </p:txBody>
      </p:sp>
      <p:sp>
        <p:nvSpPr>
          <p:cNvPr id="8" name="TextBox 7"/>
          <p:cNvSpPr txBox="1"/>
          <p:nvPr/>
        </p:nvSpPr>
        <p:spPr>
          <a:xfrm>
            <a:off x="4754880" y="3931920"/>
            <a:ext cx="3840480" cy="320040"/>
          </a:xfrm>
          <a:prstGeom prst="rect">
            <a:avLst/>
          </a:prstGeom>
          <a:noFill/>
        </p:spPr>
        <p:txBody>
          <a:bodyPr wrap="square">
            <a:spAutoFit/>
          </a:bodyPr>
          <a:lstStyle/>
          <a:p>
            <a:pPr algn="l"/>
            <a:r>
              <a:rPr sz="1400" b="1" i="0">
                <a:solidFill>
                  <a:srgbClr val="22D3EE"/>
                </a:solidFill>
                <a:latin typeface="Arial"/>
              </a:rPr>
              <a:t>$2.5M-$8M/yr EBITDA improvement</a:t>
            </a:r>
          </a:p>
        </p:txBody>
      </p:sp>
      <p:sp>
        <p:nvSpPr>
          <p:cNvPr id="9" name="TextBox 8"/>
          <p:cNvSpPr txBox="1"/>
          <p:nvPr/>
        </p:nvSpPr>
        <p:spPr>
          <a:xfrm>
            <a:off x="8778240" y="3931920"/>
            <a:ext cx="2926080" cy="320040"/>
          </a:xfrm>
          <a:prstGeom prst="rect">
            <a:avLst/>
          </a:prstGeom>
          <a:noFill/>
        </p:spPr>
        <p:txBody>
          <a:bodyPr wrap="square">
            <a:spAutoFit/>
          </a:bodyPr>
          <a:lstStyle/>
          <a:p>
            <a:pPr algn="l"/>
            <a:r>
              <a:rPr sz="1200" b="0" i="0">
                <a:solidFill>
                  <a:srgbClr val="737373"/>
                </a:solidFill>
                <a:latin typeface="Arial"/>
              </a:rPr>
              <a:t>3-5% EBITDA margin expansion</a:t>
            </a:r>
          </a:p>
        </p:txBody>
      </p:sp>
      <p:sp>
        <p:nvSpPr>
          <p:cNvPr id="10" name="Rectangle 9"/>
          <p:cNvSpPr/>
          <p:nvPr/>
        </p:nvSpPr>
        <p:spPr>
          <a:xfrm>
            <a:off x="731520" y="4407408"/>
            <a:ext cx="11155680" cy="5029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98848"/>
            <a:ext cx="3657600" cy="320040"/>
          </a:xfrm>
          <a:prstGeom prst="rect">
            <a:avLst/>
          </a:prstGeom>
          <a:noFill/>
        </p:spPr>
        <p:txBody>
          <a:bodyPr wrap="square">
            <a:spAutoFit/>
          </a:bodyPr>
          <a:lstStyle/>
          <a:p>
            <a:pPr algn="l"/>
            <a:r>
              <a:rPr sz="1300" b="0" i="0">
                <a:solidFill>
                  <a:srgbClr val="737373"/>
                </a:solidFill>
                <a:latin typeface="Arial"/>
              </a:rPr>
              <a:t>$150M-$500M revenue company</a:t>
            </a:r>
          </a:p>
        </p:txBody>
      </p:sp>
      <p:sp>
        <p:nvSpPr>
          <p:cNvPr id="12" name="TextBox 11"/>
          <p:cNvSpPr txBox="1"/>
          <p:nvPr/>
        </p:nvSpPr>
        <p:spPr>
          <a:xfrm>
            <a:off x="4754880" y="4498848"/>
            <a:ext cx="3840480" cy="320040"/>
          </a:xfrm>
          <a:prstGeom prst="rect">
            <a:avLst/>
          </a:prstGeom>
          <a:noFill/>
        </p:spPr>
        <p:txBody>
          <a:bodyPr wrap="square">
            <a:spAutoFit/>
          </a:bodyPr>
          <a:lstStyle/>
          <a:p>
            <a:pPr algn="l"/>
            <a:r>
              <a:rPr sz="1400" b="1" i="0">
                <a:solidFill>
                  <a:srgbClr val="22D3EE"/>
                </a:solidFill>
                <a:latin typeface="Arial"/>
              </a:rPr>
              <a:t>$8M-$30M/yr EBITDA improvement</a:t>
            </a:r>
          </a:p>
        </p:txBody>
      </p:sp>
      <p:sp>
        <p:nvSpPr>
          <p:cNvPr id="13" name="TextBox 12"/>
          <p:cNvSpPr txBox="1"/>
          <p:nvPr/>
        </p:nvSpPr>
        <p:spPr>
          <a:xfrm>
            <a:off x="8778240" y="4498848"/>
            <a:ext cx="2926080" cy="320040"/>
          </a:xfrm>
          <a:prstGeom prst="rect">
            <a:avLst/>
          </a:prstGeom>
          <a:noFill/>
        </p:spPr>
        <p:txBody>
          <a:bodyPr wrap="square">
            <a:spAutoFit/>
          </a:bodyPr>
          <a:lstStyle/>
          <a:p>
            <a:pPr algn="l"/>
            <a:r>
              <a:rPr sz="1200" b="0" i="0">
                <a:solidFill>
                  <a:srgbClr val="737373"/>
                </a:solidFill>
                <a:latin typeface="Arial"/>
              </a:rPr>
              <a:t>2-4% EBITDA margin expansion</a:t>
            </a:r>
          </a:p>
        </p:txBody>
      </p:sp>
      <p:sp>
        <p:nvSpPr>
          <p:cNvPr id="14" name="Rectangle 13"/>
          <p:cNvSpPr/>
          <p:nvPr/>
        </p:nvSpPr>
        <p:spPr>
          <a:xfrm>
            <a:off x="731520" y="4974336"/>
            <a:ext cx="11155680" cy="5029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65776"/>
            <a:ext cx="3657600" cy="320040"/>
          </a:xfrm>
          <a:prstGeom prst="rect">
            <a:avLst/>
          </a:prstGeom>
          <a:noFill/>
        </p:spPr>
        <p:txBody>
          <a:bodyPr wrap="square">
            <a:spAutoFit/>
          </a:bodyPr>
          <a:lstStyle/>
          <a:p>
            <a:pPr algn="l"/>
            <a:r>
              <a:rPr sz="1300" b="0" i="0">
                <a:solidFill>
                  <a:srgbClr val="737373"/>
                </a:solidFill>
                <a:latin typeface="Arial"/>
              </a:rPr>
              <a:t>$500M+ revenue company</a:t>
            </a:r>
          </a:p>
        </p:txBody>
      </p:sp>
      <p:sp>
        <p:nvSpPr>
          <p:cNvPr id="16" name="TextBox 15"/>
          <p:cNvSpPr txBox="1"/>
          <p:nvPr/>
        </p:nvSpPr>
        <p:spPr>
          <a:xfrm>
            <a:off x="4754880" y="5065776"/>
            <a:ext cx="3840480" cy="320040"/>
          </a:xfrm>
          <a:prstGeom prst="rect">
            <a:avLst/>
          </a:prstGeom>
          <a:noFill/>
        </p:spPr>
        <p:txBody>
          <a:bodyPr wrap="square">
            <a:spAutoFit/>
          </a:bodyPr>
          <a:lstStyle/>
          <a:p>
            <a:pPr algn="l"/>
            <a:r>
              <a:rPr sz="1400" b="1" i="0">
                <a:solidFill>
                  <a:srgbClr val="22D3EE"/>
                </a:solidFill>
                <a:latin typeface="Arial"/>
              </a:rPr>
              <a:t>$30M-$100M+/yr EBITDA improvement</a:t>
            </a:r>
          </a:p>
        </p:txBody>
      </p:sp>
      <p:sp>
        <p:nvSpPr>
          <p:cNvPr id="17" name="TextBox 16"/>
          <p:cNvSpPr txBox="1"/>
          <p:nvPr/>
        </p:nvSpPr>
        <p:spPr>
          <a:xfrm>
            <a:off x="8778240" y="5065776"/>
            <a:ext cx="2926080" cy="320040"/>
          </a:xfrm>
          <a:prstGeom prst="rect">
            <a:avLst/>
          </a:prstGeom>
          <a:noFill/>
        </p:spPr>
        <p:txBody>
          <a:bodyPr wrap="square">
            <a:spAutoFit/>
          </a:bodyPr>
          <a:lstStyle/>
          <a:p>
            <a:pPr algn="l"/>
            <a:r>
              <a:rPr sz="1200" b="0" i="0">
                <a:solidFill>
                  <a:srgbClr val="737373"/>
                </a:solidFill>
                <a:latin typeface="Arial"/>
              </a:rPr>
              <a:t>1.5-3% EBITDA margin expansion</a:t>
            </a:r>
          </a:p>
        </p:txBody>
      </p:sp>
      <p:sp>
        <p:nvSpPr>
          <p:cNvPr id="18" name="Rectangle 17"/>
          <p:cNvSpPr/>
          <p:nvPr/>
        </p:nvSpPr>
        <p:spPr>
          <a:xfrm>
            <a:off x="731520" y="5541264"/>
            <a:ext cx="11155680" cy="502920"/>
          </a:xfrm>
          <a:prstGeom prst="rect">
            <a:avLst/>
          </a:prstGeom>
          <a:solidFill>
            <a:srgbClr val="080E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32704"/>
            <a:ext cx="3657600" cy="320040"/>
          </a:xfrm>
          <a:prstGeom prst="rect">
            <a:avLst/>
          </a:prstGeom>
          <a:noFill/>
        </p:spPr>
        <p:txBody>
          <a:bodyPr wrap="square">
            <a:spAutoFit/>
          </a:bodyPr>
          <a:lstStyle/>
          <a:p>
            <a:pPr algn="l"/>
            <a:r>
              <a:rPr sz="1300" b="1" i="0">
                <a:solidFill>
                  <a:srgbClr val="FFFFFF"/>
                </a:solidFill>
                <a:latin typeface="Arial"/>
              </a:rPr>
              <a:t>20-company portfolio aggregate</a:t>
            </a:r>
          </a:p>
        </p:txBody>
      </p:sp>
      <p:sp>
        <p:nvSpPr>
          <p:cNvPr id="20" name="TextBox 19"/>
          <p:cNvSpPr txBox="1"/>
          <p:nvPr/>
        </p:nvSpPr>
        <p:spPr>
          <a:xfrm>
            <a:off x="4754880" y="5632704"/>
            <a:ext cx="3840480" cy="320040"/>
          </a:xfrm>
          <a:prstGeom prst="rect">
            <a:avLst/>
          </a:prstGeom>
          <a:noFill/>
        </p:spPr>
        <p:txBody>
          <a:bodyPr wrap="square">
            <a:spAutoFit/>
          </a:bodyPr>
          <a:lstStyle/>
          <a:p>
            <a:pPr algn="l"/>
            <a:r>
              <a:rPr sz="1400" b="1" i="0">
                <a:solidFill>
                  <a:srgbClr val="22D3EE"/>
                </a:solidFill>
                <a:latin typeface="Arial"/>
              </a:rPr>
              <a:t>$100M-$500M/yr aggregate</a:t>
            </a:r>
          </a:p>
        </p:txBody>
      </p:sp>
      <p:sp>
        <p:nvSpPr>
          <p:cNvPr id="21" name="TextBox 20"/>
          <p:cNvSpPr txBox="1"/>
          <p:nvPr/>
        </p:nvSpPr>
        <p:spPr>
          <a:xfrm>
            <a:off x="8778240" y="5632704"/>
            <a:ext cx="2926080" cy="320040"/>
          </a:xfrm>
          <a:prstGeom prst="rect">
            <a:avLst/>
          </a:prstGeom>
          <a:noFill/>
        </p:spPr>
        <p:txBody>
          <a:bodyPr wrap="square">
            <a:spAutoFit/>
          </a:bodyPr>
          <a:lstStyle/>
          <a:p>
            <a:pPr algn="l"/>
            <a:r>
              <a:rPr sz="1200" b="0" i="0">
                <a:solidFill>
                  <a:srgbClr val="737373"/>
                </a:solidFill>
                <a:latin typeface="Arial"/>
              </a:rPr>
              <a:t>Transforms portfolio returns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EXIT MULTIPLE STORY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AI workforce deployment does not just reduce costs.</a:t>
            </a:r>
          </a:p>
          <a:p>
            <a:r>
              <a:rPr sz="3800" b="1">
                <a:solidFill>
                  <a:srgbClr val="22D3EE"/>
                </a:solidFill>
                <a:latin typeface="Arial"/>
              </a:rPr>
              <a:t>It increases exit valuations.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005840"/>
          </a:xfrm>
          <a:prstGeom prst="rect">
            <a:avLst/>
          </a:prstGeom>
          <a:noFill/>
        </p:spPr>
        <p:txBody>
          <a:bodyPr wrap="square">
            <a:spAutoFit/>
          </a:bodyPr>
          <a:lstStyle/>
          <a:p>
            <a:pPr algn="l"/>
            <a:r>
              <a:rPr sz="1400" b="0" i="0">
                <a:solidFill>
                  <a:srgbClr val="737373"/>
                </a:solidFill>
                <a:latin typeface="Arial"/>
              </a:rPr>
              <a:t>When Oaktree exits a portfolio company, buyers pay multiples on EBITDA. Every dollar of EBITDA improvement generated by an AI workforce is worth 8-12x at exit for a typical Oaktree-held operating company. A $10M annual EBITDA improvement from a Devolution Lab deployment translates to $80M-$120M in additional exit value. For a 20-company portfolio, that aggregate exit value impact runs into the billions.</a:t>
            </a:r>
          </a:p>
        </p:txBody>
      </p:sp>
      <p:sp>
        <p:nvSpPr>
          <p:cNvPr id="6" name="Rectangle 5"/>
          <p:cNvSpPr/>
          <p:nvPr/>
        </p:nvSpPr>
        <p:spPr>
          <a:xfrm>
            <a:off x="731520" y="3977639"/>
            <a:ext cx="11155680" cy="4572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050791"/>
            <a:ext cx="3657600" cy="292608"/>
          </a:xfrm>
          <a:prstGeom prst="rect">
            <a:avLst/>
          </a:prstGeom>
          <a:noFill/>
        </p:spPr>
        <p:txBody>
          <a:bodyPr wrap="square">
            <a:spAutoFit/>
          </a:bodyPr>
          <a:lstStyle/>
          <a:p>
            <a:pPr algn="l"/>
            <a:r>
              <a:rPr sz="1300" b="0" i="0">
                <a:solidFill>
                  <a:srgbClr val="737373"/>
                </a:solidFill>
                <a:latin typeface="Arial"/>
              </a:rPr>
              <a:t>$5M EBITDA improvement</a:t>
            </a:r>
          </a:p>
        </p:txBody>
      </p:sp>
      <p:sp>
        <p:nvSpPr>
          <p:cNvPr id="8" name="TextBox 7"/>
          <p:cNvSpPr txBox="1"/>
          <p:nvPr/>
        </p:nvSpPr>
        <p:spPr>
          <a:xfrm>
            <a:off x="4754880" y="4050791"/>
            <a:ext cx="2743200" cy="292608"/>
          </a:xfrm>
          <a:prstGeom prst="rect">
            <a:avLst/>
          </a:prstGeom>
          <a:noFill/>
        </p:spPr>
        <p:txBody>
          <a:bodyPr wrap="square">
            <a:spAutoFit/>
          </a:bodyPr>
          <a:lstStyle/>
          <a:p>
            <a:pPr algn="l"/>
            <a:r>
              <a:rPr sz="1300" b="0" i="0">
                <a:solidFill>
                  <a:srgbClr val="737373"/>
                </a:solidFill>
                <a:latin typeface="Arial"/>
              </a:rPr>
              <a:t>8x-12x exit multiple</a:t>
            </a:r>
          </a:p>
        </p:txBody>
      </p:sp>
      <p:sp>
        <p:nvSpPr>
          <p:cNvPr id="9" name="TextBox 8"/>
          <p:cNvSpPr txBox="1"/>
          <p:nvPr/>
        </p:nvSpPr>
        <p:spPr>
          <a:xfrm>
            <a:off x="7680960" y="4050791"/>
            <a:ext cx="4023360" cy="292608"/>
          </a:xfrm>
          <a:prstGeom prst="rect">
            <a:avLst/>
          </a:prstGeom>
          <a:noFill/>
        </p:spPr>
        <p:txBody>
          <a:bodyPr wrap="square">
            <a:spAutoFit/>
          </a:bodyPr>
          <a:lstStyle/>
          <a:p>
            <a:pPr algn="l"/>
            <a:r>
              <a:rPr sz="1400" b="1" i="0">
                <a:solidFill>
                  <a:srgbClr val="22D3EE"/>
                </a:solidFill>
                <a:latin typeface="Arial"/>
              </a:rPr>
              <a:t>$40M-$60M in additional exit value</a:t>
            </a:r>
          </a:p>
        </p:txBody>
      </p:sp>
      <p:sp>
        <p:nvSpPr>
          <p:cNvPr id="10" name="Rectangle 9"/>
          <p:cNvSpPr/>
          <p:nvPr/>
        </p:nvSpPr>
        <p:spPr>
          <a:xfrm>
            <a:off x="731520" y="4507992"/>
            <a:ext cx="11155680" cy="4572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581144"/>
            <a:ext cx="3657600" cy="292608"/>
          </a:xfrm>
          <a:prstGeom prst="rect">
            <a:avLst/>
          </a:prstGeom>
          <a:noFill/>
        </p:spPr>
        <p:txBody>
          <a:bodyPr wrap="square">
            <a:spAutoFit/>
          </a:bodyPr>
          <a:lstStyle/>
          <a:p>
            <a:pPr algn="l"/>
            <a:r>
              <a:rPr sz="1300" b="0" i="0">
                <a:solidFill>
                  <a:srgbClr val="737373"/>
                </a:solidFill>
                <a:latin typeface="Arial"/>
              </a:rPr>
              <a:t>$15M EBITDA improvement</a:t>
            </a:r>
          </a:p>
        </p:txBody>
      </p:sp>
      <p:sp>
        <p:nvSpPr>
          <p:cNvPr id="12" name="TextBox 11"/>
          <p:cNvSpPr txBox="1"/>
          <p:nvPr/>
        </p:nvSpPr>
        <p:spPr>
          <a:xfrm>
            <a:off x="4754880" y="4581144"/>
            <a:ext cx="2743200" cy="292608"/>
          </a:xfrm>
          <a:prstGeom prst="rect">
            <a:avLst/>
          </a:prstGeom>
          <a:noFill/>
        </p:spPr>
        <p:txBody>
          <a:bodyPr wrap="square">
            <a:spAutoFit/>
          </a:bodyPr>
          <a:lstStyle/>
          <a:p>
            <a:pPr algn="l"/>
            <a:r>
              <a:rPr sz="1300" b="0" i="0">
                <a:solidFill>
                  <a:srgbClr val="737373"/>
                </a:solidFill>
                <a:latin typeface="Arial"/>
              </a:rPr>
              <a:t>8x-12x exit multiple</a:t>
            </a:r>
          </a:p>
        </p:txBody>
      </p:sp>
      <p:sp>
        <p:nvSpPr>
          <p:cNvPr id="13" name="TextBox 12"/>
          <p:cNvSpPr txBox="1"/>
          <p:nvPr/>
        </p:nvSpPr>
        <p:spPr>
          <a:xfrm>
            <a:off x="7680960" y="4581144"/>
            <a:ext cx="4023360" cy="292608"/>
          </a:xfrm>
          <a:prstGeom prst="rect">
            <a:avLst/>
          </a:prstGeom>
          <a:noFill/>
        </p:spPr>
        <p:txBody>
          <a:bodyPr wrap="square">
            <a:spAutoFit/>
          </a:bodyPr>
          <a:lstStyle/>
          <a:p>
            <a:pPr algn="l"/>
            <a:r>
              <a:rPr sz="1400" b="1" i="0">
                <a:solidFill>
                  <a:srgbClr val="22D3EE"/>
                </a:solidFill>
                <a:latin typeface="Arial"/>
              </a:rPr>
              <a:t>$120M-$180M in additional exit value</a:t>
            </a:r>
          </a:p>
        </p:txBody>
      </p:sp>
      <p:sp>
        <p:nvSpPr>
          <p:cNvPr id="14" name="Rectangle 13"/>
          <p:cNvSpPr/>
          <p:nvPr/>
        </p:nvSpPr>
        <p:spPr>
          <a:xfrm>
            <a:off x="731520" y="5038344"/>
            <a:ext cx="11155680" cy="4572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11496"/>
            <a:ext cx="3657600" cy="292608"/>
          </a:xfrm>
          <a:prstGeom prst="rect">
            <a:avLst/>
          </a:prstGeom>
          <a:noFill/>
        </p:spPr>
        <p:txBody>
          <a:bodyPr wrap="square">
            <a:spAutoFit/>
          </a:bodyPr>
          <a:lstStyle/>
          <a:p>
            <a:pPr algn="l"/>
            <a:r>
              <a:rPr sz="1300" b="0" i="0">
                <a:solidFill>
                  <a:srgbClr val="737373"/>
                </a:solidFill>
                <a:latin typeface="Arial"/>
              </a:rPr>
              <a:t>$30M EBITDA improvement</a:t>
            </a:r>
          </a:p>
        </p:txBody>
      </p:sp>
      <p:sp>
        <p:nvSpPr>
          <p:cNvPr id="16" name="TextBox 15"/>
          <p:cNvSpPr txBox="1"/>
          <p:nvPr/>
        </p:nvSpPr>
        <p:spPr>
          <a:xfrm>
            <a:off x="4754880" y="5111496"/>
            <a:ext cx="2743200" cy="292608"/>
          </a:xfrm>
          <a:prstGeom prst="rect">
            <a:avLst/>
          </a:prstGeom>
          <a:noFill/>
        </p:spPr>
        <p:txBody>
          <a:bodyPr wrap="square">
            <a:spAutoFit/>
          </a:bodyPr>
          <a:lstStyle/>
          <a:p>
            <a:pPr algn="l"/>
            <a:r>
              <a:rPr sz="1300" b="0" i="0">
                <a:solidFill>
                  <a:srgbClr val="737373"/>
                </a:solidFill>
                <a:latin typeface="Arial"/>
              </a:rPr>
              <a:t>8x-12x exit multiple</a:t>
            </a:r>
          </a:p>
        </p:txBody>
      </p:sp>
      <p:sp>
        <p:nvSpPr>
          <p:cNvPr id="17" name="TextBox 16"/>
          <p:cNvSpPr txBox="1"/>
          <p:nvPr/>
        </p:nvSpPr>
        <p:spPr>
          <a:xfrm>
            <a:off x="7680960" y="5111496"/>
            <a:ext cx="4023360" cy="292608"/>
          </a:xfrm>
          <a:prstGeom prst="rect">
            <a:avLst/>
          </a:prstGeom>
          <a:noFill/>
        </p:spPr>
        <p:txBody>
          <a:bodyPr wrap="square">
            <a:spAutoFit/>
          </a:bodyPr>
          <a:lstStyle/>
          <a:p>
            <a:pPr algn="l"/>
            <a:r>
              <a:rPr sz="1400" b="1" i="0">
                <a:solidFill>
                  <a:srgbClr val="22D3EE"/>
                </a:solidFill>
                <a:latin typeface="Arial"/>
              </a:rPr>
              <a:t>$240M-$360M in additional exit value</a:t>
            </a:r>
          </a:p>
        </p:txBody>
      </p:sp>
      <p:sp>
        <p:nvSpPr>
          <p:cNvPr id="18" name="Rectangle 17"/>
          <p:cNvSpPr/>
          <p:nvPr/>
        </p:nvSpPr>
        <p:spPr>
          <a:xfrm>
            <a:off x="731520" y="5568696"/>
            <a:ext cx="11155680" cy="45720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41848"/>
            <a:ext cx="3657600" cy="292608"/>
          </a:xfrm>
          <a:prstGeom prst="rect">
            <a:avLst/>
          </a:prstGeom>
          <a:noFill/>
        </p:spPr>
        <p:txBody>
          <a:bodyPr wrap="square">
            <a:spAutoFit/>
          </a:bodyPr>
          <a:lstStyle/>
          <a:p>
            <a:pPr algn="l"/>
            <a:r>
              <a:rPr sz="1300" b="1" i="0">
                <a:solidFill>
                  <a:srgbClr val="FFFFFF"/>
                </a:solidFill>
                <a:latin typeface="Arial"/>
              </a:rPr>
              <a:t>Portfolio aggregate ($150M EBITDA)</a:t>
            </a:r>
          </a:p>
        </p:txBody>
      </p:sp>
      <p:sp>
        <p:nvSpPr>
          <p:cNvPr id="20" name="TextBox 19"/>
          <p:cNvSpPr txBox="1"/>
          <p:nvPr/>
        </p:nvSpPr>
        <p:spPr>
          <a:xfrm>
            <a:off x="4754880" y="5641848"/>
            <a:ext cx="2743200" cy="292608"/>
          </a:xfrm>
          <a:prstGeom prst="rect">
            <a:avLst/>
          </a:prstGeom>
          <a:noFill/>
        </p:spPr>
        <p:txBody>
          <a:bodyPr wrap="square">
            <a:spAutoFit/>
          </a:bodyPr>
          <a:lstStyle/>
          <a:p>
            <a:pPr algn="l"/>
            <a:r>
              <a:rPr sz="1300" b="0" i="0">
                <a:solidFill>
                  <a:srgbClr val="737373"/>
                </a:solidFill>
                <a:latin typeface="Arial"/>
              </a:rPr>
              <a:t>8x-12x exit multiple</a:t>
            </a:r>
          </a:p>
        </p:txBody>
      </p:sp>
      <p:sp>
        <p:nvSpPr>
          <p:cNvPr id="21" name="TextBox 20"/>
          <p:cNvSpPr txBox="1"/>
          <p:nvPr/>
        </p:nvSpPr>
        <p:spPr>
          <a:xfrm>
            <a:off x="7680960" y="5641848"/>
            <a:ext cx="4023360" cy="292608"/>
          </a:xfrm>
          <a:prstGeom prst="rect">
            <a:avLst/>
          </a:prstGeom>
          <a:noFill/>
        </p:spPr>
        <p:txBody>
          <a:bodyPr wrap="square">
            <a:spAutoFit/>
          </a:bodyPr>
          <a:lstStyle/>
          <a:p>
            <a:pPr algn="l"/>
            <a:r>
              <a:rPr sz="1400" b="1" i="0">
                <a:solidFill>
                  <a:srgbClr val="22D3EE"/>
                </a:solidFill>
                <a:latin typeface="Arial"/>
              </a:rPr>
              <a:t>$1.2B-$1.8B in additional portfolio exit value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WHY DEVOLUTION LAB</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Built for operational transformation.</a:t>
            </a:r>
          </a:p>
          <a:p>
            <a:r>
              <a:rPr sz="3800" b="1">
                <a:solidFill>
                  <a:srgbClr val="22D3EE"/>
                </a:solidFill>
                <a:latin typeface="Arial"/>
              </a:rPr>
              <a:t>Not for product demos.</a:t>
            </a:r>
          </a:p>
        </p:txBody>
      </p:sp>
      <p:sp>
        <p:nvSpPr>
          <p:cNvPr id="4" name="Rectangle 3"/>
          <p:cNvSpPr/>
          <p:nvPr/>
        </p:nvSpPr>
        <p:spPr>
          <a:xfrm>
            <a:off x="73152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4937760" cy="365760"/>
          </a:xfrm>
          <a:prstGeom prst="rect">
            <a:avLst/>
          </a:prstGeom>
          <a:noFill/>
        </p:spPr>
        <p:txBody>
          <a:bodyPr wrap="square">
            <a:spAutoFit/>
          </a:bodyPr>
          <a:lstStyle/>
          <a:p>
            <a:pPr algn="l"/>
            <a:r>
              <a:rPr sz="1500" b="1" i="0">
                <a:solidFill>
                  <a:srgbClr val="FFFFFF"/>
                </a:solidFill>
                <a:latin typeface="Arial"/>
              </a:rPr>
              <a:t>ProperFix — Live Proof</a:t>
            </a:r>
          </a:p>
        </p:txBody>
      </p:sp>
      <p:sp>
        <p:nvSpPr>
          <p:cNvPr id="7" name="TextBox 6"/>
          <p:cNvSpPr txBox="1"/>
          <p:nvPr/>
        </p:nvSpPr>
        <p:spPr>
          <a:xfrm>
            <a:off x="914400" y="3291840"/>
            <a:ext cx="4937760" cy="914400"/>
          </a:xfrm>
          <a:prstGeom prst="rect">
            <a:avLst/>
          </a:prstGeom>
          <a:noFill/>
        </p:spPr>
        <p:txBody>
          <a:bodyPr wrap="square">
            <a:spAutoFit/>
          </a:bodyPr>
          <a:lstStyle/>
          <a:p>
            <a:pPr algn="l"/>
            <a:r>
              <a:rPr sz="1200" b="0" i="0">
                <a:solidFill>
                  <a:srgbClr val="737373"/>
                </a:solidFill>
                <a:latin typeface="Arial"/>
              </a:rPr>
              <a:t>We built a live business from scratch using the same architecture we deploy for clients. ProperFix is a real company, generating real revenue, running on an AI workforce we built entirely in-house. That is the proof of concept.</a:t>
            </a:r>
          </a:p>
        </p:txBody>
      </p:sp>
      <p:sp>
        <p:nvSpPr>
          <p:cNvPr id="8" name="Rectangle 7"/>
          <p:cNvSpPr/>
          <p:nvPr/>
        </p:nvSpPr>
        <p:spPr>
          <a:xfrm>
            <a:off x="640080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834640"/>
            <a:ext cx="4937760" cy="365760"/>
          </a:xfrm>
          <a:prstGeom prst="rect">
            <a:avLst/>
          </a:prstGeom>
          <a:noFill/>
        </p:spPr>
        <p:txBody>
          <a:bodyPr wrap="square">
            <a:spAutoFit/>
          </a:bodyPr>
          <a:lstStyle/>
          <a:p>
            <a:pPr algn="l"/>
            <a:r>
              <a:rPr sz="1500" b="1" i="0">
                <a:solidFill>
                  <a:srgbClr val="FFFFFF"/>
                </a:solidFill>
                <a:latin typeface="Arial"/>
              </a:rPr>
              <a:t>Results in 30 days</a:t>
            </a:r>
          </a:p>
        </p:txBody>
      </p:sp>
      <p:sp>
        <p:nvSpPr>
          <p:cNvPr id="11" name="TextBox 10"/>
          <p:cNvSpPr txBox="1"/>
          <p:nvPr/>
        </p:nvSpPr>
        <p:spPr>
          <a:xfrm>
            <a:off x="6583680" y="3291840"/>
            <a:ext cx="4937760" cy="914400"/>
          </a:xfrm>
          <a:prstGeom prst="rect">
            <a:avLst/>
          </a:prstGeom>
          <a:noFill/>
        </p:spPr>
        <p:txBody>
          <a:bodyPr wrap="square">
            <a:spAutoFit/>
          </a:bodyPr>
          <a:lstStyle/>
          <a:p>
            <a:pPr algn="l"/>
            <a:r>
              <a:rPr sz="1200" b="0" i="0">
                <a:solidFill>
                  <a:srgbClr val="737373"/>
                </a:solidFill>
                <a:latin typeface="Arial"/>
              </a:rPr>
              <a:t>Every engagement starts with a 30-day pilot with defined success metrics. Oaktree pays for what works. The results are measurable before any broader commitment is made.</a:t>
            </a:r>
          </a:p>
        </p:txBody>
      </p:sp>
      <p:sp>
        <p:nvSpPr>
          <p:cNvPr id="12" name="Rectangle 11"/>
          <p:cNvSpPr/>
          <p:nvPr/>
        </p:nvSpPr>
        <p:spPr>
          <a:xfrm>
            <a:off x="73152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54880"/>
            <a:ext cx="4937760" cy="365760"/>
          </a:xfrm>
          <a:prstGeom prst="rect">
            <a:avLst/>
          </a:prstGeom>
          <a:noFill/>
        </p:spPr>
        <p:txBody>
          <a:bodyPr wrap="square">
            <a:spAutoFit/>
          </a:bodyPr>
          <a:lstStyle/>
          <a:p>
            <a:pPr algn="l"/>
            <a:r>
              <a:rPr sz="1500" b="1" i="0">
                <a:solidFill>
                  <a:srgbClr val="FFFFFF"/>
                </a:solidFill>
                <a:latin typeface="Arial"/>
              </a:rPr>
              <a:t>Data stays on your servers</a:t>
            </a:r>
          </a:p>
        </p:txBody>
      </p:sp>
      <p:sp>
        <p:nvSpPr>
          <p:cNvPr id="15" name="TextBox 14"/>
          <p:cNvSpPr txBox="1"/>
          <p:nvPr/>
        </p:nvSpPr>
        <p:spPr>
          <a:xfrm>
            <a:off x="914400" y="5212080"/>
            <a:ext cx="4937760" cy="914400"/>
          </a:xfrm>
          <a:prstGeom prst="rect">
            <a:avLst/>
          </a:prstGeom>
          <a:noFill/>
        </p:spPr>
        <p:txBody>
          <a:bodyPr wrap="square">
            <a:spAutoFit/>
          </a:bodyPr>
          <a:lstStyle/>
          <a:p>
            <a:pPr algn="l"/>
            <a:r>
              <a:rPr sz="1200" b="0" i="0">
                <a:solidFill>
                  <a:srgbClr val="737373"/>
                </a:solidFill>
                <a:latin typeface="Arial"/>
              </a:rPr>
              <a:t>Every deployment runs on the portfolio company's own infrastructure. No third-party cloud exposure. Every decision logged and auditable. Built for the compliance requirements of PE-held companies.</a:t>
            </a:r>
          </a:p>
        </p:txBody>
      </p:sp>
      <p:sp>
        <p:nvSpPr>
          <p:cNvPr id="16" name="Rectangle 15"/>
          <p:cNvSpPr/>
          <p:nvPr/>
        </p:nvSpPr>
        <p:spPr>
          <a:xfrm>
            <a:off x="640080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754880"/>
            <a:ext cx="4937760" cy="365760"/>
          </a:xfrm>
          <a:prstGeom prst="rect">
            <a:avLst/>
          </a:prstGeom>
          <a:noFill/>
        </p:spPr>
        <p:txBody>
          <a:bodyPr wrap="square">
            <a:spAutoFit/>
          </a:bodyPr>
          <a:lstStyle/>
          <a:p>
            <a:pPr algn="l"/>
            <a:r>
              <a:rPr sz="1500" b="1" i="0">
                <a:solidFill>
                  <a:srgbClr val="FFFFFF"/>
                </a:solidFill>
                <a:latin typeface="Arial"/>
              </a:rPr>
              <a:t>We operate it for you</a:t>
            </a:r>
          </a:p>
        </p:txBody>
      </p:sp>
      <p:sp>
        <p:nvSpPr>
          <p:cNvPr id="19" name="TextBox 18"/>
          <p:cNvSpPr txBox="1"/>
          <p:nvPr/>
        </p:nvSpPr>
        <p:spPr>
          <a:xfrm>
            <a:off x="6583680" y="5212080"/>
            <a:ext cx="4937760" cy="914400"/>
          </a:xfrm>
          <a:prstGeom prst="rect">
            <a:avLst/>
          </a:prstGeom>
          <a:noFill/>
        </p:spPr>
        <p:txBody>
          <a:bodyPr wrap="square">
            <a:spAutoFit/>
          </a:bodyPr>
          <a:lstStyle/>
          <a:p>
            <a:pPr algn="l"/>
            <a:r>
              <a:rPr sz="1200" b="0" i="0">
                <a:solidFill>
                  <a:srgbClr val="737373"/>
                </a:solidFill>
                <a:latin typeface="Arial"/>
              </a:rPr>
              <a:t>Devolution Lab is not a software vendor. We operate the AI workforce on behalf of each portfolio company as a managed service. No internal AI expertise required. No new hires.</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05840"/>
            <a:ext cx="10058400" cy="2011680"/>
          </a:xfrm>
          <a:prstGeom prst="rect">
            <a:avLst/>
          </a:prstGeom>
          <a:noFill/>
        </p:spPr>
        <p:txBody>
          <a:bodyPr wrap="square">
            <a:spAutoFit/>
          </a:bodyPr>
          <a:lstStyle/>
          <a:p>
            <a:r>
              <a:rPr sz="4600" b="1">
                <a:solidFill>
                  <a:srgbClr val="22D3EE"/>
                </a:solidFill>
                <a:latin typeface="Arial"/>
              </a:rPr>
              <a:t>$100M-$500M in annual EBITDA</a:t>
            </a:r>
          </a:p>
          <a:p>
            <a:r>
              <a:rPr sz="4600" b="1">
                <a:solidFill>
                  <a:srgbClr val="FFFFFF"/>
                </a:solidFill>
                <a:latin typeface="Arial"/>
              </a:rPr>
              <a:t>across the Oaktree portfolio.</a:t>
            </a:r>
          </a:p>
        </p:txBody>
      </p:sp>
      <p:sp>
        <p:nvSpPr>
          <p:cNvPr id="4" name="TextBox 3"/>
          <p:cNvSpPr txBox="1"/>
          <p:nvPr/>
        </p:nvSpPr>
        <p:spPr>
          <a:xfrm>
            <a:off x="731520" y="3108960"/>
            <a:ext cx="10515600" cy="822960"/>
          </a:xfrm>
          <a:prstGeom prst="rect">
            <a:avLst/>
          </a:prstGeom>
          <a:noFill/>
        </p:spPr>
        <p:txBody>
          <a:bodyPr wrap="square">
            <a:spAutoFit/>
          </a:bodyPr>
          <a:lstStyle/>
          <a:p>
            <a:pPr algn="l"/>
            <a:r>
              <a:rPr sz="1600" b="0" i="0">
                <a:solidFill>
                  <a:srgbClr val="737373"/>
                </a:solidFill>
                <a:latin typeface="Arial"/>
              </a:rPr>
              <a:t>$1.2B-$1.8B in additional portfolio exit value at standard PE multiples.
One partnership. Deployed systematically across every company Oaktree holds.</a:t>
            </a:r>
          </a:p>
        </p:txBody>
      </p:sp>
      <p:sp>
        <p:nvSpPr>
          <p:cNvPr id="5" name="Rectangle 4"/>
          <p:cNvSpPr/>
          <p:nvPr/>
        </p:nvSpPr>
        <p:spPr>
          <a:xfrm>
            <a:off x="731520" y="4114800"/>
            <a:ext cx="5029200" cy="146304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06240"/>
            <a:ext cx="4389120" cy="292608"/>
          </a:xfrm>
          <a:prstGeom prst="rect">
            <a:avLst/>
          </a:prstGeom>
          <a:noFill/>
        </p:spPr>
        <p:txBody>
          <a:bodyPr wrap="square">
            <a:spAutoFit/>
          </a:bodyPr>
          <a:lstStyle/>
          <a:p>
            <a:pPr algn="l"/>
            <a:r>
              <a:rPr sz="1200" b="1" i="0">
                <a:solidFill>
                  <a:srgbClr val="22D3EE"/>
                </a:solidFill>
                <a:latin typeface="Arial"/>
              </a:rPr>
              <a:t>To get started:</a:t>
            </a:r>
          </a:p>
        </p:txBody>
      </p:sp>
      <p:sp>
        <p:nvSpPr>
          <p:cNvPr id="7" name="TextBox 6"/>
          <p:cNvSpPr txBox="1"/>
          <p:nvPr/>
        </p:nvSpPr>
        <p:spPr>
          <a:xfrm>
            <a:off x="914400" y="4553712"/>
            <a:ext cx="4389120" cy="274320"/>
          </a:xfrm>
          <a:prstGeom prst="rect">
            <a:avLst/>
          </a:prstGeom>
          <a:noFill/>
        </p:spPr>
        <p:txBody>
          <a:bodyPr wrap="square">
            <a:spAutoFit/>
          </a:bodyPr>
          <a:lstStyle/>
          <a:p>
            <a:pPr algn="l"/>
            <a:r>
              <a:rPr sz="1200" b="0" i="0">
                <a:solidFill>
                  <a:srgbClr val="737373"/>
                </a:solidFill>
                <a:latin typeface="Arial"/>
              </a:rPr>
              <a:t>   30-45 day portfolio assessment</a:t>
            </a:r>
          </a:p>
        </p:txBody>
      </p:sp>
      <p:sp>
        <p:nvSpPr>
          <p:cNvPr id="8" name="TextBox 7"/>
          <p:cNvSpPr txBox="1"/>
          <p:nvPr/>
        </p:nvSpPr>
        <p:spPr>
          <a:xfrm>
            <a:off x="914400" y="4846320"/>
            <a:ext cx="4389120" cy="274320"/>
          </a:xfrm>
          <a:prstGeom prst="rect">
            <a:avLst/>
          </a:prstGeom>
          <a:noFill/>
        </p:spPr>
        <p:txBody>
          <a:bodyPr wrap="square">
            <a:spAutoFit/>
          </a:bodyPr>
          <a:lstStyle/>
          <a:p>
            <a:pPr algn="l"/>
            <a:r>
              <a:rPr sz="1200" b="0" i="0">
                <a:solidFill>
                  <a:srgbClr val="737373"/>
                </a:solidFill>
                <a:latin typeface="Arial"/>
              </a:rPr>
              <a:t>   3-5 portfolio company pilots</a:t>
            </a:r>
          </a:p>
        </p:txBody>
      </p:sp>
      <p:sp>
        <p:nvSpPr>
          <p:cNvPr id="9" name="TextBox 8"/>
          <p:cNvSpPr txBox="1"/>
          <p:nvPr/>
        </p:nvSpPr>
        <p:spPr>
          <a:xfrm>
            <a:off x="914400" y="5138928"/>
            <a:ext cx="4389120" cy="274320"/>
          </a:xfrm>
          <a:prstGeom prst="rect">
            <a:avLst/>
          </a:prstGeom>
          <a:noFill/>
        </p:spPr>
        <p:txBody>
          <a:bodyPr wrap="square">
            <a:spAutoFit/>
          </a:bodyPr>
          <a:lstStyle/>
          <a:p>
            <a:pPr algn="l"/>
            <a:r>
              <a:rPr sz="1200" b="0" i="0">
                <a:solidFill>
                  <a:srgbClr val="737373"/>
                </a:solidFill>
                <a:latin typeface="Arial"/>
              </a:rPr>
              <a:t>   No long-term commitment required to begin</a:t>
            </a:r>
          </a:p>
        </p:txBody>
      </p:sp>
      <p:sp>
        <p:nvSpPr>
          <p:cNvPr id="10" name="TextBox 9"/>
          <p:cNvSpPr txBox="1"/>
          <p:nvPr/>
        </p:nvSpPr>
        <p:spPr>
          <a:xfrm>
            <a:off x="6583680" y="42976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11" name="TextBox 10"/>
          <p:cNvSpPr txBox="1"/>
          <p:nvPr/>
        </p:nvSpPr>
        <p:spPr>
          <a:xfrm>
            <a:off x="6583680" y="48006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12" name="TextBox 1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