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6"/>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48640"/>
            <a:ext cx="5486400" cy="365760"/>
          </a:xfrm>
          <a:prstGeom prst="rect">
            <a:avLst/>
          </a:prstGeom>
          <a:noFill/>
        </p:spPr>
        <p:txBody>
          <a:bodyPr wrap="square">
            <a:spAutoFit/>
          </a:bodyPr>
          <a:lstStyle/>
          <a:p>
            <a:pPr algn="l"/>
            <a:r>
              <a:rPr sz="1000" b="1">
                <a:solidFill>
                  <a:srgbClr val="22D3EE"/>
                </a:solidFill>
                <a:latin typeface="Arial"/>
              </a:rPr>
              <a:t>DEVOLUTION LABS</a:t>
            </a:r>
          </a:p>
        </p:txBody>
      </p:sp>
      <p:sp>
        <p:nvSpPr>
          <p:cNvPr id="3" name="TextBox 2"/>
          <p:cNvSpPr txBox="1"/>
          <p:nvPr/>
        </p:nvSpPr>
        <p:spPr>
          <a:xfrm>
            <a:off x="731520" y="1280160"/>
            <a:ext cx="10058400" cy="2743200"/>
          </a:xfrm>
          <a:prstGeom prst="rect">
            <a:avLst/>
          </a:prstGeom>
          <a:noFill/>
        </p:spPr>
        <p:txBody>
          <a:bodyPr wrap="square">
            <a:spAutoFit/>
          </a:bodyPr>
          <a:lstStyle/>
          <a:p>
            <a:r>
              <a:rPr sz="6000" b="1">
                <a:solidFill>
                  <a:srgbClr val="FFFFFF"/>
                </a:solidFill>
                <a:latin typeface="Arial"/>
              </a:rPr>
              <a:t>The AI Workforce</a:t>
            </a:r>
          </a:p>
          <a:p>
            <a:r>
              <a:rPr sz="6000" b="1">
                <a:solidFill>
                  <a:srgbClr val="22D3EE"/>
                </a:solidFill>
                <a:latin typeface="Arial"/>
              </a:rPr>
              <a:t>for UPS</a:t>
            </a:r>
          </a:p>
        </p:txBody>
      </p:sp>
      <p:sp>
        <p:nvSpPr>
          <p:cNvPr id="4" name="TextBox 3"/>
          <p:cNvSpPr txBox="1"/>
          <p:nvPr/>
        </p:nvSpPr>
        <p:spPr>
          <a:xfrm>
            <a:off x="731520" y="4754880"/>
            <a:ext cx="7315200" cy="457200"/>
          </a:xfrm>
          <a:prstGeom prst="rect">
            <a:avLst/>
          </a:prstGeom>
          <a:noFill/>
        </p:spPr>
        <p:txBody>
          <a:bodyPr wrap="square">
            <a:spAutoFit/>
          </a:bodyPr>
          <a:lstStyle/>
          <a:p>
            <a:pPr algn="l"/>
            <a:r>
              <a:rPr sz="1400" b="0">
                <a:solidFill>
                  <a:srgbClr val="3C3C3C"/>
                </a:solidFill>
                <a:latin typeface="Arial"/>
              </a:rPr>
              <a:t>Enterprise AI Deployment Proposal — 2026</a:t>
            </a:r>
          </a:p>
        </p:txBody>
      </p:sp>
      <p:sp>
        <p:nvSpPr>
          <p:cNvPr id="5" name="TextBox 4"/>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THE PROBLEM</a:t>
            </a:r>
          </a:p>
        </p:txBody>
      </p:sp>
      <p:sp>
        <p:nvSpPr>
          <p:cNvPr id="3" name="TextBox 2"/>
          <p:cNvSpPr txBox="1"/>
          <p:nvPr/>
        </p:nvSpPr>
        <p:spPr>
          <a:xfrm>
            <a:off x="731520" y="822960"/>
            <a:ext cx="10058400" cy="1645920"/>
          </a:xfrm>
          <a:prstGeom prst="rect">
            <a:avLst/>
          </a:prstGeom>
          <a:noFill/>
        </p:spPr>
        <p:txBody>
          <a:bodyPr wrap="square">
            <a:spAutoFit/>
          </a:bodyPr>
          <a:lstStyle/>
          <a:p>
            <a:r>
              <a:rPr sz="4200" b="1">
                <a:solidFill>
                  <a:srgbClr val="FFFFFF"/>
                </a:solidFill>
                <a:latin typeface="Arial"/>
              </a:rPr>
              <a:t>UPS has 500,000 employees.</a:t>
            </a:r>
          </a:p>
          <a:p>
            <a:r>
              <a:rPr sz="4200" b="1">
                <a:solidFill>
                  <a:srgbClr val="22D3EE"/>
                </a:solidFill>
                <a:latin typeface="Arial"/>
              </a:rPr>
              <a:t>Not all of them move packages.</a:t>
            </a:r>
          </a:p>
        </p:txBody>
      </p:sp>
      <p:sp>
        <p:nvSpPr>
          <p:cNvPr id="4" name="Rectangle 3"/>
          <p:cNvSpPr/>
          <p:nvPr/>
        </p:nvSpPr>
        <p:spPr>
          <a:xfrm>
            <a:off x="731520" y="2606040"/>
            <a:ext cx="4572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43200"/>
            <a:ext cx="10515600" cy="1828800"/>
          </a:xfrm>
          <a:prstGeom prst="rect">
            <a:avLst/>
          </a:prstGeom>
          <a:noFill/>
        </p:spPr>
        <p:txBody>
          <a:bodyPr wrap="square">
            <a:spAutoFit/>
          </a:bodyPr>
          <a:lstStyle/>
          <a:p>
            <a:pPr algn="l"/>
            <a:r>
              <a:rPr sz="1400" b="0">
                <a:solidFill>
                  <a:srgbClr val="787878"/>
                </a:solidFill>
                <a:latin typeface="Arial"/>
              </a:rPr>
              <a:t>A significant portion of UPS's workforce exists not to move freight — but to manage the information, decisions, and communications that surround moving freight. Reporting. Exception handling. Vendor follow-up. Compliance documentation. Scheduling coordination. Customer communications. These are structured, rule-bound workflows. And they are costing UPS billions in headcount that can be replaced.</a:t>
            </a:r>
          </a:p>
        </p:txBody>
      </p:sp>
      <p:sp>
        <p:nvSpPr>
          <p:cNvPr id="6" name="TextBox 5"/>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THE OPPORTUNITY</a:t>
            </a:r>
          </a:p>
        </p:txBody>
      </p:sp>
      <p:sp>
        <p:nvSpPr>
          <p:cNvPr id="3" name="TextBox 2"/>
          <p:cNvSpPr txBox="1"/>
          <p:nvPr/>
        </p:nvSpPr>
        <p:spPr>
          <a:xfrm>
            <a:off x="731520" y="822960"/>
            <a:ext cx="7315200" cy="1371600"/>
          </a:xfrm>
          <a:prstGeom prst="rect">
            <a:avLst/>
          </a:prstGeom>
          <a:noFill/>
        </p:spPr>
        <p:txBody>
          <a:bodyPr wrap="square">
            <a:spAutoFit/>
          </a:bodyPr>
          <a:lstStyle/>
          <a:p>
            <a:pPr algn="l"/>
            <a:r>
              <a:rPr sz="7200" b="1">
                <a:solidFill>
                  <a:srgbClr val="22D3EE"/>
                </a:solidFill>
                <a:latin typeface="Arial"/>
              </a:rPr>
              <a:t>$1B+</a:t>
            </a:r>
          </a:p>
        </p:txBody>
      </p:sp>
      <p:sp>
        <p:nvSpPr>
          <p:cNvPr id="4" name="TextBox 3"/>
          <p:cNvSpPr txBox="1"/>
          <p:nvPr/>
        </p:nvSpPr>
        <p:spPr>
          <a:xfrm>
            <a:off x="731520" y="2286000"/>
            <a:ext cx="7315200" cy="457200"/>
          </a:xfrm>
          <a:prstGeom prst="rect">
            <a:avLst/>
          </a:prstGeom>
          <a:noFill/>
        </p:spPr>
        <p:txBody>
          <a:bodyPr wrap="square">
            <a:spAutoFit/>
          </a:bodyPr>
          <a:lstStyle/>
          <a:p>
            <a:pPr algn="l"/>
            <a:r>
              <a:rPr sz="1400" b="0">
                <a:solidFill>
                  <a:srgbClr val="3C3C3C"/>
                </a:solidFill>
                <a:latin typeface="Arial"/>
              </a:rPr>
              <a:t>Annual savings potential at full US deployment</a:t>
            </a:r>
          </a:p>
        </p:txBody>
      </p:sp>
      <p:sp>
        <p:nvSpPr>
          <p:cNvPr id="5" name="TextBox 4"/>
          <p:cNvSpPr txBox="1"/>
          <p:nvPr/>
        </p:nvSpPr>
        <p:spPr>
          <a:xfrm>
            <a:off x="731520" y="3108960"/>
            <a:ext cx="3474720" cy="822960"/>
          </a:xfrm>
          <a:prstGeom prst="rect">
            <a:avLst/>
          </a:prstGeom>
          <a:noFill/>
        </p:spPr>
        <p:txBody>
          <a:bodyPr wrap="square">
            <a:spAutoFit/>
          </a:bodyPr>
          <a:lstStyle/>
          <a:p>
            <a:pPr algn="l"/>
            <a:r>
              <a:rPr sz="2800" b="1">
                <a:solidFill>
                  <a:srgbClr val="22D3EE"/>
                </a:solidFill>
                <a:latin typeface="Arial"/>
              </a:rPr>
              <a:t>$5M–$8.5M</a:t>
            </a:r>
          </a:p>
        </p:txBody>
      </p:sp>
      <p:sp>
        <p:nvSpPr>
          <p:cNvPr id="6" name="TextBox 5"/>
          <p:cNvSpPr txBox="1"/>
          <p:nvPr/>
        </p:nvSpPr>
        <p:spPr>
          <a:xfrm>
            <a:off x="731520" y="3977639"/>
            <a:ext cx="3474720" cy="365760"/>
          </a:xfrm>
          <a:prstGeom prst="rect">
            <a:avLst/>
          </a:prstGeom>
          <a:noFill/>
        </p:spPr>
        <p:txBody>
          <a:bodyPr wrap="square">
            <a:spAutoFit/>
          </a:bodyPr>
          <a:lstStyle/>
          <a:p>
            <a:pPr algn="l"/>
            <a:r>
              <a:rPr sz="1100" b="0">
                <a:solidFill>
                  <a:srgbClr val="3C3C3C"/>
                </a:solidFill>
                <a:latin typeface="Arial"/>
              </a:rPr>
              <a:t>Per District / 6 Months</a:t>
            </a:r>
          </a:p>
        </p:txBody>
      </p:sp>
      <p:sp>
        <p:nvSpPr>
          <p:cNvPr id="7" name="TextBox 6"/>
          <p:cNvSpPr txBox="1"/>
          <p:nvPr/>
        </p:nvSpPr>
        <p:spPr>
          <a:xfrm>
            <a:off x="731520" y="4389120"/>
            <a:ext cx="3474720" cy="640080"/>
          </a:xfrm>
          <a:prstGeom prst="rect">
            <a:avLst/>
          </a:prstGeom>
          <a:noFill/>
        </p:spPr>
        <p:txBody>
          <a:bodyPr wrap="square">
            <a:spAutoFit/>
          </a:bodyPr>
          <a:lstStyle/>
          <a:p>
            <a:pPr algn="l"/>
            <a:r>
              <a:rPr sz="1200" b="0">
                <a:solidFill>
                  <a:srgbClr val="787878"/>
                </a:solidFill>
                <a:latin typeface="Arial"/>
              </a:rPr>
              <a:t>105–180 back-office roles replaced</a:t>
            </a:r>
          </a:p>
        </p:txBody>
      </p:sp>
      <p:sp>
        <p:nvSpPr>
          <p:cNvPr id="8" name="TextBox 7"/>
          <p:cNvSpPr txBox="1"/>
          <p:nvPr/>
        </p:nvSpPr>
        <p:spPr>
          <a:xfrm>
            <a:off x="4480559" y="3108960"/>
            <a:ext cx="3474720" cy="822960"/>
          </a:xfrm>
          <a:prstGeom prst="rect">
            <a:avLst/>
          </a:prstGeom>
          <a:noFill/>
        </p:spPr>
        <p:txBody>
          <a:bodyPr wrap="square">
            <a:spAutoFit/>
          </a:bodyPr>
          <a:lstStyle/>
          <a:p>
            <a:pPr algn="l"/>
            <a:r>
              <a:rPr sz="2800" b="1">
                <a:solidFill>
                  <a:srgbClr val="22D3EE"/>
                </a:solidFill>
                <a:latin typeface="Arial"/>
              </a:rPr>
              <a:t>$70M–$125M</a:t>
            </a:r>
          </a:p>
        </p:txBody>
      </p:sp>
      <p:sp>
        <p:nvSpPr>
          <p:cNvPr id="9" name="TextBox 8"/>
          <p:cNvSpPr txBox="1"/>
          <p:nvPr/>
        </p:nvSpPr>
        <p:spPr>
          <a:xfrm>
            <a:off x="4480559" y="3977639"/>
            <a:ext cx="3474720" cy="365760"/>
          </a:xfrm>
          <a:prstGeom prst="rect">
            <a:avLst/>
          </a:prstGeom>
          <a:noFill/>
        </p:spPr>
        <p:txBody>
          <a:bodyPr wrap="square">
            <a:spAutoFit/>
          </a:bodyPr>
          <a:lstStyle/>
          <a:p>
            <a:pPr algn="l"/>
            <a:r>
              <a:rPr sz="1100" b="0">
                <a:solidFill>
                  <a:srgbClr val="3C3C3C"/>
                </a:solidFill>
                <a:latin typeface="Arial"/>
              </a:rPr>
              <a:t>Per Region / 6 Months</a:t>
            </a:r>
          </a:p>
        </p:txBody>
      </p:sp>
      <p:sp>
        <p:nvSpPr>
          <p:cNvPr id="10" name="TextBox 9"/>
          <p:cNvSpPr txBox="1"/>
          <p:nvPr/>
        </p:nvSpPr>
        <p:spPr>
          <a:xfrm>
            <a:off x="4480559" y="4389120"/>
            <a:ext cx="3474720" cy="640080"/>
          </a:xfrm>
          <a:prstGeom prst="rect">
            <a:avLst/>
          </a:prstGeom>
          <a:noFill/>
        </p:spPr>
        <p:txBody>
          <a:bodyPr wrap="square">
            <a:spAutoFit/>
          </a:bodyPr>
          <a:lstStyle/>
          <a:p>
            <a:pPr algn="l"/>
            <a:r>
              <a:rPr sz="1200" b="0">
                <a:solidFill>
                  <a:srgbClr val="787878"/>
                </a:solidFill>
                <a:latin typeface="Arial"/>
              </a:rPr>
              <a:t>1,500–2,650 roles across 8–15 districts</a:t>
            </a:r>
          </a:p>
        </p:txBody>
      </p:sp>
      <p:sp>
        <p:nvSpPr>
          <p:cNvPr id="11" name="TextBox 10"/>
          <p:cNvSpPr txBox="1"/>
          <p:nvPr/>
        </p:nvSpPr>
        <p:spPr>
          <a:xfrm>
            <a:off x="8229600" y="3108960"/>
            <a:ext cx="3474720" cy="822960"/>
          </a:xfrm>
          <a:prstGeom prst="rect">
            <a:avLst/>
          </a:prstGeom>
          <a:noFill/>
        </p:spPr>
        <p:txBody>
          <a:bodyPr wrap="square">
            <a:spAutoFit/>
          </a:bodyPr>
          <a:lstStyle/>
          <a:p>
            <a:pPr algn="l"/>
            <a:r>
              <a:rPr sz="2800" b="1">
                <a:solidFill>
                  <a:srgbClr val="22D3EE"/>
                </a:solidFill>
                <a:latin typeface="Arial"/>
              </a:rPr>
              <a:t>60–75 Days</a:t>
            </a:r>
          </a:p>
        </p:txBody>
      </p:sp>
      <p:sp>
        <p:nvSpPr>
          <p:cNvPr id="12" name="TextBox 11"/>
          <p:cNvSpPr txBox="1"/>
          <p:nvPr/>
        </p:nvSpPr>
        <p:spPr>
          <a:xfrm>
            <a:off x="8229600" y="3977639"/>
            <a:ext cx="3474720" cy="365760"/>
          </a:xfrm>
          <a:prstGeom prst="rect">
            <a:avLst/>
          </a:prstGeom>
          <a:noFill/>
        </p:spPr>
        <p:txBody>
          <a:bodyPr wrap="square">
            <a:spAutoFit/>
          </a:bodyPr>
          <a:lstStyle/>
          <a:p>
            <a:pPr algn="l"/>
            <a:r>
              <a:rPr sz="1100" b="0">
                <a:solidFill>
                  <a:srgbClr val="3C3C3C"/>
                </a:solidFill>
                <a:latin typeface="Arial"/>
              </a:rPr>
              <a:t>Payback Period</a:t>
            </a:r>
          </a:p>
        </p:txBody>
      </p:sp>
      <p:sp>
        <p:nvSpPr>
          <p:cNvPr id="13" name="TextBox 12"/>
          <p:cNvSpPr txBox="1"/>
          <p:nvPr/>
        </p:nvSpPr>
        <p:spPr>
          <a:xfrm>
            <a:off x="8229600" y="4389120"/>
            <a:ext cx="3474720" cy="640080"/>
          </a:xfrm>
          <a:prstGeom prst="rect">
            <a:avLst/>
          </a:prstGeom>
          <a:noFill/>
        </p:spPr>
        <p:txBody>
          <a:bodyPr wrap="square">
            <a:spAutoFit/>
          </a:bodyPr>
          <a:lstStyle/>
          <a:p>
            <a:pPr algn="l"/>
            <a:r>
              <a:rPr sz="1200" b="0">
                <a:solidFill>
                  <a:srgbClr val="787878"/>
                </a:solidFill>
                <a:latin typeface="Arial"/>
              </a:rPr>
              <a:t>District pilot pays within 2 months</a:t>
            </a:r>
          </a:p>
        </p:txBody>
      </p:sp>
      <p:sp>
        <p:nvSpPr>
          <p:cNvPr id="14" name="TextBox 13"/>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WHAT WE DEPLOY</a:t>
            </a:r>
          </a:p>
        </p:txBody>
      </p:sp>
      <p:sp>
        <p:nvSpPr>
          <p:cNvPr id="3" name="TextBox 2"/>
          <p:cNvSpPr txBox="1"/>
          <p:nvPr/>
        </p:nvSpPr>
        <p:spPr>
          <a:xfrm>
            <a:off x="731520" y="822960"/>
            <a:ext cx="10058400" cy="1645920"/>
          </a:xfrm>
          <a:prstGeom prst="rect">
            <a:avLst/>
          </a:prstGeom>
          <a:noFill/>
        </p:spPr>
        <p:txBody>
          <a:bodyPr wrap="square">
            <a:spAutoFit/>
          </a:bodyPr>
          <a:lstStyle/>
          <a:p>
            <a:r>
              <a:rPr sz="3800" b="1">
                <a:solidFill>
                  <a:srgbClr val="FFFFFF"/>
                </a:solidFill>
                <a:latin typeface="Arial"/>
              </a:rPr>
              <a:t>A full AI workforce</a:t>
            </a:r>
          </a:p>
          <a:p>
            <a:r>
              <a:rPr sz="3800" b="1">
                <a:solidFill>
                  <a:srgbClr val="22D3EE"/>
                </a:solidFill>
                <a:latin typeface="Arial"/>
              </a:rPr>
              <a:t>on your infrastructure.</a:t>
            </a:r>
          </a:p>
        </p:txBody>
      </p:sp>
      <p:sp>
        <p:nvSpPr>
          <p:cNvPr id="4" name="TextBox 3"/>
          <p:cNvSpPr txBox="1"/>
          <p:nvPr/>
        </p:nvSpPr>
        <p:spPr>
          <a:xfrm>
            <a:off x="731520" y="2468880"/>
            <a:ext cx="5303520" cy="1371600"/>
          </a:xfrm>
          <a:prstGeom prst="rect">
            <a:avLst/>
          </a:prstGeom>
          <a:noFill/>
        </p:spPr>
        <p:txBody>
          <a:bodyPr wrap="square">
            <a:spAutoFit/>
          </a:bodyPr>
          <a:lstStyle/>
          <a:p>
            <a:pPr algn="l"/>
            <a:r>
              <a:rPr sz="1300" b="0">
                <a:solidFill>
                  <a:srgbClr val="787878"/>
                </a:solidFill>
                <a:latin typeface="Arial"/>
              </a:rPr>
              <a:t>Devolution Labs installs a proprietary AI orchestration framework that creates a complete company org chart of AI agents running entirely on UPS infrastructure. Your data never leaves your environment. No third-party cloud. No exposure.</a:t>
            </a:r>
          </a:p>
        </p:txBody>
      </p:sp>
      <p:sp>
        <p:nvSpPr>
          <p:cNvPr id="5" name="TextBox 4"/>
          <p:cNvSpPr txBox="1"/>
          <p:nvPr/>
        </p:nvSpPr>
        <p:spPr>
          <a:xfrm>
            <a:off x="6400800" y="2468880"/>
            <a:ext cx="5303520" cy="502920"/>
          </a:xfrm>
          <a:prstGeom prst="rect">
            <a:avLst/>
          </a:prstGeom>
          <a:noFill/>
        </p:spPr>
        <p:txBody>
          <a:bodyPr wrap="square">
            <a:spAutoFit/>
          </a:bodyPr>
          <a:lstStyle/>
          <a:p>
            <a:pPr algn="l"/>
            <a:r>
              <a:rPr sz="1200" b="0">
                <a:solidFill>
                  <a:srgbClr val="787878"/>
                </a:solidFill>
                <a:latin typeface="Arial"/>
              </a:rPr>
              <a:t>→  Operations coordination — exception routing, escalation management</a:t>
            </a:r>
          </a:p>
        </p:txBody>
      </p:sp>
      <p:sp>
        <p:nvSpPr>
          <p:cNvPr id="6" name="TextBox 5"/>
          <p:cNvSpPr txBox="1"/>
          <p:nvPr/>
        </p:nvSpPr>
        <p:spPr>
          <a:xfrm>
            <a:off x="6400800" y="3035808"/>
            <a:ext cx="5303520" cy="502920"/>
          </a:xfrm>
          <a:prstGeom prst="rect">
            <a:avLst/>
          </a:prstGeom>
          <a:noFill/>
        </p:spPr>
        <p:txBody>
          <a:bodyPr wrap="square">
            <a:spAutoFit/>
          </a:bodyPr>
          <a:lstStyle/>
          <a:p>
            <a:pPr algn="l"/>
            <a:r>
              <a:rPr sz="1200" b="0">
                <a:solidFill>
                  <a:srgbClr val="787878"/>
                </a:solidFill>
                <a:latin typeface="Arial"/>
              </a:rPr>
              <a:t>→  Reporting and analytics — automated briefings, anomaly detection</a:t>
            </a:r>
          </a:p>
        </p:txBody>
      </p:sp>
      <p:sp>
        <p:nvSpPr>
          <p:cNvPr id="7" name="TextBox 6"/>
          <p:cNvSpPr txBox="1"/>
          <p:nvPr/>
        </p:nvSpPr>
        <p:spPr>
          <a:xfrm>
            <a:off x="6400800" y="3602736"/>
            <a:ext cx="5303520" cy="502920"/>
          </a:xfrm>
          <a:prstGeom prst="rect">
            <a:avLst/>
          </a:prstGeom>
          <a:noFill/>
        </p:spPr>
        <p:txBody>
          <a:bodyPr wrap="square">
            <a:spAutoFit/>
          </a:bodyPr>
          <a:lstStyle/>
          <a:p>
            <a:pPr algn="l"/>
            <a:r>
              <a:rPr sz="1200" b="0">
                <a:solidFill>
                  <a:srgbClr val="787878"/>
                </a:solidFill>
                <a:latin typeface="Arial"/>
              </a:rPr>
              <a:t>→  Customer communications — proactive outreach at scale</a:t>
            </a:r>
          </a:p>
        </p:txBody>
      </p:sp>
      <p:sp>
        <p:nvSpPr>
          <p:cNvPr id="8" name="TextBox 7"/>
          <p:cNvSpPr txBox="1"/>
          <p:nvPr/>
        </p:nvSpPr>
        <p:spPr>
          <a:xfrm>
            <a:off x="6400800" y="4169664"/>
            <a:ext cx="5303520" cy="502920"/>
          </a:xfrm>
          <a:prstGeom prst="rect">
            <a:avLst/>
          </a:prstGeom>
          <a:noFill/>
        </p:spPr>
        <p:txBody>
          <a:bodyPr wrap="square">
            <a:spAutoFit/>
          </a:bodyPr>
          <a:lstStyle/>
          <a:p>
            <a:pPr algn="l"/>
            <a:r>
              <a:rPr sz="1200" b="0">
                <a:solidFill>
                  <a:srgbClr val="787878"/>
                </a:solidFill>
                <a:latin typeface="Arial"/>
              </a:rPr>
              <a:t>→  Vendor coordination — SLA tracking, supplier follow-up</a:t>
            </a:r>
          </a:p>
        </p:txBody>
      </p:sp>
      <p:sp>
        <p:nvSpPr>
          <p:cNvPr id="9" name="TextBox 8"/>
          <p:cNvSpPr txBox="1"/>
          <p:nvPr/>
        </p:nvSpPr>
        <p:spPr>
          <a:xfrm>
            <a:off x="6400800" y="4736592"/>
            <a:ext cx="5303520" cy="502920"/>
          </a:xfrm>
          <a:prstGeom prst="rect">
            <a:avLst/>
          </a:prstGeom>
          <a:noFill/>
        </p:spPr>
        <p:txBody>
          <a:bodyPr wrap="square">
            <a:spAutoFit/>
          </a:bodyPr>
          <a:lstStyle/>
          <a:p>
            <a:pPr algn="l"/>
            <a:r>
              <a:rPr sz="1200" b="0">
                <a:solidFill>
                  <a:srgbClr val="787878"/>
                </a:solidFill>
                <a:latin typeface="Arial"/>
              </a:rPr>
              <a:t>→  Compliance — regulatory monitoring, audit trail maintenance</a:t>
            </a:r>
          </a:p>
        </p:txBody>
      </p:sp>
      <p:sp>
        <p:nvSpPr>
          <p:cNvPr id="10" name="TextBox 9"/>
          <p:cNvSpPr txBox="1"/>
          <p:nvPr/>
        </p:nvSpPr>
        <p:spPr>
          <a:xfrm>
            <a:off x="6400800" y="5303520"/>
            <a:ext cx="5303520" cy="502920"/>
          </a:xfrm>
          <a:prstGeom prst="rect">
            <a:avLst/>
          </a:prstGeom>
          <a:noFill/>
        </p:spPr>
        <p:txBody>
          <a:bodyPr wrap="square">
            <a:spAutoFit/>
          </a:bodyPr>
          <a:lstStyle/>
          <a:p>
            <a:pPr algn="l"/>
            <a:r>
              <a:rPr sz="1200" b="0">
                <a:solidFill>
                  <a:srgbClr val="787878"/>
                </a:solidFill>
                <a:latin typeface="Arial"/>
              </a:rPr>
              <a:t>→  Live command dashboard — full leadership visibility in real time</a:t>
            </a:r>
          </a:p>
        </p:txBody>
      </p:sp>
      <p:sp>
        <p:nvSpPr>
          <p:cNvPr id="11" name="TextBox 10"/>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DISTRICT PILOT — FINANCIAL MODEL (6 MONTHS)</a:t>
            </a:r>
          </a:p>
        </p:txBody>
      </p:sp>
      <p:sp>
        <p:nvSpPr>
          <p:cNvPr id="3" name="TextBox 2"/>
          <p:cNvSpPr txBox="1"/>
          <p:nvPr/>
        </p:nvSpPr>
        <p:spPr>
          <a:xfrm>
            <a:off x="731520" y="822960"/>
            <a:ext cx="10058400" cy="1645920"/>
          </a:xfrm>
          <a:prstGeom prst="rect">
            <a:avLst/>
          </a:prstGeom>
          <a:noFill/>
        </p:spPr>
        <p:txBody>
          <a:bodyPr wrap="square">
            <a:spAutoFit/>
          </a:bodyPr>
          <a:lstStyle/>
          <a:p>
            <a:r>
              <a:rPr sz="3800" b="1">
                <a:solidFill>
                  <a:srgbClr val="FFFFFF"/>
                </a:solidFill>
                <a:latin typeface="Arial"/>
              </a:rPr>
              <a:t>One district.</a:t>
            </a:r>
          </a:p>
          <a:p>
            <a:r>
              <a:rPr sz="3800" b="1">
                <a:solidFill>
                  <a:srgbClr val="22D3EE"/>
                </a:solidFill>
                <a:latin typeface="Arial"/>
              </a:rPr>
              <a:t>$5M — $8.5M saved in 6 months.</a:t>
            </a:r>
          </a:p>
        </p:txBody>
      </p:sp>
      <p:sp>
        <p:nvSpPr>
          <p:cNvPr id="4" name="Rectangle 3"/>
          <p:cNvSpPr/>
          <p:nvPr/>
        </p:nvSpPr>
        <p:spPr>
          <a:xfrm>
            <a:off x="731520" y="2468880"/>
            <a:ext cx="438912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87168"/>
            <a:ext cx="4389120" cy="274320"/>
          </a:xfrm>
          <a:prstGeom prst="rect">
            <a:avLst/>
          </a:prstGeom>
          <a:noFill/>
        </p:spPr>
        <p:txBody>
          <a:bodyPr wrap="square">
            <a:spAutoFit/>
          </a:bodyPr>
          <a:lstStyle/>
          <a:p>
            <a:pPr algn="l"/>
            <a:r>
              <a:rPr sz="1000" b="1">
                <a:solidFill>
                  <a:srgbClr val="3C3C3C"/>
                </a:solidFill>
                <a:latin typeface="Arial"/>
              </a:rPr>
              <a:t>Function</a:t>
            </a:r>
          </a:p>
        </p:txBody>
      </p:sp>
      <p:sp>
        <p:nvSpPr>
          <p:cNvPr id="6" name="Rectangle 5"/>
          <p:cNvSpPr/>
          <p:nvPr/>
        </p:nvSpPr>
        <p:spPr>
          <a:xfrm>
            <a:off x="5303520" y="2468880"/>
            <a:ext cx="320040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2487168"/>
            <a:ext cx="3200400" cy="274320"/>
          </a:xfrm>
          <a:prstGeom prst="rect">
            <a:avLst/>
          </a:prstGeom>
          <a:noFill/>
        </p:spPr>
        <p:txBody>
          <a:bodyPr wrap="square">
            <a:spAutoFit/>
          </a:bodyPr>
          <a:lstStyle/>
          <a:p>
            <a:pPr algn="l"/>
            <a:r>
              <a:rPr sz="1000" b="1">
                <a:solidFill>
                  <a:srgbClr val="3C3C3C"/>
                </a:solidFill>
                <a:latin typeface="Arial"/>
              </a:rPr>
              <a:t>Roles Eliminated</a:t>
            </a:r>
          </a:p>
        </p:txBody>
      </p:sp>
      <p:sp>
        <p:nvSpPr>
          <p:cNvPr id="8" name="Rectangle 7"/>
          <p:cNvSpPr/>
          <p:nvPr/>
        </p:nvSpPr>
        <p:spPr>
          <a:xfrm>
            <a:off x="8686800" y="2468880"/>
            <a:ext cx="274320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487168"/>
            <a:ext cx="2743200" cy="274320"/>
          </a:xfrm>
          <a:prstGeom prst="rect">
            <a:avLst/>
          </a:prstGeom>
          <a:noFill/>
        </p:spPr>
        <p:txBody>
          <a:bodyPr wrap="square">
            <a:spAutoFit/>
          </a:bodyPr>
          <a:lstStyle/>
          <a:p>
            <a:pPr algn="l"/>
            <a:r>
              <a:rPr sz="1000" b="1">
                <a:solidFill>
                  <a:srgbClr val="3C3C3C"/>
                </a:solidFill>
                <a:latin typeface="Arial"/>
              </a:rPr>
              <a:t>6-Month Savings</a:t>
            </a:r>
          </a:p>
        </p:txBody>
      </p:sp>
      <p:sp>
        <p:nvSpPr>
          <p:cNvPr id="10" name="Rectangle 9"/>
          <p:cNvSpPr/>
          <p:nvPr/>
        </p:nvSpPr>
        <p:spPr>
          <a:xfrm>
            <a:off x="731520" y="2834640"/>
            <a:ext cx="438912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07792"/>
            <a:ext cx="4297680" cy="320040"/>
          </a:xfrm>
          <a:prstGeom prst="rect">
            <a:avLst/>
          </a:prstGeom>
          <a:noFill/>
        </p:spPr>
        <p:txBody>
          <a:bodyPr wrap="square">
            <a:spAutoFit/>
          </a:bodyPr>
          <a:lstStyle/>
          <a:p>
            <a:pPr algn="l"/>
            <a:r>
              <a:rPr sz="1200" b="0">
                <a:solidFill>
                  <a:srgbClr val="FFFFFF"/>
                </a:solidFill>
                <a:latin typeface="Arial"/>
              </a:rPr>
              <a:t>Operations coordination</a:t>
            </a:r>
          </a:p>
        </p:txBody>
      </p:sp>
      <p:sp>
        <p:nvSpPr>
          <p:cNvPr id="12" name="Rectangle 11"/>
          <p:cNvSpPr/>
          <p:nvPr/>
        </p:nvSpPr>
        <p:spPr>
          <a:xfrm>
            <a:off x="5303520" y="2834640"/>
            <a:ext cx="32004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907792"/>
            <a:ext cx="3108960" cy="320040"/>
          </a:xfrm>
          <a:prstGeom prst="rect">
            <a:avLst/>
          </a:prstGeom>
          <a:noFill/>
        </p:spPr>
        <p:txBody>
          <a:bodyPr wrap="square">
            <a:spAutoFit/>
          </a:bodyPr>
          <a:lstStyle/>
          <a:p>
            <a:pPr algn="l"/>
            <a:r>
              <a:rPr sz="1200" b="0">
                <a:solidFill>
                  <a:srgbClr val="787878"/>
                </a:solidFill>
                <a:latin typeface="Arial"/>
              </a:rPr>
              <a:t>30–50 roles</a:t>
            </a:r>
          </a:p>
        </p:txBody>
      </p:sp>
      <p:sp>
        <p:nvSpPr>
          <p:cNvPr id="14" name="Rectangle 13"/>
          <p:cNvSpPr/>
          <p:nvPr/>
        </p:nvSpPr>
        <p:spPr>
          <a:xfrm>
            <a:off x="8686800" y="2834640"/>
            <a:ext cx="27432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907792"/>
            <a:ext cx="2651760" cy="320040"/>
          </a:xfrm>
          <a:prstGeom prst="rect">
            <a:avLst/>
          </a:prstGeom>
          <a:noFill/>
        </p:spPr>
        <p:txBody>
          <a:bodyPr wrap="square">
            <a:spAutoFit/>
          </a:bodyPr>
          <a:lstStyle/>
          <a:p>
            <a:pPr algn="l"/>
            <a:r>
              <a:rPr sz="1200" b="0">
                <a:solidFill>
                  <a:srgbClr val="787878"/>
                </a:solidFill>
                <a:latin typeface="Arial"/>
              </a:rPr>
              <a:t>$1.6M — $2.7M</a:t>
            </a:r>
          </a:p>
        </p:txBody>
      </p:sp>
      <p:sp>
        <p:nvSpPr>
          <p:cNvPr id="16" name="Rectangle 15"/>
          <p:cNvSpPr/>
          <p:nvPr/>
        </p:nvSpPr>
        <p:spPr>
          <a:xfrm>
            <a:off x="731520" y="3310128"/>
            <a:ext cx="438912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383280"/>
            <a:ext cx="4297680" cy="320040"/>
          </a:xfrm>
          <a:prstGeom prst="rect">
            <a:avLst/>
          </a:prstGeom>
          <a:noFill/>
        </p:spPr>
        <p:txBody>
          <a:bodyPr wrap="square">
            <a:spAutoFit/>
          </a:bodyPr>
          <a:lstStyle/>
          <a:p>
            <a:pPr algn="l"/>
            <a:r>
              <a:rPr sz="1200" b="0">
                <a:solidFill>
                  <a:srgbClr val="FFFFFF"/>
                </a:solidFill>
                <a:latin typeface="Arial"/>
              </a:rPr>
              <a:t>Reporting and analytics</a:t>
            </a:r>
          </a:p>
        </p:txBody>
      </p:sp>
      <p:sp>
        <p:nvSpPr>
          <p:cNvPr id="18" name="Rectangle 17"/>
          <p:cNvSpPr/>
          <p:nvPr/>
        </p:nvSpPr>
        <p:spPr>
          <a:xfrm>
            <a:off x="5303520" y="3310128"/>
            <a:ext cx="32004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3383280"/>
            <a:ext cx="3108960" cy="320040"/>
          </a:xfrm>
          <a:prstGeom prst="rect">
            <a:avLst/>
          </a:prstGeom>
          <a:noFill/>
        </p:spPr>
        <p:txBody>
          <a:bodyPr wrap="square">
            <a:spAutoFit/>
          </a:bodyPr>
          <a:lstStyle/>
          <a:p>
            <a:pPr algn="l"/>
            <a:r>
              <a:rPr sz="1200" b="0">
                <a:solidFill>
                  <a:srgbClr val="787878"/>
                </a:solidFill>
                <a:latin typeface="Arial"/>
              </a:rPr>
              <a:t>15–25 roles</a:t>
            </a:r>
          </a:p>
        </p:txBody>
      </p:sp>
      <p:sp>
        <p:nvSpPr>
          <p:cNvPr id="20" name="Rectangle 19"/>
          <p:cNvSpPr/>
          <p:nvPr/>
        </p:nvSpPr>
        <p:spPr>
          <a:xfrm>
            <a:off x="8686800" y="3310128"/>
            <a:ext cx="27432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3383280"/>
            <a:ext cx="2651760" cy="320040"/>
          </a:xfrm>
          <a:prstGeom prst="rect">
            <a:avLst/>
          </a:prstGeom>
          <a:noFill/>
        </p:spPr>
        <p:txBody>
          <a:bodyPr wrap="square">
            <a:spAutoFit/>
          </a:bodyPr>
          <a:lstStyle/>
          <a:p>
            <a:pPr algn="l"/>
            <a:r>
              <a:rPr sz="1200" b="0">
                <a:solidFill>
                  <a:srgbClr val="787878"/>
                </a:solidFill>
                <a:latin typeface="Arial"/>
              </a:rPr>
              <a:t>$800K — $1.35M</a:t>
            </a:r>
          </a:p>
        </p:txBody>
      </p:sp>
      <p:sp>
        <p:nvSpPr>
          <p:cNvPr id="22" name="Rectangle 21"/>
          <p:cNvSpPr/>
          <p:nvPr/>
        </p:nvSpPr>
        <p:spPr>
          <a:xfrm>
            <a:off x="731520" y="3785616"/>
            <a:ext cx="438912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858768"/>
            <a:ext cx="4297680" cy="320040"/>
          </a:xfrm>
          <a:prstGeom prst="rect">
            <a:avLst/>
          </a:prstGeom>
          <a:noFill/>
        </p:spPr>
        <p:txBody>
          <a:bodyPr wrap="square">
            <a:spAutoFit/>
          </a:bodyPr>
          <a:lstStyle/>
          <a:p>
            <a:pPr algn="l"/>
            <a:r>
              <a:rPr sz="1200" b="0">
                <a:solidFill>
                  <a:srgbClr val="FFFFFF"/>
                </a:solidFill>
                <a:latin typeface="Arial"/>
              </a:rPr>
              <a:t>Customer communications</a:t>
            </a:r>
          </a:p>
        </p:txBody>
      </p:sp>
      <p:sp>
        <p:nvSpPr>
          <p:cNvPr id="24" name="Rectangle 23"/>
          <p:cNvSpPr/>
          <p:nvPr/>
        </p:nvSpPr>
        <p:spPr>
          <a:xfrm>
            <a:off x="5303520" y="3785616"/>
            <a:ext cx="32004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58768"/>
            <a:ext cx="3108960" cy="320040"/>
          </a:xfrm>
          <a:prstGeom prst="rect">
            <a:avLst/>
          </a:prstGeom>
          <a:noFill/>
        </p:spPr>
        <p:txBody>
          <a:bodyPr wrap="square">
            <a:spAutoFit/>
          </a:bodyPr>
          <a:lstStyle/>
          <a:p>
            <a:pPr algn="l"/>
            <a:r>
              <a:rPr sz="1200" b="0">
                <a:solidFill>
                  <a:srgbClr val="787878"/>
                </a:solidFill>
                <a:latin typeface="Arial"/>
              </a:rPr>
              <a:t>40–70 roles</a:t>
            </a:r>
          </a:p>
        </p:txBody>
      </p:sp>
      <p:sp>
        <p:nvSpPr>
          <p:cNvPr id="26" name="Rectangle 25"/>
          <p:cNvSpPr/>
          <p:nvPr/>
        </p:nvSpPr>
        <p:spPr>
          <a:xfrm>
            <a:off x="8686800" y="3785616"/>
            <a:ext cx="27432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3858768"/>
            <a:ext cx="2651760" cy="320040"/>
          </a:xfrm>
          <a:prstGeom prst="rect">
            <a:avLst/>
          </a:prstGeom>
          <a:noFill/>
        </p:spPr>
        <p:txBody>
          <a:bodyPr wrap="square">
            <a:spAutoFit/>
          </a:bodyPr>
          <a:lstStyle/>
          <a:p>
            <a:pPr algn="l"/>
            <a:r>
              <a:rPr sz="1200" b="0">
                <a:solidFill>
                  <a:srgbClr val="787878"/>
                </a:solidFill>
                <a:latin typeface="Arial"/>
              </a:rPr>
              <a:t>$1.7M — $3.0M</a:t>
            </a:r>
          </a:p>
        </p:txBody>
      </p:sp>
      <p:sp>
        <p:nvSpPr>
          <p:cNvPr id="28" name="Rectangle 27"/>
          <p:cNvSpPr/>
          <p:nvPr/>
        </p:nvSpPr>
        <p:spPr>
          <a:xfrm>
            <a:off x="731520" y="4261104"/>
            <a:ext cx="438912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34256"/>
            <a:ext cx="4297680" cy="320040"/>
          </a:xfrm>
          <a:prstGeom prst="rect">
            <a:avLst/>
          </a:prstGeom>
          <a:noFill/>
        </p:spPr>
        <p:txBody>
          <a:bodyPr wrap="square">
            <a:spAutoFit/>
          </a:bodyPr>
          <a:lstStyle/>
          <a:p>
            <a:pPr algn="l"/>
            <a:r>
              <a:rPr sz="1200" b="0">
                <a:solidFill>
                  <a:srgbClr val="FFFFFF"/>
                </a:solidFill>
                <a:latin typeface="Arial"/>
              </a:rPr>
              <a:t>Vendor and scheduling</a:t>
            </a:r>
          </a:p>
        </p:txBody>
      </p:sp>
      <p:sp>
        <p:nvSpPr>
          <p:cNvPr id="30" name="Rectangle 29"/>
          <p:cNvSpPr/>
          <p:nvPr/>
        </p:nvSpPr>
        <p:spPr>
          <a:xfrm>
            <a:off x="5303520" y="4261104"/>
            <a:ext cx="32004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334256"/>
            <a:ext cx="3108960" cy="320040"/>
          </a:xfrm>
          <a:prstGeom prst="rect">
            <a:avLst/>
          </a:prstGeom>
          <a:noFill/>
        </p:spPr>
        <p:txBody>
          <a:bodyPr wrap="square">
            <a:spAutoFit/>
          </a:bodyPr>
          <a:lstStyle/>
          <a:p>
            <a:pPr algn="l"/>
            <a:r>
              <a:rPr sz="1200" b="0">
                <a:solidFill>
                  <a:srgbClr val="787878"/>
                </a:solidFill>
                <a:latin typeface="Arial"/>
              </a:rPr>
              <a:t>20–35 roles</a:t>
            </a:r>
          </a:p>
        </p:txBody>
      </p:sp>
      <p:sp>
        <p:nvSpPr>
          <p:cNvPr id="32" name="Rectangle 31"/>
          <p:cNvSpPr/>
          <p:nvPr/>
        </p:nvSpPr>
        <p:spPr>
          <a:xfrm>
            <a:off x="8686800" y="4261104"/>
            <a:ext cx="2743200" cy="438912"/>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0" y="4334256"/>
            <a:ext cx="2651760" cy="320040"/>
          </a:xfrm>
          <a:prstGeom prst="rect">
            <a:avLst/>
          </a:prstGeom>
          <a:noFill/>
        </p:spPr>
        <p:txBody>
          <a:bodyPr wrap="square">
            <a:spAutoFit/>
          </a:bodyPr>
          <a:lstStyle/>
          <a:p>
            <a:pPr algn="l"/>
            <a:r>
              <a:rPr sz="1200" b="0">
                <a:solidFill>
                  <a:srgbClr val="787878"/>
                </a:solidFill>
                <a:latin typeface="Arial"/>
              </a:rPr>
              <a:t>$850K — $1.5M</a:t>
            </a:r>
          </a:p>
        </p:txBody>
      </p:sp>
      <p:sp>
        <p:nvSpPr>
          <p:cNvPr id="34" name="Rectangle 33"/>
          <p:cNvSpPr/>
          <p:nvPr/>
        </p:nvSpPr>
        <p:spPr>
          <a:xfrm>
            <a:off x="731520" y="4736592"/>
            <a:ext cx="4389120" cy="438912"/>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809744"/>
            <a:ext cx="4297680" cy="320040"/>
          </a:xfrm>
          <a:prstGeom prst="rect">
            <a:avLst/>
          </a:prstGeom>
          <a:noFill/>
        </p:spPr>
        <p:txBody>
          <a:bodyPr wrap="square">
            <a:spAutoFit/>
          </a:bodyPr>
          <a:lstStyle/>
          <a:p>
            <a:pPr algn="l"/>
            <a:r>
              <a:rPr sz="1300" b="1">
                <a:solidFill>
                  <a:srgbClr val="FFFFFF"/>
                </a:solidFill>
                <a:latin typeface="Arial"/>
              </a:rPr>
              <a:t>DISTRICT TOTAL</a:t>
            </a:r>
          </a:p>
        </p:txBody>
      </p:sp>
      <p:sp>
        <p:nvSpPr>
          <p:cNvPr id="36" name="Rectangle 35"/>
          <p:cNvSpPr/>
          <p:nvPr/>
        </p:nvSpPr>
        <p:spPr>
          <a:xfrm>
            <a:off x="5303520" y="4736592"/>
            <a:ext cx="3200400" cy="438912"/>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809744"/>
            <a:ext cx="3108960" cy="320040"/>
          </a:xfrm>
          <a:prstGeom prst="rect">
            <a:avLst/>
          </a:prstGeom>
          <a:noFill/>
        </p:spPr>
        <p:txBody>
          <a:bodyPr wrap="square">
            <a:spAutoFit/>
          </a:bodyPr>
          <a:lstStyle/>
          <a:p>
            <a:pPr algn="l"/>
            <a:r>
              <a:rPr sz="1300" b="1">
                <a:solidFill>
                  <a:srgbClr val="FFFFFF"/>
                </a:solidFill>
                <a:latin typeface="Arial"/>
              </a:rPr>
              <a:t>105–180 roles</a:t>
            </a:r>
          </a:p>
        </p:txBody>
      </p:sp>
      <p:sp>
        <p:nvSpPr>
          <p:cNvPr id="38" name="Rectangle 37"/>
          <p:cNvSpPr/>
          <p:nvPr/>
        </p:nvSpPr>
        <p:spPr>
          <a:xfrm>
            <a:off x="8686800" y="4736592"/>
            <a:ext cx="2743200" cy="438912"/>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0" y="4809744"/>
            <a:ext cx="2651760" cy="320040"/>
          </a:xfrm>
          <a:prstGeom prst="rect">
            <a:avLst/>
          </a:prstGeom>
          <a:noFill/>
        </p:spPr>
        <p:txBody>
          <a:bodyPr wrap="square">
            <a:spAutoFit/>
          </a:bodyPr>
          <a:lstStyle/>
          <a:p>
            <a:pPr algn="l"/>
            <a:r>
              <a:rPr sz="1300" b="1">
                <a:solidFill>
                  <a:srgbClr val="22D3EE"/>
                </a:solidFill>
                <a:latin typeface="Arial"/>
              </a:rPr>
              <a:t>$4.95M — $8.55M</a:t>
            </a:r>
          </a:p>
        </p:txBody>
      </p:sp>
      <p:sp>
        <p:nvSpPr>
          <p:cNvPr id="40" name="TextBox 39"/>
          <p:cNvSpPr txBox="1"/>
          <p:nvPr/>
        </p:nvSpPr>
        <p:spPr>
          <a:xfrm>
            <a:off x="731520" y="5486400"/>
            <a:ext cx="10058400" cy="365760"/>
          </a:xfrm>
          <a:prstGeom prst="rect">
            <a:avLst/>
          </a:prstGeom>
          <a:noFill/>
        </p:spPr>
        <p:txBody>
          <a:bodyPr wrap="square">
            <a:spAutoFit/>
          </a:bodyPr>
          <a:lstStyle/>
          <a:p>
            <a:pPr algn="l"/>
            <a:r>
              <a:rPr sz="1200" b="0">
                <a:solidFill>
                  <a:srgbClr val="3C3C3C"/>
                </a:solidFill>
                <a:latin typeface="Arial"/>
              </a:rPr>
              <a:t>Deployment cost (6 months): $400K–$600K  |  Net savings: $4.5M–$8M  |  Payback: 60–75 days</a:t>
            </a:r>
          </a:p>
        </p:txBody>
      </p:sp>
      <p:sp>
        <p:nvSpPr>
          <p:cNvPr id="41" name="TextBox 40"/>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REGIONAL ROLLOUT — FINANCIAL MODEL (6 MONTHS)</a:t>
            </a:r>
          </a:p>
        </p:txBody>
      </p:sp>
      <p:sp>
        <p:nvSpPr>
          <p:cNvPr id="3" name="TextBox 2"/>
          <p:cNvSpPr txBox="1"/>
          <p:nvPr/>
        </p:nvSpPr>
        <p:spPr>
          <a:xfrm>
            <a:off x="731520" y="822960"/>
            <a:ext cx="10058400" cy="1645920"/>
          </a:xfrm>
          <a:prstGeom prst="rect">
            <a:avLst/>
          </a:prstGeom>
          <a:noFill/>
        </p:spPr>
        <p:txBody>
          <a:bodyPr wrap="square">
            <a:spAutoFit/>
          </a:bodyPr>
          <a:lstStyle/>
          <a:p>
            <a:r>
              <a:rPr sz="3800" b="1">
                <a:solidFill>
                  <a:srgbClr val="FFFFFF"/>
                </a:solidFill>
                <a:latin typeface="Arial"/>
              </a:rPr>
              <a:t>One region.</a:t>
            </a:r>
          </a:p>
          <a:p>
            <a:r>
              <a:rPr sz="3800" b="1">
                <a:solidFill>
                  <a:srgbClr val="22D3EE"/>
                </a:solidFill>
                <a:latin typeface="Arial"/>
              </a:rPr>
              <a:t>$70M — $125M saved in 6 months.</a:t>
            </a:r>
          </a:p>
        </p:txBody>
      </p:sp>
      <p:sp>
        <p:nvSpPr>
          <p:cNvPr id="4" name="Rectangle 3"/>
          <p:cNvSpPr/>
          <p:nvPr/>
        </p:nvSpPr>
        <p:spPr>
          <a:xfrm>
            <a:off x="731520" y="2468880"/>
            <a:ext cx="438912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87168"/>
            <a:ext cx="4389120" cy="274320"/>
          </a:xfrm>
          <a:prstGeom prst="rect">
            <a:avLst/>
          </a:prstGeom>
          <a:noFill/>
        </p:spPr>
        <p:txBody>
          <a:bodyPr wrap="square">
            <a:spAutoFit/>
          </a:bodyPr>
          <a:lstStyle/>
          <a:p>
            <a:pPr algn="l"/>
            <a:r>
              <a:rPr sz="1000" b="1">
                <a:solidFill>
                  <a:srgbClr val="3C3C3C"/>
                </a:solidFill>
                <a:latin typeface="Arial"/>
              </a:rPr>
              <a:t>Function</a:t>
            </a:r>
          </a:p>
        </p:txBody>
      </p:sp>
      <p:sp>
        <p:nvSpPr>
          <p:cNvPr id="6" name="Rectangle 5"/>
          <p:cNvSpPr/>
          <p:nvPr/>
        </p:nvSpPr>
        <p:spPr>
          <a:xfrm>
            <a:off x="5303520" y="2468880"/>
            <a:ext cx="320040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2487168"/>
            <a:ext cx="3200400" cy="274320"/>
          </a:xfrm>
          <a:prstGeom prst="rect">
            <a:avLst/>
          </a:prstGeom>
          <a:noFill/>
        </p:spPr>
        <p:txBody>
          <a:bodyPr wrap="square">
            <a:spAutoFit/>
          </a:bodyPr>
          <a:lstStyle/>
          <a:p>
            <a:pPr algn="l"/>
            <a:r>
              <a:rPr sz="1000" b="1">
                <a:solidFill>
                  <a:srgbClr val="3C3C3C"/>
                </a:solidFill>
                <a:latin typeface="Arial"/>
              </a:rPr>
              <a:t>Roles Eliminated</a:t>
            </a:r>
          </a:p>
        </p:txBody>
      </p:sp>
      <p:sp>
        <p:nvSpPr>
          <p:cNvPr id="8" name="Rectangle 7"/>
          <p:cNvSpPr/>
          <p:nvPr/>
        </p:nvSpPr>
        <p:spPr>
          <a:xfrm>
            <a:off x="8686800" y="2468880"/>
            <a:ext cx="2743200" cy="320040"/>
          </a:xfrm>
          <a:prstGeom prst="rect">
            <a:avLst/>
          </a:prstGeom>
          <a:solidFill>
            <a:srgbClr val="141414"/>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487168"/>
            <a:ext cx="2743200" cy="274320"/>
          </a:xfrm>
          <a:prstGeom prst="rect">
            <a:avLst/>
          </a:prstGeom>
          <a:noFill/>
        </p:spPr>
        <p:txBody>
          <a:bodyPr wrap="square">
            <a:spAutoFit/>
          </a:bodyPr>
          <a:lstStyle/>
          <a:p>
            <a:pPr algn="l"/>
            <a:r>
              <a:rPr sz="1000" b="1">
                <a:solidFill>
                  <a:srgbClr val="3C3C3C"/>
                </a:solidFill>
                <a:latin typeface="Arial"/>
              </a:rPr>
              <a:t>6-Month Savings</a:t>
            </a:r>
          </a:p>
        </p:txBody>
      </p:sp>
      <p:sp>
        <p:nvSpPr>
          <p:cNvPr id="10" name="Rectangle 9"/>
          <p:cNvSpPr/>
          <p:nvPr/>
        </p:nvSpPr>
        <p:spPr>
          <a:xfrm>
            <a:off x="731520" y="2834640"/>
            <a:ext cx="438912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89504"/>
            <a:ext cx="4297680" cy="292608"/>
          </a:xfrm>
          <a:prstGeom prst="rect">
            <a:avLst/>
          </a:prstGeom>
          <a:noFill/>
        </p:spPr>
        <p:txBody>
          <a:bodyPr wrap="square">
            <a:spAutoFit/>
          </a:bodyPr>
          <a:lstStyle/>
          <a:p>
            <a:pPr algn="l"/>
            <a:r>
              <a:rPr sz="1100" b="0">
                <a:solidFill>
                  <a:srgbClr val="FFFFFF"/>
                </a:solidFill>
                <a:latin typeface="Arial"/>
              </a:rPr>
              <a:t>Operations coordination</a:t>
            </a:r>
          </a:p>
        </p:txBody>
      </p:sp>
      <p:sp>
        <p:nvSpPr>
          <p:cNvPr id="12" name="Rectangle 11"/>
          <p:cNvSpPr/>
          <p:nvPr/>
        </p:nvSpPr>
        <p:spPr>
          <a:xfrm>
            <a:off x="5303520" y="2834640"/>
            <a:ext cx="32004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889504"/>
            <a:ext cx="3108960" cy="292608"/>
          </a:xfrm>
          <a:prstGeom prst="rect">
            <a:avLst/>
          </a:prstGeom>
          <a:noFill/>
        </p:spPr>
        <p:txBody>
          <a:bodyPr wrap="square">
            <a:spAutoFit/>
          </a:bodyPr>
          <a:lstStyle/>
          <a:p>
            <a:pPr algn="l"/>
            <a:r>
              <a:rPr sz="1100" b="0">
                <a:solidFill>
                  <a:srgbClr val="787878"/>
                </a:solidFill>
                <a:latin typeface="Arial"/>
              </a:rPr>
              <a:t>400–700 roles</a:t>
            </a:r>
          </a:p>
        </p:txBody>
      </p:sp>
      <p:sp>
        <p:nvSpPr>
          <p:cNvPr id="14" name="Rectangle 13"/>
          <p:cNvSpPr/>
          <p:nvPr/>
        </p:nvSpPr>
        <p:spPr>
          <a:xfrm>
            <a:off x="8686800" y="2834640"/>
            <a:ext cx="27432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889504"/>
            <a:ext cx="2651760" cy="292608"/>
          </a:xfrm>
          <a:prstGeom prst="rect">
            <a:avLst/>
          </a:prstGeom>
          <a:noFill/>
        </p:spPr>
        <p:txBody>
          <a:bodyPr wrap="square">
            <a:spAutoFit/>
          </a:bodyPr>
          <a:lstStyle/>
          <a:p>
            <a:pPr algn="l"/>
            <a:r>
              <a:rPr sz="1100" b="0">
                <a:solidFill>
                  <a:srgbClr val="787878"/>
                </a:solidFill>
                <a:latin typeface="Arial"/>
              </a:rPr>
              <a:t>$21.5M — $38M</a:t>
            </a:r>
          </a:p>
        </p:txBody>
      </p:sp>
      <p:sp>
        <p:nvSpPr>
          <p:cNvPr id="16" name="Rectangle 15"/>
          <p:cNvSpPr/>
          <p:nvPr/>
        </p:nvSpPr>
        <p:spPr>
          <a:xfrm>
            <a:off x="731520" y="3236976"/>
            <a:ext cx="438912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291840"/>
            <a:ext cx="4297680" cy="292608"/>
          </a:xfrm>
          <a:prstGeom prst="rect">
            <a:avLst/>
          </a:prstGeom>
          <a:noFill/>
        </p:spPr>
        <p:txBody>
          <a:bodyPr wrap="square">
            <a:spAutoFit/>
          </a:bodyPr>
          <a:lstStyle/>
          <a:p>
            <a:pPr algn="l"/>
            <a:r>
              <a:rPr sz="1100" b="0">
                <a:solidFill>
                  <a:srgbClr val="FFFFFF"/>
                </a:solidFill>
                <a:latin typeface="Arial"/>
              </a:rPr>
              <a:t>Reporting and analytics</a:t>
            </a:r>
          </a:p>
        </p:txBody>
      </p:sp>
      <p:sp>
        <p:nvSpPr>
          <p:cNvPr id="18" name="Rectangle 17"/>
          <p:cNvSpPr/>
          <p:nvPr/>
        </p:nvSpPr>
        <p:spPr>
          <a:xfrm>
            <a:off x="5303520" y="3236976"/>
            <a:ext cx="32004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3291840"/>
            <a:ext cx="3108960" cy="292608"/>
          </a:xfrm>
          <a:prstGeom prst="rect">
            <a:avLst/>
          </a:prstGeom>
          <a:noFill/>
        </p:spPr>
        <p:txBody>
          <a:bodyPr wrap="square">
            <a:spAutoFit/>
          </a:bodyPr>
          <a:lstStyle/>
          <a:p>
            <a:pPr algn="l"/>
            <a:r>
              <a:rPr sz="1100" b="0">
                <a:solidFill>
                  <a:srgbClr val="787878"/>
                </a:solidFill>
                <a:latin typeface="Arial"/>
              </a:rPr>
              <a:t>200–350 roles</a:t>
            </a:r>
          </a:p>
        </p:txBody>
      </p:sp>
      <p:sp>
        <p:nvSpPr>
          <p:cNvPr id="20" name="Rectangle 19"/>
          <p:cNvSpPr/>
          <p:nvPr/>
        </p:nvSpPr>
        <p:spPr>
          <a:xfrm>
            <a:off x="8686800" y="3236976"/>
            <a:ext cx="27432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3291840"/>
            <a:ext cx="2651760" cy="292608"/>
          </a:xfrm>
          <a:prstGeom prst="rect">
            <a:avLst/>
          </a:prstGeom>
          <a:noFill/>
        </p:spPr>
        <p:txBody>
          <a:bodyPr wrap="square">
            <a:spAutoFit/>
          </a:bodyPr>
          <a:lstStyle/>
          <a:p>
            <a:pPr algn="l"/>
            <a:r>
              <a:rPr sz="1100" b="0">
                <a:solidFill>
                  <a:srgbClr val="787878"/>
                </a:solidFill>
                <a:latin typeface="Arial"/>
              </a:rPr>
              <a:t>$10.5M — $19M</a:t>
            </a:r>
          </a:p>
        </p:txBody>
      </p:sp>
      <p:sp>
        <p:nvSpPr>
          <p:cNvPr id="22" name="Rectangle 21"/>
          <p:cNvSpPr/>
          <p:nvPr/>
        </p:nvSpPr>
        <p:spPr>
          <a:xfrm>
            <a:off x="731520" y="3639312"/>
            <a:ext cx="438912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694176"/>
            <a:ext cx="4297680" cy="292608"/>
          </a:xfrm>
          <a:prstGeom prst="rect">
            <a:avLst/>
          </a:prstGeom>
          <a:noFill/>
        </p:spPr>
        <p:txBody>
          <a:bodyPr wrap="square">
            <a:spAutoFit/>
          </a:bodyPr>
          <a:lstStyle/>
          <a:p>
            <a:pPr algn="l"/>
            <a:r>
              <a:rPr sz="1100" b="0">
                <a:solidFill>
                  <a:srgbClr val="FFFFFF"/>
                </a:solidFill>
                <a:latin typeface="Arial"/>
              </a:rPr>
              <a:t>Customer communications</a:t>
            </a:r>
          </a:p>
        </p:txBody>
      </p:sp>
      <p:sp>
        <p:nvSpPr>
          <p:cNvPr id="24" name="Rectangle 23"/>
          <p:cNvSpPr/>
          <p:nvPr/>
        </p:nvSpPr>
        <p:spPr>
          <a:xfrm>
            <a:off x="5303520" y="3639312"/>
            <a:ext cx="32004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694176"/>
            <a:ext cx="3108960" cy="292608"/>
          </a:xfrm>
          <a:prstGeom prst="rect">
            <a:avLst/>
          </a:prstGeom>
          <a:noFill/>
        </p:spPr>
        <p:txBody>
          <a:bodyPr wrap="square">
            <a:spAutoFit/>
          </a:bodyPr>
          <a:lstStyle/>
          <a:p>
            <a:pPr algn="l"/>
            <a:r>
              <a:rPr sz="1100" b="0">
                <a:solidFill>
                  <a:srgbClr val="787878"/>
                </a:solidFill>
                <a:latin typeface="Arial"/>
              </a:rPr>
              <a:t>500–900 roles</a:t>
            </a:r>
          </a:p>
        </p:txBody>
      </p:sp>
      <p:sp>
        <p:nvSpPr>
          <p:cNvPr id="26" name="Rectangle 25"/>
          <p:cNvSpPr/>
          <p:nvPr/>
        </p:nvSpPr>
        <p:spPr>
          <a:xfrm>
            <a:off x="8686800" y="3639312"/>
            <a:ext cx="27432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3694176"/>
            <a:ext cx="2651760" cy="292608"/>
          </a:xfrm>
          <a:prstGeom prst="rect">
            <a:avLst/>
          </a:prstGeom>
          <a:noFill/>
        </p:spPr>
        <p:txBody>
          <a:bodyPr wrap="square">
            <a:spAutoFit/>
          </a:bodyPr>
          <a:lstStyle/>
          <a:p>
            <a:pPr algn="l"/>
            <a:r>
              <a:rPr sz="1100" b="0">
                <a:solidFill>
                  <a:srgbClr val="787878"/>
                </a:solidFill>
                <a:latin typeface="Arial"/>
              </a:rPr>
              <a:t>$21.5M — $38.5M</a:t>
            </a:r>
          </a:p>
        </p:txBody>
      </p:sp>
      <p:sp>
        <p:nvSpPr>
          <p:cNvPr id="28" name="Rectangle 27"/>
          <p:cNvSpPr/>
          <p:nvPr/>
        </p:nvSpPr>
        <p:spPr>
          <a:xfrm>
            <a:off x="731520" y="4041648"/>
            <a:ext cx="438912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096512"/>
            <a:ext cx="4297680" cy="292608"/>
          </a:xfrm>
          <a:prstGeom prst="rect">
            <a:avLst/>
          </a:prstGeom>
          <a:noFill/>
        </p:spPr>
        <p:txBody>
          <a:bodyPr wrap="square">
            <a:spAutoFit/>
          </a:bodyPr>
          <a:lstStyle/>
          <a:p>
            <a:pPr algn="l"/>
            <a:r>
              <a:rPr sz="1100" b="0">
                <a:solidFill>
                  <a:srgbClr val="FFFFFF"/>
                </a:solidFill>
                <a:latin typeface="Arial"/>
              </a:rPr>
              <a:t>Vendor and scheduling</a:t>
            </a:r>
          </a:p>
        </p:txBody>
      </p:sp>
      <p:sp>
        <p:nvSpPr>
          <p:cNvPr id="30" name="Rectangle 29"/>
          <p:cNvSpPr/>
          <p:nvPr/>
        </p:nvSpPr>
        <p:spPr>
          <a:xfrm>
            <a:off x="5303520" y="4041648"/>
            <a:ext cx="32004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096512"/>
            <a:ext cx="3108960" cy="292608"/>
          </a:xfrm>
          <a:prstGeom prst="rect">
            <a:avLst/>
          </a:prstGeom>
          <a:noFill/>
        </p:spPr>
        <p:txBody>
          <a:bodyPr wrap="square">
            <a:spAutoFit/>
          </a:bodyPr>
          <a:lstStyle/>
          <a:p>
            <a:pPr algn="l"/>
            <a:r>
              <a:rPr sz="1100" b="0">
                <a:solidFill>
                  <a:srgbClr val="787878"/>
                </a:solidFill>
                <a:latin typeface="Arial"/>
              </a:rPr>
              <a:t>250–450 roles</a:t>
            </a:r>
          </a:p>
        </p:txBody>
      </p:sp>
      <p:sp>
        <p:nvSpPr>
          <p:cNvPr id="32" name="Rectangle 31"/>
          <p:cNvSpPr/>
          <p:nvPr/>
        </p:nvSpPr>
        <p:spPr>
          <a:xfrm>
            <a:off x="8686800" y="4041648"/>
            <a:ext cx="27432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0" y="4096512"/>
            <a:ext cx="2651760" cy="292608"/>
          </a:xfrm>
          <a:prstGeom prst="rect">
            <a:avLst/>
          </a:prstGeom>
          <a:noFill/>
        </p:spPr>
        <p:txBody>
          <a:bodyPr wrap="square">
            <a:spAutoFit/>
          </a:bodyPr>
          <a:lstStyle/>
          <a:p>
            <a:pPr algn="l"/>
            <a:r>
              <a:rPr sz="1100" b="0">
                <a:solidFill>
                  <a:srgbClr val="787878"/>
                </a:solidFill>
                <a:latin typeface="Arial"/>
              </a:rPr>
              <a:t>$10.5M — $19M</a:t>
            </a:r>
          </a:p>
        </p:txBody>
      </p:sp>
      <p:sp>
        <p:nvSpPr>
          <p:cNvPr id="34" name="Rectangle 33"/>
          <p:cNvSpPr/>
          <p:nvPr/>
        </p:nvSpPr>
        <p:spPr>
          <a:xfrm>
            <a:off x="731520" y="4443984"/>
            <a:ext cx="438912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498848"/>
            <a:ext cx="4297680" cy="292608"/>
          </a:xfrm>
          <a:prstGeom prst="rect">
            <a:avLst/>
          </a:prstGeom>
          <a:noFill/>
        </p:spPr>
        <p:txBody>
          <a:bodyPr wrap="square">
            <a:spAutoFit/>
          </a:bodyPr>
          <a:lstStyle/>
          <a:p>
            <a:pPr algn="l"/>
            <a:r>
              <a:rPr sz="1100" b="0">
                <a:solidFill>
                  <a:srgbClr val="FFFFFF"/>
                </a:solidFill>
                <a:latin typeface="Arial"/>
              </a:rPr>
              <a:t>Compliance</a:t>
            </a:r>
          </a:p>
        </p:txBody>
      </p:sp>
      <p:sp>
        <p:nvSpPr>
          <p:cNvPr id="36" name="Rectangle 35"/>
          <p:cNvSpPr/>
          <p:nvPr/>
        </p:nvSpPr>
        <p:spPr>
          <a:xfrm>
            <a:off x="5303520" y="4443984"/>
            <a:ext cx="32004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498848"/>
            <a:ext cx="3108960" cy="292608"/>
          </a:xfrm>
          <a:prstGeom prst="rect">
            <a:avLst/>
          </a:prstGeom>
          <a:noFill/>
        </p:spPr>
        <p:txBody>
          <a:bodyPr wrap="square">
            <a:spAutoFit/>
          </a:bodyPr>
          <a:lstStyle/>
          <a:p>
            <a:pPr algn="l"/>
            <a:r>
              <a:rPr sz="1100" b="0">
                <a:solidFill>
                  <a:srgbClr val="787878"/>
                </a:solidFill>
                <a:latin typeface="Arial"/>
              </a:rPr>
              <a:t>150–250 roles</a:t>
            </a:r>
          </a:p>
        </p:txBody>
      </p:sp>
      <p:sp>
        <p:nvSpPr>
          <p:cNvPr id="38" name="Rectangle 37"/>
          <p:cNvSpPr/>
          <p:nvPr/>
        </p:nvSpPr>
        <p:spPr>
          <a:xfrm>
            <a:off x="8686800" y="4443984"/>
            <a:ext cx="2743200" cy="365760"/>
          </a:xfrm>
          <a:prstGeom prst="rect">
            <a:avLst/>
          </a:prstGeom>
          <a:solidFill>
            <a:srgbClr val="0E0E0E"/>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0" y="4498848"/>
            <a:ext cx="2651760" cy="292608"/>
          </a:xfrm>
          <a:prstGeom prst="rect">
            <a:avLst/>
          </a:prstGeom>
          <a:noFill/>
        </p:spPr>
        <p:txBody>
          <a:bodyPr wrap="square">
            <a:spAutoFit/>
          </a:bodyPr>
          <a:lstStyle/>
          <a:p>
            <a:pPr algn="l"/>
            <a:r>
              <a:rPr sz="1100" b="0">
                <a:solidFill>
                  <a:srgbClr val="787878"/>
                </a:solidFill>
                <a:latin typeface="Arial"/>
              </a:rPr>
              <a:t>$6.5M — $10.5M</a:t>
            </a:r>
          </a:p>
        </p:txBody>
      </p:sp>
      <p:sp>
        <p:nvSpPr>
          <p:cNvPr id="40" name="Rectangle 39"/>
          <p:cNvSpPr/>
          <p:nvPr/>
        </p:nvSpPr>
        <p:spPr>
          <a:xfrm>
            <a:off x="731520" y="4846320"/>
            <a:ext cx="4389120" cy="365760"/>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901184"/>
            <a:ext cx="4297680" cy="292608"/>
          </a:xfrm>
          <a:prstGeom prst="rect">
            <a:avLst/>
          </a:prstGeom>
          <a:noFill/>
        </p:spPr>
        <p:txBody>
          <a:bodyPr wrap="square">
            <a:spAutoFit/>
          </a:bodyPr>
          <a:lstStyle/>
          <a:p>
            <a:pPr algn="l"/>
            <a:r>
              <a:rPr sz="1200" b="1">
                <a:solidFill>
                  <a:srgbClr val="FFFFFF"/>
                </a:solidFill>
                <a:latin typeface="Arial"/>
              </a:rPr>
              <a:t>REGION TOTAL</a:t>
            </a:r>
          </a:p>
        </p:txBody>
      </p:sp>
      <p:sp>
        <p:nvSpPr>
          <p:cNvPr id="42" name="Rectangle 41"/>
          <p:cNvSpPr/>
          <p:nvPr/>
        </p:nvSpPr>
        <p:spPr>
          <a:xfrm>
            <a:off x="5303520" y="4846320"/>
            <a:ext cx="3200400" cy="365760"/>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4901184"/>
            <a:ext cx="3108960" cy="292608"/>
          </a:xfrm>
          <a:prstGeom prst="rect">
            <a:avLst/>
          </a:prstGeom>
          <a:noFill/>
        </p:spPr>
        <p:txBody>
          <a:bodyPr wrap="square">
            <a:spAutoFit/>
          </a:bodyPr>
          <a:lstStyle/>
          <a:p>
            <a:pPr algn="l"/>
            <a:r>
              <a:rPr sz="1200" b="1">
                <a:solidFill>
                  <a:srgbClr val="FFFFFF"/>
                </a:solidFill>
                <a:latin typeface="Arial"/>
              </a:rPr>
              <a:t>1,500–2,650 roles</a:t>
            </a:r>
          </a:p>
        </p:txBody>
      </p:sp>
      <p:sp>
        <p:nvSpPr>
          <p:cNvPr id="44" name="Rectangle 43"/>
          <p:cNvSpPr/>
          <p:nvPr/>
        </p:nvSpPr>
        <p:spPr>
          <a:xfrm>
            <a:off x="8686800" y="4846320"/>
            <a:ext cx="2743200" cy="365760"/>
          </a:xfrm>
          <a:prstGeom prst="rect">
            <a:avLst/>
          </a:prstGeom>
          <a:solidFill>
            <a:srgbClr val="08141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0" y="4901184"/>
            <a:ext cx="2651760" cy="292608"/>
          </a:xfrm>
          <a:prstGeom prst="rect">
            <a:avLst/>
          </a:prstGeom>
          <a:noFill/>
        </p:spPr>
        <p:txBody>
          <a:bodyPr wrap="square">
            <a:spAutoFit/>
          </a:bodyPr>
          <a:lstStyle/>
          <a:p>
            <a:pPr algn="l"/>
            <a:r>
              <a:rPr sz="1200" b="1">
                <a:solidFill>
                  <a:srgbClr val="22D3EE"/>
                </a:solidFill>
                <a:latin typeface="Arial"/>
              </a:rPr>
              <a:t>$70.5M — $125M</a:t>
            </a:r>
          </a:p>
        </p:txBody>
      </p:sp>
      <p:sp>
        <p:nvSpPr>
          <p:cNvPr id="46" name="TextBox 45"/>
          <p:cNvSpPr txBox="1"/>
          <p:nvPr/>
        </p:nvSpPr>
        <p:spPr>
          <a:xfrm>
            <a:off x="731520" y="5486400"/>
            <a:ext cx="10058400" cy="365760"/>
          </a:xfrm>
          <a:prstGeom prst="rect">
            <a:avLst/>
          </a:prstGeom>
          <a:noFill/>
        </p:spPr>
        <p:txBody>
          <a:bodyPr wrap="square">
            <a:spAutoFit/>
          </a:bodyPr>
          <a:lstStyle/>
          <a:p>
            <a:pPr algn="l"/>
            <a:r>
              <a:rPr sz="1200" b="0">
                <a:solidFill>
                  <a:srgbClr val="3C3C3C"/>
                </a:solidFill>
                <a:latin typeface="Arial"/>
              </a:rPr>
              <a:t>Deployment cost (6 months): $2M–$3.5M  |  Net savings: $67M–$121M  |  Full US annual: $1B–$2B+</a:t>
            </a:r>
          </a:p>
        </p:txBody>
      </p:sp>
      <p:sp>
        <p:nvSpPr>
          <p:cNvPr id="47" name="TextBox 46"/>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DEPLOYMENT PLAN</a:t>
            </a:r>
          </a:p>
        </p:txBody>
      </p:sp>
      <p:sp>
        <p:nvSpPr>
          <p:cNvPr id="3" name="TextBox 2"/>
          <p:cNvSpPr txBox="1"/>
          <p:nvPr/>
        </p:nvSpPr>
        <p:spPr>
          <a:xfrm>
            <a:off x="731520" y="822960"/>
            <a:ext cx="10058400" cy="1645920"/>
          </a:xfrm>
          <a:prstGeom prst="rect">
            <a:avLst/>
          </a:prstGeom>
          <a:noFill/>
        </p:spPr>
        <p:txBody>
          <a:bodyPr wrap="square">
            <a:spAutoFit/>
          </a:bodyPr>
          <a:lstStyle/>
          <a:p>
            <a:r>
              <a:rPr sz="3800" b="1">
                <a:solidFill>
                  <a:srgbClr val="FFFFFF"/>
                </a:solidFill>
                <a:latin typeface="Arial"/>
              </a:rPr>
              <a:t>Three phases.</a:t>
            </a:r>
          </a:p>
          <a:p>
            <a:r>
              <a:rPr sz="3800" b="1">
                <a:solidFill>
                  <a:srgbClr val="22D3EE"/>
                </a:solidFill>
                <a:latin typeface="Arial"/>
              </a:rPr>
              <a:t>Proven before scaled.</a:t>
            </a:r>
          </a:p>
        </p:txBody>
      </p:sp>
      <p:sp>
        <p:nvSpPr>
          <p:cNvPr id="4" name="Rectangle 3"/>
          <p:cNvSpPr/>
          <p:nvPr/>
        </p:nvSpPr>
        <p:spPr>
          <a:xfrm>
            <a:off x="731520" y="2606040"/>
            <a:ext cx="3566160" cy="347472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0604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43200"/>
            <a:ext cx="3200400" cy="274320"/>
          </a:xfrm>
          <a:prstGeom prst="rect">
            <a:avLst/>
          </a:prstGeom>
          <a:noFill/>
        </p:spPr>
        <p:txBody>
          <a:bodyPr wrap="square">
            <a:spAutoFit/>
          </a:bodyPr>
          <a:lstStyle/>
          <a:p>
            <a:pPr algn="l"/>
            <a:r>
              <a:rPr sz="1000" b="1">
                <a:solidFill>
                  <a:srgbClr val="22D3EE"/>
                </a:solidFill>
                <a:latin typeface="Arial"/>
              </a:rPr>
              <a:t>PHASE 1</a:t>
            </a:r>
          </a:p>
        </p:txBody>
      </p:sp>
      <p:sp>
        <p:nvSpPr>
          <p:cNvPr id="7" name="TextBox 6"/>
          <p:cNvSpPr txBox="1"/>
          <p:nvPr/>
        </p:nvSpPr>
        <p:spPr>
          <a:xfrm>
            <a:off x="914400" y="3063240"/>
            <a:ext cx="3200400" cy="457200"/>
          </a:xfrm>
          <a:prstGeom prst="rect">
            <a:avLst/>
          </a:prstGeom>
          <a:noFill/>
        </p:spPr>
        <p:txBody>
          <a:bodyPr wrap="square">
            <a:spAutoFit/>
          </a:bodyPr>
          <a:lstStyle/>
          <a:p>
            <a:pPr algn="l"/>
            <a:r>
              <a:rPr sz="1800" b="1">
                <a:solidFill>
                  <a:srgbClr val="FFFFFF"/>
                </a:solidFill>
                <a:latin typeface="Arial"/>
              </a:rPr>
              <a:t>District Pilot</a:t>
            </a:r>
          </a:p>
        </p:txBody>
      </p:sp>
      <p:sp>
        <p:nvSpPr>
          <p:cNvPr id="8" name="TextBox 7"/>
          <p:cNvSpPr txBox="1"/>
          <p:nvPr/>
        </p:nvSpPr>
        <p:spPr>
          <a:xfrm>
            <a:off x="914400" y="3611880"/>
            <a:ext cx="3200400" cy="1097280"/>
          </a:xfrm>
          <a:prstGeom prst="rect">
            <a:avLst/>
          </a:prstGeom>
          <a:noFill/>
        </p:spPr>
        <p:txBody>
          <a:bodyPr wrap="square">
            <a:spAutoFit/>
          </a:bodyPr>
          <a:lstStyle/>
          <a:p>
            <a:pPr algn="l"/>
            <a:r>
              <a:rPr sz="1200" b="0">
                <a:solidFill>
                  <a:srgbClr val="787878"/>
                </a:solidFill>
                <a:latin typeface="Arial"/>
              </a:rPr>
              <a:t>One district. 6 months. Success metrics defined upfront. Full operational visibility before committing to anything broader.</a:t>
            </a:r>
          </a:p>
        </p:txBody>
      </p:sp>
      <p:sp>
        <p:nvSpPr>
          <p:cNvPr id="9" name="TextBox 8"/>
          <p:cNvSpPr txBox="1"/>
          <p:nvPr/>
        </p:nvSpPr>
        <p:spPr>
          <a:xfrm>
            <a:off x="914400" y="5303520"/>
            <a:ext cx="3200400" cy="457200"/>
          </a:xfrm>
          <a:prstGeom prst="rect">
            <a:avLst/>
          </a:prstGeom>
          <a:noFill/>
        </p:spPr>
        <p:txBody>
          <a:bodyPr wrap="square">
            <a:spAutoFit/>
          </a:bodyPr>
          <a:lstStyle/>
          <a:p>
            <a:pPr algn="l"/>
            <a:r>
              <a:rPr sz="1800" b="1">
                <a:solidFill>
                  <a:srgbClr val="22D3EE"/>
                </a:solidFill>
                <a:latin typeface="Arial"/>
              </a:rPr>
              <a:t>$5M–$8.5M saved</a:t>
            </a:r>
          </a:p>
        </p:txBody>
      </p:sp>
      <p:sp>
        <p:nvSpPr>
          <p:cNvPr id="10" name="Rectangle 9"/>
          <p:cNvSpPr/>
          <p:nvPr/>
        </p:nvSpPr>
        <p:spPr>
          <a:xfrm>
            <a:off x="4526280" y="2606040"/>
            <a:ext cx="3566160" cy="347472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0604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43200"/>
            <a:ext cx="3200400" cy="274320"/>
          </a:xfrm>
          <a:prstGeom prst="rect">
            <a:avLst/>
          </a:prstGeom>
          <a:noFill/>
        </p:spPr>
        <p:txBody>
          <a:bodyPr wrap="square">
            <a:spAutoFit/>
          </a:bodyPr>
          <a:lstStyle/>
          <a:p>
            <a:pPr algn="l"/>
            <a:r>
              <a:rPr sz="1000" b="1">
                <a:solidFill>
                  <a:srgbClr val="22D3EE"/>
                </a:solidFill>
                <a:latin typeface="Arial"/>
              </a:rPr>
              <a:t>PHASE 2</a:t>
            </a:r>
          </a:p>
        </p:txBody>
      </p:sp>
      <p:sp>
        <p:nvSpPr>
          <p:cNvPr id="13" name="TextBox 12"/>
          <p:cNvSpPr txBox="1"/>
          <p:nvPr/>
        </p:nvSpPr>
        <p:spPr>
          <a:xfrm>
            <a:off x="4709160" y="3063240"/>
            <a:ext cx="3200400" cy="457200"/>
          </a:xfrm>
          <a:prstGeom prst="rect">
            <a:avLst/>
          </a:prstGeom>
          <a:noFill/>
        </p:spPr>
        <p:txBody>
          <a:bodyPr wrap="square">
            <a:spAutoFit/>
          </a:bodyPr>
          <a:lstStyle/>
          <a:p>
            <a:pPr algn="l"/>
            <a:r>
              <a:rPr sz="1800" b="1">
                <a:solidFill>
                  <a:srgbClr val="FFFFFF"/>
                </a:solidFill>
                <a:latin typeface="Arial"/>
              </a:rPr>
              <a:t>Regional Rollout</a:t>
            </a:r>
          </a:p>
        </p:txBody>
      </p:sp>
      <p:sp>
        <p:nvSpPr>
          <p:cNvPr id="14" name="TextBox 13"/>
          <p:cNvSpPr txBox="1"/>
          <p:nvPr/>
        </p:nvSpPr>
        <p:spPr>
          <a:xfrm>
            <a:off x="4709160" y="3611880"/>
            <a:ext cx="3200400" cy="1097280"/>
          </a:xfrm>
          <a:prstGeom prst="rect">
            <a:avLst/>
          </a:prstGeom>
          <a:noFill/>
        </p:spPr>
        <p:txBody>
          <a:bodyPr wrap="square">
            <a:spAutoFit/>
          </a:bodyPr>
          <a:lstStyle/>
          <a:p>
            <a:pPr algn="l"/>
            <a:r>
              <a:rPr sz="1200" b="0">
                <a:solidFill>
                  <a:srgbClr val="787878"/>
                </a:solidFill>
                <a:latin typeface="Arial"/>
              </a:rPr>
              <a:t>Proven model replicated across 8–15 districts simultaneously. Same system, same configuration, scaled.</a:t>
            </a:r>
          </a:p>
        </p:txBody>
      </p:sp>
      <p:sp>
        <p:nvSpPr>
          <p:cNvPr id="15" name="TextBox 14"/>
          <p:cNvSpPr txBox="1"/>
          <p:nvPr/>
        </p:nvSpPr>
        <p:spPr>
          <a:xfrm>
            <a:off x="4709160" y="5303520"/>
            <a:ext cx="3200400" cy="457200"/>
          </a:xfrm>
          <a:prstGeom prst="rect">
            <a:avLst/>
          </a:prstGeom>
          <a:noFill/>
        </p:spPr>
        <p:txBody>
          <a:bodyPr wrap="square">
            <a:spAutoFit/>
          </a:bodyPr>
          <a:lstStyle/>
          <a:p>
            <a:pPr algn="l"/>
            <a:r>
              <a:rPr sz="1800" b="1">
                <a:solidFill>
                  <a:srgbClr val="22D3EE"/>
                </a:solidFill>
                <a:latin typeface="Arial"/>
              </a:rPr>
              <a:t>$70M–$125M saved</a:t>
            </a:r>
          </a:p>
        </p:txBody>
      </p:sp>
      <p:sp>
        <p:nvSpPr>
          <p:cNvPr id="16" name="Rectangle 15"/>
          <p:cNvSpPr/>
          <p:nvPr/>
        </p:nvSpPr>
        <p:spPr>
          <a:xfrm>
            <a:off x="8321040" y="2606040"/>
            <a:ext cx="3566160" cy="347472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0604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43200"/>
            <a:ext cx="3200400" cy="274320"/>
          </a:xfrm>
          <a:prstGeom prst="rect">
            <a:avLst/>
          </a:prstGeom>
          <a:noFill/>
        </p:spPr>
        <p:txBody>
          <a:bodyPr wrap="square">
            <a:spAutoFit/>
          </a:bodyPr>
          <a:lstStyle/>
          <a:p>
            <a:pPr algn="l"/>
            <a:r>
              <a:rPr sz="1000" b="1">
                <a:solidFill>
                  <a:srgbClr val="22D3EE"/>
                </a:solidFill>
                <a:latin typeface="Arial"/>
              </a:rPr>
              <a:t>PHASE 3</a:t>
            </a:r>
          </a:p>
        </p:txBody>
      </p:sp>
      <p:sp>
        <p:nvSpPr>
          <p:cNvPr id="19" name="TextBox 18"/>
          <p:cNvSpPr txBox="1"/>
          <p:nvPr/>
        </p:nvSpPr>
        <p:spPr>
          <a:xfrm>
            <a:off x="8503920" y="3063240"/>
            <a:ext cx="3200400" cy="457200"/>
          </a:xfrm>
          <a:prstGeom prst="rect">
            <a:avLst/>
          </a:prstGeom>
          <a:noFill/>
        </p:spPr>
        <p:txBody>
          <a:bodyPr wrap="square">
            <a:spAutoFit/>
          </a:bodyPr>
          <a:lstStyle/>
          <a:p>
            <a:pPr algn="l"/>
            <a:r>
              <a:rPr sz="1800" b="1">
                <a:solidFill>
                  <a:srgbClr val="FFFFFF"/>
                </a:solidFill>
                <a:latin typeface="Arial"/>
              </a:rPr>
              <a:t>Full US + Global</a:t>
            </a:r>
          </a:p>
        </p:txBody>
      </p:sp>
      <p:sp>
        <p:nvSpPr>
          <p:cNvPr id="20" name="TextBox 19"/>
          <p:cNvSpPr txBox="1"/>
          <p:nvPr/>
        </p:nvSpPr>
        <p:spPr>
          <a:xfrm>
            <a:off x="8503920" y="3611880"/>
            <a:ext cx="3200400" cy="1097280"/>
          </a:xfrm>
          <a:prstGeom prst="rect">
            <a:avLst/>
          </a:prstGeom>
          <a:noFill/>
        </p:spPr>
        <p:txBody>
          <a:bodyPr wrap="square">
            <a:spAutoFit/>
          </a:bodyPr>
          <a:lstStyle/>
          <a:p>
            <a:pPr algn="l"/>
            <a:r>
              <a:rPr sz="1200" b="0">
                <a:solidFill>
                  <a:srgbClr val="787878"/>
                </a:solidFill>
                <a:latin typeface="Arial"/>
              </a:rPr>
              <a:t>All 8 US regions and international operations. Structured as an annual managed service agreement.</a:t>
            </a:r>
          </a:p>
        </p:txBody>
      </p:sp>
      <p:sp>
        <p:nvSpPr>
          <p:cNvPr id="21" name="TextBox 20"/>
          <p:cNvSpPr txBox="1"/>
          <p:nvPr/>
        </p:nvSpPr>
        <p:spPr>
          <a:xfrm>
            <a:off x="8503920" y="5303520"/>
            <a:ext cx="3200400" cy="457200"/>
          </a:xfrm>
          <a:prstGeom prst="rect">
            <a:avLst/>
          </a:prstGeom>
          <a:noFill/>
        </p:spPr>
        <p:txBody>
          <a:bodyPr wrap="square">
            <a:spAutoFit/>
          </a:bodyPr>
          <a:lstStyle/>
          <a:p>
            <a:pPr algn="l"/>
            <a:r>
              <a:rPr sz="1800" b="1">
                <a:solidFill>
                  <a:srgbClr val="22D3EE"/>
                </a:solidFill>
                <a:latin typeface="Arial"/>
              </a:rPr>
              <a:t>$1B–$2B+ annually</a:t>
            </a:r>
          </a:p>
        </p:txBody>
      </p:sp>
      <p:sp>
        <p:nvSpPr>
          <p:cNvPr id="22" name="TextBox 21"/>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none">
            <a:spAutoFit/>
          </a:bodyPr>
          <a:lstStyle/>
          <a:p>
            <a:pPr algn="l"/>
            <a:r>
              <a:rPr sz="900" b="1">
                <a:solidFill>
                  <a:srgbClr val="22D3EE"/>
                </a:solidFill>
                <a:latin typeface="Arial"/>
              </a:rPr>
              <a:t>WHY DEVOLUTION LABS</a:t>
            </a:r>
          </a:p>
        </p:txBody>
      </p:sp>
      <p:sp>
        <p:nvSpPr>
          <p:cNvPr id="3" name="TextBox 2"/>
          <p:cNvSpPr txBox="1"/>
          <p:nvPr/>
        </p:nvSpPr>
        <p:spPr>
          <a:xfrm>
            <a:off x="731520" y="822960"/>
            <a:ext cx="10058400" cy="1645920"/>
          </a:xfrm>
          <a:prstGeom prst="rect">
            <a:avLst/>
          </a:prstGeom>
          <a:noFill/>
        </p:spPr>
        <p:txBody>
          <a:bodyPr wrap="square">
            <a:spAutoFit/>
          </a:bodyPr>
          <a:lstStyle/>
          <a:p>
            <a:r>
              <a:rPr sz="3800" b="1">
                <a:solidFill>
                  <a:srgbClr val="FFFFFF"/>
                </a:solidFill>
                <a:latin typeface="Arial"/>
              </a:rPr>
              <a:t>Not software.</a:t>
            </a:r>
          </a:p>
          <a:p>
            <a:r>
              <a:rPr sz="3800" b="1">
                <a:solidFill>
                  <a:srgbClr val="22D3EE"/>
                </a:solidFill>
                <a:latin typeface="Arial"/>
              </a:rPr>
              <a:t>A managed AI workforce.</a:t>
            </a:r>
          </a:p>
        </p:txBody>
      </p:sp>
      <p:sp>
        <p:nvSpPr>
          <p:cNvPr id="4" name="Rectangle 3"/>
          <p:cNvSpPr/>
          <p:nvPr/>
        </p:nvSpPr>
        <p:spPr>
          <a:xfrm>
            <a:off x="731520" y="2651760"/>
            <a:ext cx="5212080" cy="173736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88920"/>
            <a:ext cx="4846320" cy="365760"/>
          </a:xfrm>
          <a:prstGeom prst="rect">
            <a:avLst/>
          </a:prstGeom>
          <a:noFill/>
        </p:spPr>
        <p:txBody>
          <a:bodyPr wrap="square">
            <a:spAutoFit/>
          </a:bodyPr>
          <a:lstStyle/>
          <a:p>
            <a:pPr algn="l"/>
            <a:r>
              <a:rPr sz="1400" b="1">
                <a:solidFill>
                  <a:srgbClr val="FFFFFF"/>
                </a:solidFill>
                <a:latin typeface="Arial"/>
              </a:rPr>
              <a:t>Runs on your infrastructure</a:t>
            </a:r>
          </a:p>
        </p:txBody>
      </p:sp>
      <p:sp>
        <p:nvSpPr>
          <p:cNvPr id="6" name="TextBox 5"/>
          <p:cNvSpPr txBox="1"/>
          <p:nvPr/>
        </p:nvSpPr>
        <p:spPr>
          <a:xfrm>
            <a:off x="914400" y="3246120"/>
            <a:ext cx="4846320" cy="914400"/>
          </a:xfrm>
          <a:prstGeom prst="rect">
            <a:avLst/>
          </a:prstGeom>
          <a:noFill/>
        </p:spPr>
        <p:txBody>
          <a:bodyPr wrap="square">
            <a:spAutoFit/>
          </a:bodyPr>
          <a:lstStyle/>
          <a:p>
            <a:pPr algn="l"/>
            <a:r>
              <a:rPr sz="1200" b="0">
                <a:solidFill>
                  <a:srgbClr val="787878"/>
                </a:solidFill>
                <a:latin typeface="Arial"/>
              </a:rPr>
              <a:t>Zero data exposure. No third-party cloud. UPS data stays inside UPS systems at all times.</a:t>
            </a:r>
          </a:p>
        </p:txBody>
      </p:sp>
      <p:sp>
        <p:nvSpPr>
          <p:cNvPr id="7" name="Rectangle 6"/>
          <p:cNvSpPr/>
          <p:nvPr/>
        </p:nvSpPr>
        <p:spPr>
          <a:xfrm>
            <a:off x="6217920" y="2651760"/>
            <a:ext cx="5212080" cy="173736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788920"/>
            <a:ext cx="4846320" cy="365760"/>
          </a:xfrm>
          <a:prstGeom prst="rect">
            <a:avLst/>
          </a:prstGeom>
          <a:noFill/>
        </p:spPr>
        <p:txBody>
          <a:bodyPr wrap="square">
            <a:spAutoFit/>
          </a:bodyPr>
          <a:lstStyle/>
          <a:p>
            <a:pPr algn="l"/>
            <a:r>
              <a:rPr sz="1400" b="1">
                <a:solidFill>
                  <a:srgbClr val="FFFFFF"/>
                </a:solidFill>
                <a:latin typeface="Arial"/>
              </a:rPr>
              <a:t>No AI engineers required</a:t>
            </a:r>
          </a:p>
        </p:txBody>
      </p:sp>
      <p:sp>
        <p:nvSpPr>
          <p:cNvPr id="9" name="TextBox 8"/>
          <p:cNvSpPr txBox="1"/>
          <p:nvPr/>
        </p:nvSpPr>
        <p:spPr>
          <a:xfrm>
            <a:off x="6400800" y="3246120"/>
            <a:ext cx="4846320" cy="914400"/>
          </a:xfrm>
          <a:prstGeom prst="rect">
            <a:avLst/>
          </a:prstGeom>
          <a:noFill/>
        </p:spPr>
        <p:txBody>
          <a:bodyPr wrap="square">
            <a:spAutoFit/>
          </a:bodyPr>
          <a:lstStyle/>
          <a:p>
            <a:pPr algn="l"/>
            <a:r>
              <a:rPr sz="1200" b="0">
                <a:solidFill>
                  <a:srgbClr val="787878"/>
                </a:solidFill>
                <a:latin typeface="Arial"/>
              </a:rPr>
              <a:t>Devolution Labs handles full deployment and ongoing operations. Your team manages outcomes, not technology.</a:t>
            </a:r>
          </a:p>
        </p:txBody>
      </p:sp>
      <p:sp>
        <p:nvSpPr>
          <p:cNvPr id="10" name="Rectangle 9"/>
          <p:cNvSpPr/>
          <p:nvPr/>
        </p:nvSpPr>
        <p:spPr>
          <a:xfrm>
            <a:off x="731520" y="4663440"/>
            <a:ext cx="5212080" cy="173736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00600"/>
            <a:ext cx="4846320" cy="365760"/>
          </a:xfrm>
          <a:prstGeom prst="rect">
            <a:avLst/>
          </a:prstGeom>
          <a:noFill/>
        </p:spPr>
        <p:txBody>
          <a:bodyPr wrap="square">
            <a:spAutoFit/>
          </a:bodyPr>
          <a:lstStyle/>
          <a:p>
            <a:pPr algn="l"/>
            <a:r>
              <a:rPr sz="1400" b="1">
                <a:solidFill>
                  <a:srgbClr val="FFFFFF"/>
                </a:solidFill>
                <a:latin typeface="Arial"/>
              </a:rPr>
              <a:t>Real-time command dashboard</a:t>
            </a:r>
          </a:p>
        </p:txBody>
      </p:sp>
      <p:sp>
        <p:nvSpPr>
          <p:cNvPr id="12" name="TextBox 11"/>
          <p:cNvSpPr txBox="1"/>
          <p:nvPr/>
        </p:nvSpPr>
        <p:spPr>
          <a:xfrm>
            <a:off x="914400" y="5257800"/>
            <a:ext cx="4846320" cy="914400"/>
          </a:xfrm>
          <a:prstGeom prst="rect">
            <a:avLst/>
          </a:prstGeom>
          <a:noFill/>
        </p:spPr>
        <p:txBody>
          <a:bodyPr wrap="square">
            <a:spAutoFit/>
          </a:bodyPr>
          <a:lstStyle/>
          <a:p>
            <a:pPr algn="l"/>
            <a:r>
              <a:rPr sz="1200" b="0">
                <a:solidFill>
                  <a:srgbClr val="787878"/>
                </a:solidFill>
                <a:latin typeface="Arial"/>
              </a:rPr>
              <a:t>Full leadership visibility. Every agent, every workflow, every task. Human approval required before execution.</a:t>
            </a:r>
          </a:p>
        </p:txBody>
      </p:sp>
      <p:sp>
        <p:nvSpPr>
          <p:cNvPr id="13" name="Rectangle 12"/>
          <p:cNvSpPr/>
          <p:nvPr/>
        </p:nvSpPr>
        <p:spPr>
          <a:xfrm>
            <a:off x="6217920" y="4663440"/>
            <a:ext cx="5212080" cy="1737360"/>
          </a:xfrm>
          <a:prstGeom prst="rect">
            <a:avLst/>
          </a:prstGeom>
          <a:solidFill>
            <a:srgbClr val="101010"/>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800600"/>
            <a:ext cx="4846320" cy="365760"/>
          </a:xfrm>
          <a:prstGeom prst="rect">
            <a:avLst/>
          </a:prstGeom>
          <a:noFill/>
        </p:spPr>
        <p:txBody>
          <a:bodyPr wrap="square">
            <a:spAutoFit/>
          </a:bodyPr>
          <a:lstStyle/>
          <a:p>
            <a:pPr algn="l"/>
            <a:r>
              <a:rPr sz="1400" b="1">
                <a:solidFill>
                  <a:srgbClr val="FFFFFF"/>
                </a:solidFill>
                <a:latin typeface="Arial"/>
              </a:rPr>
              <a:t>Managed service model</a:t>
            </a:r>
          </a:p>
        </p:txBody>
      </p:sp>
      <p:sp>
        <p:nvSpPr>
          <p:cNvPr id="15" name="TextBox 14"/>
          <p:cNvSpPr txBox="1"/>
          <p:nvPr/>
        </p:nvSpPr>
        <p:spPr>
          <a:xfrm>
            <a:off x="6400800" y="5257800"/>
            <a:ext cx="4846320" cy="914400"/>
          </a:xfrm>
          <a:prstGeom prst="rect">
            <a:avLst/>
          </a:prstGeom>
          <a:noFill/>
        </p:spPr>
        <p:txBody>
          <a:bodyPr wrap="square">
            <a:spAutoFit/>
          </a:bodyPr>
          <a:lstStyle/>
          <a:p>
            <a:pPr algn="l"/>
            <a:r>
              <a:rPr sz="1200" b="0">
                <a:solidFill>
                  <a:srgbClr val="787878"/>
                </a:solidFill>
                <a:latin typeface="Arial"/>
              </a:rPr>
              <a:t>We own performance, not just software. Structured as annual managed service agreements with defined SLAs.</a:t>
            </a:r>
          </a:p>
        </p:txBody>
      </p:sp>
      <p:sp>
        <p:nvSpPr>
          <p:cNvPr id="16" name="TextBox 15"/>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a:solidFill>
                  <a:srgbClr val="22D3EE"/>
                </a:solidFill>
                <a:latin typeface="Arial"/>
              </a:rPr>
              <a:t>DEVOLUTION LABS</a:t>
            </a:r>
          </a:p>
        </p:txBody>
      </p:sp>
      <p:sp>
        <p:nvSpPr>
          <p:cNvPr id="3" name="TextBox 2"/>
          <p:cNvSpPr txBox="1"/>
          <p:nvPr/>
        </p:nvSpPr>
        <p:spPr>
          <a:xfrm>
            <a:off x="731520" y="1188720"/>
            <a:ext cx="10058400" cy="1280160"/>
          </a:xfrm>
          <a:prstGeom prst="rect">
            <a:avLst/>
          </a:prstGeom>
          <a:noFill/>
        </p:spPr>
        <p:txBody>
          <a:bodyPr wrap="square">
            <a:spAutoFit/>
          </a:bodyPr>
          <a:lstStyle/>
          <a:p>
            <a:pPr algn="l"/>
            <a:r>
              <a:rPr sz="5600" b="1">
                <a:solidFill>
                  <a:srgbClr val="22D3EE"/>
                </a:solidFill>
                <a:latin typeface="Arial"/>
              </a:rPr>
              <a:t>$5M–$8.5M saved</a:t>
            </a:r>
          </a:p>
        </p:txBody>
      </p:sp>
      <p:sp>
        <p:nvSpPr>
          <p:cNvPr id="4" name="TextBox 3"/>
          <p:cNvSpPr txBox="1"/>
          <p:nvPr/>
        </p:nvSpPr>
        <p:spPr>
          <a:xfrm>
            <a:off x="731520" y="2606040"/>
            <a:ext cx="10058400" cy="457200"/>
          </a:xfrm>
          <a:prstGeom prst="rect">
            <a:avLst/>
          </a:prstGeom>
          <a:noFill/>
        </p:spPr>
        <p:txBody>
          <a:bodyPr wrap="square">
            <a:spAutoFit/>
          </a:bodyPr>
          <a:lstStyle/>
          <a:p>
            <a:pPr algn="l"/>
            <a:r>
              <a:rPr sz="1600" b="0">
                <a:solidFill>
                  <a:srgbClr val="3C3C3C"/>
                </a:solidFill>
                <a:latin typeface="Arial"/>
              </a:rPr>
              <a:t>IN 6 MONTHS.  $1 BILLION AT SCALE.</a:t>
            </a:r>
          </a:p>
        </p:txBody>
      </p:sp>
      <p:sp>
        <p:nvSpPr>
          <p:cNvPr id="5" name="TextBox 4"/>
          <p:cNvSpPr txBox="1"/>
          <p:nvPr/>
        </p:nvSpPr>
        <p:spPr>
          <a:xfrm>
            <a:off x="731520" y="3291840"/>
            <a:ext cx="10058400" cy="1097280"/>
          </a:xfrm>
          <a:prstGeom prst="rect">
            <a:avLst/>
          </a:prstGeom>
          <a:noFill/>
        </p:spPr>
        <p:txBody>
          <a:bodyPr wrap="square">
            <a:spAutoFit/>
          </a:bodyPr>
          <a:lstStyle/>
          <a:p>
            <a:pPr algn="l"/>
            <a:r>
              <a:rPr sz="1500" b="0">
                <a:solidFill>
                  <a:srgbClr val="787878"/>
                </a:solidFill>
                <a:latin typeface="Arial"/>
              </a:rPr>
              <a:t>The hands-on workforce stays.
The back-office coordination layer gets replaced by an AI workforce that runs
continuously, scales instantly, and costs a fraction of the headcount it replaces.</a:t>
            </a:r>
          </a:p>
        </p:txBody>
      </p:sp>
      <p:sp>
        <p:nvSpPr>
          <p:cNvPr id="6" name="TextBox 5"/>
          <p:cNvSpPr txBox="1"/>
          <p:nvPr/>
        </p:nvSpPr>
        <p:spPr>
          <a:xfrm>
            <a:off x="731520" y="4937760"/>
            <a:ext cx="4572000" cy="365760"/>
          </a:xfrm>
          <a:prstGeom prst="rect">
            <a:avLst/>
          </a:prstGeom>
          <a:noFill/>
        </p:spPr>
        <p:txBody>
          <a:bodyPr wrap="square">
            <a:spAutoFit/>
          </a:bodyPr>
          <a:lstStyle/>
          <a:p>
            <a:pPr algn="l"/>
            <a:r>
              <a:rPr sz="1600" b="0">
                <a:solidFill>
                  <a:srgbClr val="22D3EE"/>
                </a:solidFill>
                <a:latin typeface="Arial"/>
              </a:rPr>
              <a:t>info@devolutionlab.com</a:t>
            </a:r>
          </a:p>
        </p:txBody>
      </p:sp>
      <p:sp>
        <p:nvSpPr>
          <p:cNvPr id="7" name="TextBox 6"/>
          <p:cNvSpPr txBox="1"/>
          <p:nvPr/>
        </p:nvSpPr>
        <p:spPr>
          <a:xfrm>
            <a:off x="731520" y="5394960"/>
            <a:ext cx="4572000" cy="365760"/>
          </a:xfrm>
          <a:prstGeom prst="rect">
            <a:avLst/>
          </a:prstGeom>
          <a:noFill/>
        </p:spPr>
        <p:txBody>
          <a:bodyPr wrap="square">
            <a:spAutoFit/>
          </a:bodyPr>
          <a:lstStyle/>
          <a:p>
            <a:pPr algn="l"/>
            <a:r>
              <a:rPr sz="1400" b="0">
                <a:solidFill>
                  <a:srgbClr val="3C3C3C"/>
                </a:solidFill>
                <a:latin typeface="Arial"/>
              </a:rPr>
              <a:t>devolutionlab.com</a:t>
            </a:r>
          </a:p>
        </p:txBody>
      </p:sp>
      <p:sp>
        <p:nvSpPr>
          <p:cNvPr id="8" name="TextBox 7"/>
          <p:cNvSpPr txBox="1"/>
          <p:nvPr/>
        </p:nvSpPr>
        <p:spPr>
          <a:xfrm>
            <a:off x="11247120" y="6492240"/>
            <a:ext cx="731520" cy="274320"/>
          </a:xfrm>
          <a:prstGeom prst="rect">
            <a:avLst/>
          </a:prstGeom>
          <a:noFill/>
        </p:spPr>
        <p:txBody>
          <a:bodyPr wrap="none">
            <a:spAutoFit/>
          </a:bodyPr>
          <a:lstStyle/>
          <a:p>
            <a:r>
              <a:rPr sz="900">
                <a:solidFill>
                  <a:srgbClr val="28282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Labs.</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/ˌdevəˈlo͞oSH(ə)n/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 from human teams to AI agents. Authority delegated. Outcomes owned.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Devolution Labs is a team of 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inside your systems.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Every industry. Every function. Any organization where human coordination is a bottleneck — and the work is repeatable enough to be owned by AI.</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