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6" r:id="rId7"/>
    <p:sldId id="267" r:id="rId18"/>
    <p:sldId id="257" r:id="rId8"/>
    <p:sldId id="258" r:id="rId9"/>
    <p:sldId id="268" r:id="rId19"/>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/devəˈlooSH(e)n/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from human teams to AI agents. Authority delegated. Outcomes owned. Costs reduced.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Any industry. Any function. Any organization where human coordination is a bottleneck.</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05840"/>
            <a:ext cx="10058400" cy="1463040"/>
          </a:xfrm>
          <a:prstGeom prst="rect">
            <a:avLst/>
          </a:prstGeom>
          <a:noFill/>
        </p:spPr>
        <p:txBody>
          <a:bodyPr wrap="square">
            <a:spAutoFit/>
          </a:bodyPr>
          <a:lstStyle/>
          <a:p>
            <a:r>
              <a:rPr sz="4600" b="1">
                <a:solidFill>
                  <a:srgbClr val="FFFFFF"/>
                </a:solidFill>
                <a:latin typeface="Arial"/>
              </a:rPr>
              <a:t>Managing the business</a:t>
            </a:r>
          </a:p>
          <a:p>
            <a:r>
              <a:rPr sz="4600" b="1">
                <a:solidFill>
                  <a:srgbClr val="22D3EE"/>
                </a:solidFill>
                <a:latin typeface="Arial"/>
              </a:rPr>
              <a:t>is a conversation.</a:t>
            </a:r>
          </a:p>
        </p:txBody>
      </p:sp>
      <p:sp>
        <p:nvSpPr>
          <p:cNvPr id="4" name="Rectangle 3"/>
          <p:cNvSpPr/>
          <p:nvPr/>
        </p:nvSpPr>
        <p:spPr>
          <a:xfrm>
            <a:off x="731520" y="257860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24912"/>
            <a:ext cx="6217920" cy="1188720"/>
          </a:xfrm>
          <a:prstGeom prst="rect">
            <a:avLst/>
          </a:prstGeom>
          <a:noFill/>
        </p:spPr>
        <p:txBody>
          <a:bodyPr wrap="square">
            <a:spAutoFit/>
          </a:bodyPr>
          <a:lstStyle/>
          <a:p>
            <a:pPr algn="l"/>
            <a:r>
              <a:rPr sz="1300" b="0" i="0">
                <a:solidFill>
                  <a:srgbClr val="737373"/>
                </a:solidFill>
                <a:latin typeface="Arial"/>
              </a:rPr>
              <a:t>Every Devolution Lab deployment includes a built-in chat interface that connects directly to your AI workforce. You do not log into a dashboard. You do not run reports manually. You ask a question and your AI workforce answers it — with live data from across your entire operation.</a:t>
            </a:r>
          </a:p>
        </p:txBody>
      </p:sp>
      <p:sp>
        <p:nvSpPr>
          <p:cNvPr id="6" name="Rectangle 5"/>
          <p:cNvSpPr/>
          <p:nvPr/>
        </p:nvSpPr>
        <p:spPr>
          <a:xfrm>
            <a:off x="7315200" y="1005840"/>
            <a:ext cx="4663440" cy="5394960"/>
          </a:xfrm>
          <a:prstGeom prst="rect">
            <a:avLst/>
          </a:prstGeom>
          <a:solidFill>
            <a:srgbClr val="080C1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143000"/>
            <a:ext cx="4297680" cy="274320"/>
          </a:xfrm>
          <a:prstGeom prst="rect">
            <a:avLst/>
          </a:prstGeom>
          <a:noFill/>
        </p:spPr>
        <p:txBody>
          <a:bodyPr wrap="square">
            <a:spAutoFit/>
          </a:bodyPr>
          <a:lstStyle/>
          <a:p>
            <a:pPr algn="l"/>
            <a:r>
              <a:rPr sz="900" b="1" i="0">
                <a:solidFill>
                  <a:srgbClr val="22D3EE"/>
                </a:solidFill>
                <a:latin typeface="Arial"/>
              </a:rPr>
              <a:t>DEVOLUTION LABS CHAT</a:t>
            </a:r>
          </a:p>
        </p:txBody>
      </p:sp>
      <p:sp>
        <p:nvSpPr>
          <p:cNvPr id="8" name="Rectangle 7"/>
          <p:cNvSpPr/>
          <p:nvPr/>
        </p:nvSpPr>
        <p:spPr>
          <a:xfrm>
            <a:off x="8686800" y="1554480"/>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609344"/>
            <a:ext cx="2743200" cy="320040"/>
          </a:xfrm>
          <a:prstGeom prst="rect">
            <a:avLst/>
          </a:prstGeom>
          <a:noFill/>
        </p:spPr>
        <p:txBody>
          <a:bodyPr wrap="square">
            <a:spAutoFit/>
          </a:bodyPr>
          <a:lstStyle/>
          <a:p>
            <a:pPr algn="l"/>
            <a:r>
              <a:rPr sz="1000" b="0" i="0">
                <a:solidFill>
                  <a:srgbClr val="FFFFFF"/>
                </a:solidFill>
                <a:latin typeface="Arial"/>
              </a:rPr>
              <a:t>How many leads came in this week?</a:t>
            </a:r>
          </a:p>
        </p:txBody>
      </p:sp>
      <p:sp>
        <p:nvSpPr>
          <p:cNvPr id="10" name="Rectangle 9"/>
          <p:cNvSpPr/>
          <p:nvPr/>
        </p:nvSpPr>
        <p:spPr>
          <a:xfrm>
            <a:off x="7452360" y="2057400"/>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112264"/>
            <a:ext cx="2926080" cy="475488"/>
          </a:xfrm>
          <a:prstGeom prst="rect">
            <a:avLst/>
          </a:prstGeom>
          <a:noFill/>
        </p:spPr>
        <p:txBody>
          <a:bodyPr wrap="square">
            <a:spAutoFit/>
          </a:bodyPr>
          <a:lstStyle/>
          <a:p>
            <a:pPr algn="l"/>
            <a:r>
              <a:rPr sz="1000" b="0" i="0">
                <a:solidFill>
                  <a:srgbClr val="737373"/>
                </a:solidFill>
                <a:latin typeface="Arial"/>
              </a:rPr>
              <a:t>47 inbound leads this week. 12 qualified and routed to sales. 6 test drives booked. 3 deals in progress.</a:t>
            </a:r>
          </a:p>
        </p:txBody>
      </p:sp>
      <p:sp>
        <p:nvSpPr>
          <p:cNvPr id="12" name="Rectangle 11"/>
          <p:cNvSpPr/>
          <p:nvPr/>
        </p:nvSpPr>
        <p:spPr>
          <a:xfrm>
            <a:off x="8686800" y="2715768"/>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770632"/>
            <a:ext cx="2743200" cy="320040"/>
          </a:xfrm>
          <a:prstGeom prst="rect">
            <a:avLst/>
          </a:prstGeom>
          <a:noFill/>
        </p:spPr>
        <p:txBody>
          <a:bodyPr wrap="square">
            <a:spAutoFit/>
          </a:bodyPr>
          <a:lstStyle/>
          <a:p>
            <a:pPr algn="l"/>
            <a:r>
              <a:rPr sz="1000" b="0" i="0">
                <a:solidFill>
                  <a:srgbClr val="FFFFFF"/>
                </a:solidFill>
                <a:latin typeface="Arial"/>
              </a:rPr>
              <a:t>Flag any vendors who missed SLAs this month.</a:t>
            </a:r>
          </a:p>
        </p:txBody>
      </p:sp>
      <p:sp>
        <p:nvSpPr>
          <p:cNvPr id="14" name="Rectangle 13"/>
          <p:cNvSpPr/>
          <p:nvPr/>
        </p:nvSpPr>
        <p:spPr>
          <a:xfrm>
            <a:off x="7452360" y="3218688"/>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273552"/>
            <a:ext cx="2926080" cy="475488"/>
          </a:xfrm>
          <a:prstGeom prst="rect">
            <a:avLst/>
          </a:prstGeom>
          <a:noFill/>
        </p:spPr>
        <p:txBody>
          <a:bodyPr wrap="square">
            <a:spAutoFit/>
          </a:bodyPr>
          <a:lstStyle/>
          <a:p>
            <a:pPr algn="l"/>
            <a:r>
              <a:rPr sz="1000" b="0" i="0">
                <a:solidFill>
                  <a:srgbClr val="737373"/>
                </a:solidFill>
                <a:latin typeface="Arial"/>
              </a:rPr>
              <a:t>2 vendors flagged: Apex Cleaning (3 late completions) and NorthShore HVAC (1 no-show). Escalation emails sent automatically.</a:t>
            </a:r>
          </a:p>
        </p:txBody>
      </p:sp>
      <p:sp>
        <p:nvSpPr>
          <p:cNvPr id="16" name="Rectangle 15"/>
          <p:cNvSpPr/>
          <p:nvPr/>
        </p:nvSpPr>
        <p:spPr>
          <a:xfrm>
            <a:off x="8686800" y="3877056"/>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3931920"/>
            <a:ext cx="2743200" cy="320040"/>
          </a:xfrm>
          <a:prstGeom prst="rect">
            <a:avLst/>
          </a:prstGeom>
          <a:noFill/>
        </p:spPr>
        <p:txBody>
          <a:bodyPr wrap="square">
            <a:spAutoFit/>
          </a:bodyPr>
          <a:lstStyle/>
          <a:p>
            <a:pPr algn="l"/>
            <a:r>
              <a:rPr sz="1000" b="0" i="0">
                <a:solidFill>
                  <a:srgbClr val="FFFFFF"/>
                </a:solidFill>
                <a:latin typeface="Arial"/>
              </a:rPr>
              <a:t>What is the revenue forecast for Q2?</a:t>
            </a:r>
          </a:p>
        </p:txBody>
      </p:sp>
      <p:sp>
        <p:nvSpPr>
          <p:cNvPr id="18" name="Rectangle 17"/>
          <p:cNvSpPr/>
          <p:nvPr/>
        </p:nvSpPr>
        <p:spPr>
          <a:xfrm>
            <a:off x="7452360" y="4379976"/>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434840"/>
            <a:ext cx="2926080" cy="475488"/>
          </a:xfrm>
          <a:prstGeom prst="rect">
            <a:avLst/>
          </a:prstGeom>
          <a:noFill/>
        </p:spPr>
        <p:txBody>
          <a:bodyPr wrap="square">
            <a:spAutoFit/>
          </a:bodyPr>
          <a:lstStyle/>
          <a:p>
            <a:pPr algn="l"/>
            <a:r>
              <a:rPr sz="1000" b="0" i="0">
                <a:solidFill>
                  <a:srgbClr val="737373"/>
                </a:solidFill>
                <a:latin typeface="Arial"/>
              </a:rPr>
              <a:t>Based on current pipeline and historical close rates, Q2 revenue is projected at $2.1M — 14% above Q1.</a:t>
            </a:r>
          </a:p>
        </p:txBody>
      </p:sp>
      <p:sp>
        <p:nvSpPr>
          <p:cNvPr id="20" name="Rectangle 19"/>
          <p:cNvSpPr/>
          <p:nvPr/>
        </p:nvSpPr>
        <p:spPr>
          <a:xfrm>
            <a:off x="731520" y="4069080"/>
            <a:ext cx="6400800" cy="22860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069080"/>
            <a:ext cx="64008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60520"/>
            <a:ext cx="5943600" cy="292608"/>
          </a:xfrm>
          <a:prstGeom prst="rect">
            <a:avLst/>
          </a:prstGeom>
          <a:noFill/>
        </p:spPr>
        <p:txBody>
          <a:bodyPr wrap="square">
            <a:spAutoFit/>
          </a:bodyPr>
          <a:lstStyle/>
          <a:p>
            <a:pPr algn="l"/>
            <a:r>
              <a:rPr sz="1200" b="1" i="0">
                <a:solidFill>
                  <a:srgbClr val="FFFFFF"/>
                </a:solidFill>
                <a:latin typeface="Arial"/>
              </a:rPr>
              <a:t>What you can ask your AI workforce:</a:t>
            </a:r>
          </a:p>
        </p:txBody>
      </p:sp>
      <p:sp>
        <p:nvSpPr>
          <p:cNvPr id="23" name="TextBox 22"/>
          <p:cNvSpPr txBox="1"/>
          <p:nvPr/>
        </p:nvSpPr>
        <p:spPr>
          <a:xfrm>
            <a:off x="914400" y="4553712"/>
            <a:ext cx="5943600" cy="320040"/>
          </a:xfrm>
          <a:prstGeom prst="rect">
            <a:avLst/>
          </a:prstGeom>
          <a:noFill/>
        </p:spPr>
        <p:txBody>
          <a:bodyPr wrap="square">
            <a:spAutoFit/>
          </a:bodyPr>
          <a:lstStyle/>
          <a:p>
            <a:pPr algn="l"/>
            <a:r>
              <a:rPr sz="1100" b="0" i="1">
                <a:solidFill>
                  <a:srgbClr val="737373"/>
                </a:solidFill>
                <a:latin typeface="Arial"/>
              </a:rPr>
              <a:t>"Show me all open leads from this week"</a:t>
            </a:r>
          </a:p>
        </p:txBody>
      </p:sp>
      <p:sp>
        <p:nvSpPr>
          <p:cNvPr id="24" name="TextBox 23"/>
          <p:cNvSpPr txBox="1"/>
          <p:nvPr/>
        </p:nvSpPr>
        <p:spPr>
          <a:xfrm>
            <a:off x="914400" y="4901184"/>
            <a:ext cx="5943600" cy="320040"/>
          </a:xfrm>
          <a:prstGeom prst="rect">
            <a:avLst/>
          </a:prstGeom>
          <a:noFill/>
        </p:spPr>
        <p:txBody>
          <a:bodyPr wrap="square">
            <a:spAutoFit/>
          </a:bodyPr>
          <a:lstStyle/>
          <a:p>
            <a:pPr algn="l"/>
            <a:r>
              <a:rPr sz="1100" b="0" i="1">
                <a:solidFill>
                  <a:srgbClr val="737373"/>
                </a:solidFill>
                <a:latin typeface="Arial"/>
              </a:rPr>
              <a:t>"What did each department complete yesterday?"</a:t>
            </a:r>
          </a:p>
        </p:txBody>
      </p:sp>
      <p:sp>
        <p:nvSpPr>
          <p:cNvPr id="25" name="TextBox 24"/>
          <p:cNvSpPr txBox="1"/>
          <p:nvPr/>
        </p:nvSpPr>
        <p:spPr>
          <a:xfrm>
            <a:off x="914400" y="5248656"/>
            <a:ext cx="5943600" cy="320040"/>
          </a:xfrm>
          <a:prstGeom prst="rect">
            <a:avLst/>
          </a:prstGeom>
          <a:noFill/>
        </p:spPr>
        <p:txBody>
          <a:bodyPr wrap="square">
            <a:spAutoFit/>
          </a:bodyPr>
          <a:lstStyle/>
          <a:p>
            <a:pPr algn="l"/>
            <a:r>
              <a:rPr sz="1100" b="0" i="1">
                <a:solidFill>
                  <a:srgbClr val="737373"/>
                </a:solidFill>
                <a:latin typeface="Arial"/>
              </a:rPr>
              <a:t>"Which clients are up for renewal in 30 days?"</a:t>
            </a:r>
          </a:p>
        </p:txBody>
      </p:sp>
      <p:sp>
        <p:nvSpPr>
          <p:cNvPr id="26" name="TextBox 25"/>
          <p:cNvSpPr txBox="1"/>
          <p:nvPr/>
        </p:nvSpPr>
        <p:spPr>
          <a:xfrm>
            <a:off x="914400" y="5596128"/>
            <a:ext cx="5943600" cy="320040"/>
          </a:xfrm>
          <a:prstGeom prst="rect">
            <a:avLst/>
          </a:prstGeom>
          <a:noFill/>
        </p:spPr>
        <p:txBody>
          <a:bodyPr wrap="square">
            <a:spAutoFit/>
          </a:bodyPr>
          <a:lstStyle/>
          <a:p>
            <a:pPr algn="l"/>
            <a:r>
              <a:rPr sz="1100" b="0" i="1">
                <a:solidFill>
                  <a:srgbClr val="737373"/>
                </a:solidFill>
                <a:latin typeface="Arial"/>
              </a:rPr>
              <a:t>"Generate a financial summary for the board"</a:t>
            </a:r>
          </a:p>
        </p:txBody>
      </p:sp>
      <p:sp>
        <p:nvSpPr>
          <p:cNvPr id="27" name="TextBox 26"/>
          <p:cNvSpPr txBox="1"/>
          <p:nvPr/>
        </p:nvSpPr>
        <p:spPr>
          <a:xfrm>
            <a:off x="914400" y="5943600"/>
            <a:ext cx="5943600" cy="320040"/>
          </a:xfrm>
          <a:prstGeom prst="rect">
            <a:avLst/>
          </a:prstGeom>
          <a:noFill/>
        </p:spPr>
        <p:txBody>
          <a:bodyPr wrap="square">
            <a:spAutoFit/>
          </a:bodyPr>
          <a:lstStyle/>
          <a:p>
            <a:pPr algn="l"/>
            <a:r>
              <a:rPr sz="1100" b="0" i="1">
                <a:solidFill>
                  <a:srgbClr val="737373"/>
                </a:solidFill>
                <a:latin typeface="Arial"/>
              </a:rPr>
              <a:t>"Flag anything that needs my attention today"</a:t>
            </a:r>
          </a:p>
        </p:txBody>
      </p:sp>
      <p:sp>
        <p:nvSpPr>
          <p:cNvPr id="28" name="TextBox 27"/>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AGENT CAPABILITIES</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Agents built for</a:t>
            </a:r>
          </a:p>
          <a:p>
            <a:r>
              <a:rPr sz="3800" b="1">
                <a:solidFill>
                  <a:srgbClr val="22D3EE"/>
                </a:solidFill>
                <a:latin typeface="Arial"/>
              </a:rPr>
              <a:t>every business function.</a:t>
            </a:r>
          </a:p>
        </p:txBody>
      </p:sp>
      <p:sp>
        <p:nvSpPr>
          <p:cNvPr id="4" name="Rectangle 3"/>
          <p:cNvSpPr/>
          <p:nvPr/>
        </p:nvSpPr>
        <p:spPr>
          <a:xfrm>
            <a:off x="73152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OPERATIONS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Exception + Routing Agent</a:t>
            </a:r>
          </a:p>
        </p:txBody>
      </p:sp>
      <p:sp>
        <p:nvSpPr>
          <p:cNvPr id="8" name="TextBox 7"/>
          <p:cNvSpPr txBox="1"/>
          <p:nvPr/>
        </p:nvSpPr>
        <p:spPr>
          <a:xfrm>
            <a:off x="868680" y="3383280"/>
            <a:ext cx="3474720" cy="548640"/>
          </a:xfrm>
          <a:prstGeom prst="rect">
            <a:avLst/>
          </a:prstGeom>
          <a:noFill/>
        </p:spPr>
        <p:txBody>
          <a:bodyPr wrap="square">
            <a:spAutoFit/>
          </a:bodyPr>
          <a:lstStyle/>
          <a:p>
            <a:pPr algn="l"/>
            <a:r>
              <a:rPr sz="1100" b="0" i="0">
                <a:solidFill>
                  <a:srgbClr val="737373"/>
                </a:solidFill>
                <a:latin typeface="Arial"/>
              </a:rPr>
              <a:t>Monitors workflows in real time, routes tasks automatically, and escalates only what requires human judgment. Runs 24/7.</a:t>
            </a:r>
          </a:p>
        </p:txBody>
      </p:sp>
      <p:sp>
        <p:nvSpPr>
          <p:cNvPr id="9" name="Rectangle 8"/>
          <p:cNvSpPr/>
          <p:nvPr/>
        </p:nvSpPr>
        <p:spPr>
          <a:xfrm>
            <a:off x="452628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MARKETING</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Content + SEO Agent</a:t>
            </a:r>
          </a:p>
        </p:txBody>
      </p:sp>
      <p:sp>
        <p:nvSpPr>
          <p:cNvPr id="13" name="TextBox 12"/>
          <p:cNvSpPr txBox="1"/>
          <p:nvPr/>
        </p:nvSpPr>
        <p:spPr>
          <a:xfrm>
            <a:off x="4663440" y="3383280"/>
            <a:ext cx="3474720" cy="548640"/>
          </a:xfrm>
          <a:prstGeom prst="rect">
            <a:avLst/>
          </a:prstGeom>
          <a:noFill/>
        </p:spPr>
        <p:txBody>
          <a:bodyPr wrap="square">
            <a:spAutoFit/>
          </a:bodyPr>
          <a:lstStyle/>
          <a:p>
            <a:pPr algn="l"/>
            <a:r>
              <a:rPr sz="1100" b="0" i="0">
                <a:solidFill>
                  <a:srgbClr val="737373"/>
                </a:solidFill>
                <a:latin typeface="Arial"/>
              </a:rPr>
              <a:t>Publishes optimized content weekly, manages social channels daily, tracks rankings, and adjusts strategy automatically.</a:t>
            </a:r>
          </a:p>
        </p:txBody>
      </p:sp>
      <p:sp>
        <p:nvSpPr>
          <p:cNvPr id="14" name="Rectangle 13"/>
          <p:cNvSpPr/>
          <p:nvPr/>
        </p:nvSpPr>
        <p:spPr>
          <a:xfrm>
            <a:off x="832104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4142231"/>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233671"/>
            <a:ext cx="3474720" cy="228600"/>
          </a:xfrm>
          <a:prstGeom prst="rect">
            <a:avLst/>
          </a:prstGeom>
          <a:noFill/>
        </p:spPr>
        <p:txBody>
          <a:bodyPr wrap="square">
            <a:spAutoFit/>
          </a:bodyPr>
          <a:lstStyle/>
          <a:p>
            <a:pPr algn="l"/>
            <a:r>
              <a:rPr sz="900" b="1" i="0">
                <a:solidFill>
                  <a:srgbClr val="3B82F6"/>
                </a:solidFill>
                <a:latin typeface="Arial"/>
              </a:rPr>
              <a:t>SALES</a:t>
            </a:r>
          </a:p>
        </p:txBody>
      </p:sp>
      <p:sp>
        <p:nvSpPr>
          <p:cNvPr id="17" name="TextBox 16"/>
          <p:cNvSpPr txBox="1"/>
          <p:nvPr/>
        </p:nvSpPr>
        <p:spPr>
          <a:xfrm>
            <a:off x="8458200" y="4489703"/>
            <a:ext cx="3474720" cy="347472"/>
          </a:xfrm>
          <a:prstGeom prst="rect">
            <a:avLst/>
          </a:prstGeom>
          <a:noFill/>
        </p:spPr>
        <p:txBody>
          <a:bodyPr wrap="square">
            <a:spAutoFit/>
          </a:bodyPr>
          <a:lstStyle/>
          <a:p>
            <a:pPr algn="l"/>
            <a:r>
              <a:rPr sz="1300" b="1" i="0">
                <a:solidFill>
                  <a:srgbClr val="FFFFFF"/>
                </a:solidFill>
                <a:latin typeface="Arial"/>
              </a:rPr>
              <a:t>Lead Generation + Response Agent</a:t>
            </a:r>
          </a:p>
        </p:txBody>
      </p:sp>
      <p:sp>
        <p:nvSpPr>
          <p:cNvPr id="18" name="TextBox 17"/>
          <p:cNvSpPr txBox="1"/>
          <p:nvPr/>
        </p:nvSpPr>
        <p:spPr>
          <a:xfrm>
            <a:off x="8458200" y="4892039"/>
            <a:ext cx="3474720" cy="548640"/>
          </a:xfrm>
          <a:prstGeom prst="rect">
            <a:avLst/>
          </a:prstGeom>
          <a:noFill/>
        </p:spPr>
        <p:txBody>
          <a:bodyPr wrap="square">
            <a:spAutoFit/>
          </a:bodyPr>
          <a:lstStyle/>
          <a:p>
            <a:pPr algn="l"/>
            <a:r>
              <a:rPr sz="1100" b="0" i="0">
                <a:solidFill>
                  <a:srgbClr val="737373"/>
                </a:solidFill>
                <a:latin typeface="Arial"/>
              </a:rPr>
              <a:t>Actively finds in-market buyers, responds to every inbound inquiry in seconds, and follows up until conversion.</a:t>
            </a:r>
          </a:p>
        </p:txBody>
      </p:sp>
      <p:sp>
        <p:nvSpPr>
          <p:cNvPr id="19" name="Rectangle 18"/>
          <p:cNvSpPr/>
          <p:nvPr/>
        </p:nvSpPr>
        <p:spPr>
          <a:xfrm>
            <a:off x="73152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42231"/>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33671"/>
            <a:ext cx="3474720" cy="228600"/>
          </a:xfrm>
          <a:prstGeom prst="rect">
            <a:avLst/>
          </a:prstGeom>
          <a:noFill/>
        </p:spPr>
        <p:txBody>
          <a:bodyPr wrap="square">
            <a:spAutoFit/>
          </a:bodyPr>
          <a:lstStyle/>
          <a:p>
            <a:pPr algn="l"/>
            <a:r>
              <a:rPr sz="900" b="1" i="0">
                <a:solidFill>
                  <a:srgbClr val="10B981"/>
                </a:solidFill>
                <a:latin typeface="Arial"/>
              </a:rPr>
              <a:t>FINANCE</a:t>
            </a:r>
          </a:p>
        </p:txBody>
      </p:sp>
      <p:sp>
        <p:nvSpPr>
          <p:cNvPr id="22" name="TextBox 21"/>
          <p:cNvSpPr txBox="1"/>
          <p:nvPr/>
        </p:nvSpPr>
        <p:spPr>
          <a:xfrm>
            <a:off x="868680" y="4489703"/>
            <a:ext cx="3474720" cy="347472"/>
          </a:xfrm>
          <a:prstGeom prst="rect">
            <a:avLst/>
          </a:prstGeom>
          <a:noFill/>
        </p:spPr>
        <p:txBody>
          <a:bodyPr wrap="square">
            <a:spAutoFit/>
          </a:bodyPr>
          <a:lstStyle/>
          <a:p>
            <a:pPr algn="l"/>
            <a:r>
              <a:rPr sz="1300" b="1" i="0">
                <a:solidFill>
                  <a:srgbClr val="FFFFFF"/>
                </a:solidFill>
                <a:latin typeface="Arial"/>
              </a:rPr>
              <a:t>Reporting + Analytics Agent</a:t>
            </a:r>
          </a:p>
        </p:txBody>
      </p:sp>
      <p:sp>
        <p:nvSpPr>
          <p:cNvPr id="23" name="TextBox 22"/>
          <p:cNvSpPr txBox="1"/>
          <p:nvPr/>
        </p:nvSpPr>
        <p:spPr>
          <a:xfrm>
            <a:off x="868680" y="4892039"/>
            <a:ext cx="3474720" cy="548640"/>
          </a:xfrm>
          <a:prstGeom prst="rect">
            <a:avLst/>
          </a:prstGeom>
          <a:noFill/>
        </p:spPr>
        <p:txBody>
          <a:bodyPr wrap="square">
            <a:spAutoFit/>
          </a:bodyPr>
          <a:lstStyle/>
          <a:p>
            <a:pPr algn="l"/>
            <a:r>
              <a:rPr sz="1100" b="0" i="0">
                <a:solidFill>
                  <a:srgbClr val="737373"/>
                </a:solidFill>
                <a:latin typeface="Arial"/>
              </a:rPr>
              <a:t>Pulls data, compiles management reports, surfaces anomalies, and delivers leadership briefings on schedule.</a:t>
            </a:r>
          </a:p>
        </p:txBody>
      </p:sp>
      <p:sp>
        <p:nvSpPr>
          <p:cNvPr id="24" name="Rectangle 23"/>
          <p:cNvSpPr/>
          <p:nvPr/>
        </p:nvSpPr>
        <p:spPr>
          <a:xfrm>
            <a:off x="452628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565099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5742432"/>
            <a:ext cx="3474720" cy="228600"/>
          </a:xfrm>
          <a:prstGeom prst="rect">
            <a:avLst/>
          </a:prstGeom>
          <a:noFill/>
        </p:spPr>
        <p:txBody>
          <a:bodyPr wrap="square">
            <a:spAutoFit/>
          </a:bodyPr>
          <a:lstStyle/>
          <a:p>
            <a:pPr algn="l"/>
            <a:r>
              <a:rPr sz="900" b="1" i="0">
                <a:solidFill>
                  <a:srgbClr val="F59E0B"/>
                </a:solidFill>
                <a:latin typeface="Arial"/>
              </a:rPr>
              <a:t>COMPLIANCE</a:t>
            </a:r>
          </a:p>
        </p:txBody>
      </p:sp>
      <p:sp>
        <p:nvSpPr>
          <p:cNvPr id="27" name="TextBox 26"/>
          <p:cNvSpPr txBox="1"/>
          <p:nvPr/>
        </p:nvSpPr>
        <p:spPr>
          <a:xfrm>
            <a:off x="4663440" y="5998464"/>
            <a:ext cx="3474720" cy="347472"/>
          </a:xfrm>
          <a:prstGeom prst="rect">
            <a:avLst/>
          </a:prstGeom>
          <a:noFill/>
        </p:spPr>
        <p:txBody>
          <a:bodyPr wrap="square">
            <a:spAutoFit/>
          </a:bodyPr>
          <a:lstStyle/>
          <a:p>
            <a:pPr algn="l"/>
            <a:r>
              <a:rPr sz="1300" b="1" i="0">
                <a:solidFill>
                  <a:srgbClr val="FFFFFF"/>
                </a:solidFill>
                <a:latin typeface="Arial"/>
              </a:rPr>
              <a:t>Audit + Documentation Agent</a:t>
            </a:r>
          </a:p>
        </p:txBody>
      </p:sp>
      <p:sp>
        <p:nvSpPr>
          <p:cNvPr id="28" name="TextBox 27"/>
          <p:cNvSpPr txBox="1"/>
          <p:nvPr/>
        </p:nvSpPr>
        <p:spPr>
          <a:xfrm>
            <a:off x="4663440" y="6400800"/>
            <a:ext cx="3474720" cy="548640"/>
          </a:xfrm>
          <a:prstGeom prst="rect">
            <a:avLst/>
          </a:prstGeom>
          <a:noFill/>
        </p:spPr>
        <p:txBody>
          <a:bodyPr wrap="square">
            <a:spAutoFit/>
          </a:bodyPr>
          <a:lstStyle/>
          <a:p>
            <a:pPr algn="l"/>
            <a:r>
              <a:rPr sz="1100" b="0" i="0">
                <a:solidFill>
                  <a:srgbClr val="737373"/>
                </a:solidFill>
                <a:latin typeface="Arial"/>
              </a:rPr>
              <a:t>Monitors regulatory changes, maintains audit trails, generates required documentation, and flags exposure automatically.</a:t>
            </a:r>
          </a:p>
        </p:txBody>
      </p:sp>
      <p:sp>
        <p:nvSpPr>
          <p:cNvPr id="29" name="Rectangle 28"/>
          <p:cNvSpPr/>
          <p:nvPr/>
        </p:nvSpPr>
        <p:spPr>
          <a:xfrm>
            <a:off x="832104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565099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5742432"/>
            <a:ext cx="3474720" cy="228600"/>
          </a:xfrm>
          <a:prstGeom prst="rect">
            <a:avLst/>
          </a:prstGeom>
          <a:noFill/>
        </p:spPr>
        <p:txBody>
          <a:bodyPr wrap="square">
            <a:spAutoFit/>
          </a:bodyPr>
          <a:lstStyle/>
          <a:p>
            <a:pPr algn="l"/>
            <a:r>
              <a:rPr sz="900" b="1" i="0">
                <a:solidFill>
                  <a:srgbClr val="EC4899"/>
                </a:solidFill>
                <a:latin typeface="Arial"/>
              </a:rPr>
              <a:t>CUSTOMER SUCCESS</a:t>
            </a:r>
          </a:p>
        </p:txBody>
      </p:sp>
      <p:sp>
        <p:nvSpPr>
          <p:cNvPr id="32" name="TextBox 31"/>
          <p:cNvSpPr txBox="1"/>
          <p:nvPr/>
        </p:nvSpPr>
        <p:spPr>
          <a:xfrm>
            <a:off x="8458200" y="5998464"/>
            <a:ext cx="3474720" cy="347472"/>
          </a:xfrm>
          <a:prstGeom prst="rect">
            <a:avLst/>
          </a:prstGeom>
          <a:noFill/>
        </p:spPr>
        <p:txBody>
          <a:bodyPr wrap="square">
            <a:spAutoFit/>
          </a:bodyPr>
          <a:lstStyle/>
          <a:p>
            <a:pPr algn="l"/>
            <a:r>
              <a:rPr sz="1300" b="1" i="0">
                <a:solidFill>
                  <a:srgbClr val="FFFFFF"/>
                </a:solidFill>
                <a:latin typeface="Arial"/>
              </a:rPr>
              <a:t>Retention + Service Agent</a:t>
            </a:r>
          </a:p>
        </p:txBody>
      </p:sp>
      <p:sp>
        <p:nvSpPr>
          <p:cNvPr id="33" name="TextBox 32"/>
          <p:cNvSpPr txBox="1"/>
          <p:nvPr/>
        </p:nvSpPr>
        <p:spPr>
          <a:xfrm>
            <a:off x="8458200" y="6400800"/>
            <a:ext cx="3474720" cy="548640"/>
          </a:xfrm>
          <a:prstGeom prst="rect">
            <a:avLst/>
          </a:prstGeom>
          <a:noFill/>
        </p:spPr>
        <p:txBody>
          <a:bodyPr wrap="square">
            <a:spAutoFit/>
          </a:bodyPr>
          <a:lstStyle/>
          <a:p>
            <a:pPr algn="l"/>
            <a:r>
              <a:rPr sz="1100" b="0" i="0">
                <a:solidFill>
                  <a:srgbClr val="737373"/>
                </a:solidFill>
                <a:latin typeface="Arial"/>
              </a:rPr>
              <a:t>Sends reminders, books appointments, manages follow-up, and proactively reaches out to at-risk customers.</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a:solidFill>
                  <a:srgbClr val="22D3EE"/>
                </a:solidFill>
                <a:latin typeface="Arial"/>
              </a:rPr>
              <a:t>DEVOLUTION LAB</a:t>
            </a:r>
          </a:p>
        </p:txBody>
      </p:sp>
      <p:sp>
        <p:nvSpPr>
          <p:cNvPr id="3" name="TextBox 2"/>
          <p:cNvSpPr txBox="1"/>
          <p:nvPr/>
        </p:nvSpPr>
        <p:spPr>
          <a:xfrm>
            <a:off x="731520" y="822960"/>
            <a:ext cx="10515600" cy="1463040"/>
          </a:xfrm>
          <a:prstGeom prst="rect">
            <a:avLst/>
          </a:prstGeom>
          <a:noFill/>
        </p:spPr>
        <p:txBody>
          <a:bodyPr wrap="square">
            <a:spAutoFit/>
          </a:bodyPr>
          <a:lstStyle/>
          <a:p>
            <a:r>
              <a:rPr sz="4200" b="1">
                <a:solidFill>
                  <a:srgbClr val="FFFFFF"/>
                </a:solidFill>
                <a:latin typeface="Arial"/>
              </a:rPr>
              <a:t>Agents built for</a:t>
            </a:r>
          </a:p>
          <a:p>
            <a:r>
              <a:rPr sz="4200" b="1">
                <a:solidFill>
                  <a:srgbClr val="22D3EE"/>
                </a:solidFill>
                <a:latin typeface="Arial"/>
              </a:rPr>
              <a:t>every business function.</a:t>
            </a:r>
          </a:p>
        </p:txBody>
      </p:sp>
      <p:sp>
        <p:nvSpPr>
          <p:cNvPr id="4" name="Rectangle 3"/>
          <p:cNvSpPr/>
          <p:nvPr/>
        </p:nvSpPr>
        <p:spPr>
          <a:xfrm>
            <a:off x="731520" y="2514600"/>
            <a:ext cx="3657600" cy="1572768"/>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1460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06040"/>
            <a:ext cx="3474720" cy="219456"/>
          </a:xfrm>
          <a:prstGeom prst="rect">
            <a:avLst/>
          </a:prstGeom>
          <a:noFill/>
        </p:spPr>
        <p:txBody>
          <a:bodyPr wrap="square">
            <a:spAutoFit/>
          </a:bodyPr>
          <a:lstStyle/>
          <a:p>
            <a:pPr algn="l"/>
            <a:r>
              <a:rPr sz="900" b="1">
                <a:solidFill>
                  <a:srgbClr val="22D3EE"/>
                </a:solidFill>
                <a:latin typeface="Arial"/>
              </a:rPr>
              <a:t>OPERATIONS</a:t>
            </a:r>
          </a:p>
        </p:txBody>
      </p:sp>
      <p:sp>
        <p:nvSpPr>
          <p:cNvPr id="7" name="TextBox 6"/>
          <p:cNvSpPr txBox="1"/>
          <p:nvPr/>
        </p:nvSpPr>
        <p:spPr>
          <a:xfrm>
            <a:off x="868680" y="2862072"/>
            <a:ext cx="3474720" cy="347472"/>
          </a:xfrm>
          <a:prstGeom prst="rect">
            <a:avLst/>
          </a:prstGeom>
          <a:noFill/>
        </p:spPr>
        <p:txBody>
          <a:bodyPr wrap="square">
            <a:spAutoFit/>
          </a:bodyPr>
          <a:lstStyle/>
          <a:p>
            <a:pPr algn="l"/>
            <a:r>
              <a:rPr sz="1300" b="1">
                <a:solidFill>
                  <a:srgbClr val="FFFFFF"/>
                </a:solidFill>
                <a:latin typeface="Arial"/>
              </a:rPr>
              <a:t>Exception + Routing Agent</a:t>
            </a:r>
          </a:p>
        </p:txBody>
      </p:sp>
      <p:sp>
        <p:nvSpPr>
          <p:cNvPr id="8" name="TextBox 7"/>
          <p:cNvSpPr txBox="1"/>
          <p:nvPr/>
        </p:nvSpPr>
        <p:spPr>
          <a:xfrm>
            <a:off x="868680" y="3264408"/>
            <a:ext cx="3474720" cy="749808"/>
          </a:xfrm>
          <a:prstGeom prst="rect">
            <a:avLst/>
          </a:prstGeom>
          <a:noFill/>
        </p:spPr>
        <p:txBody>
          <a:bodyPr wrap="square">
            <a:spAutoFit/>
          </a:bodyPr>
          <a:lstStyle/>
          <a:p>
            <a:pPr algn="l"/>
            <a:r>
              <a:rPr sz="1100" b="0">
                <a:solidFill>
                  <a:srgbClr val="737373"/>
                </a:solidFill>
                <a:latin typeface="Arial"/>
              </a:rPr>
              <a:t>Monitors workflows in real time, routes tasks automatically, and escalates only what requires human judgment. Runs 24/7 without instruction.</a:t>
            </a:r>
          </a:p>
        </p:txBody>
      </p:sp>
      <p:sp>
        <p:nvSpPr>
          <p:cNvPr id="9" name="Rectangle 8"/>
          <p:cNvSpPr/>
          <p:nvPr/>
        </p:nvSpPr>
        <p:spPr>
          <a:xfrm>
            <a:off x="4544568" y="2514600"/>
            <a:ext cx="3657600" cy="1572768"/>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44568" y="251460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1728" y="2606040"/>
            <a:ext cx="3474720" cy="219456"/>
          </a:xfrm>
          <a:prstGeom prst="rect">
            <a:avLst/>
          </a:prstGeom>
          <a:noFill/>
        </p:spPr>
        <p:txBody>
          <a:bodyPr wrap="square">
            <a:spAutoFit/>
          </a:bodyPr>
          <a:lstStyle/>
          <a:p>
            <a:pPr algn="l"/>
            <a:r>
              <a:rPr sz="900" b="1">
                <a:solidFill>
                  <a:srgbClr val="8B5CF6"/>
                </a:solidFill>
                <a:latin typeface="Arial"/>
              </a:rPr>
              <a:t>MARKETING</a:t>
            </a:r>
          </a:p>
        </p:txBody>
      </p:sp>
      <p:sp>
        <p:nvSpPr>
          <p:cNvPr id="12" name="TextBox 11"/>
          <p:cNvSpPr txBox="1"/>
          <p:nvPr/>
        </p:nvSpPr>
        <p:spPr>
          <a:xfrm>
            <a:off x="4681728" y="2862072"/>
            <a:ext cx="3474720" cy="347472"/>
          </a:xfrm>
          <a:prstGeom prst="rect">
            <a:avLst/>
          </a:prstGeom>
          <a:noFill/>
        </p:spPr>
        <p:txBody>
          <a:bodyPr wrap="square">
            <a:spAutoFit/>
          </a:bodyPr>
          <a:lstStyle/>
          <a:p>
            <a:pPr algn="l"/>
            <a:r>
              <a:rPr sz="1300" b="1">
                <a:solidFill>
                  <a:srgbClr val="FFFFFF"/>
                </a:solidFill>
                <a:latin typeface="Arial"/>
              </a:rPr>
              <a:t>Content + SEO Agent</a:t>
            </a:r>
          </a:p>
        </p:txBody>
      </p:sp>
      <p:sp>
        <p:nvSpPr>
          <p:cNvPr id="13" name="TextBox 12"/>
          <p:cNvSpPr txBox="1"/>
          <p:nvPr/>
        </p:nvSpPr>
        <p:spPr>
          <a:xfrm>
            <a:off x="4681728" y="3264408"/>
            <a:ext cx="3474720" cy="749808"/>
          </a:xfrm>
          <a:prstGeom prst="rect">
            <a:avLst/>
          </a:prstGeom>
          <a:noFill/>
        </p:spPr>
        <p:txBody>
          <a:bodyPr wrap="square">
            <a:spAutoFit/>
          </a:bodyPr>
          <a:lstStyle/>
          <a:p>
            <a:pPr algn="l"/>
            <a:r>
              <a:rPr sz="1100" b="0">
                <a:solidFill>
                  <a:srgbClr val="737373"/>
                </a:solidFill>
                <a:latin typeface="Arial"/>
              </a:rPr>
              <a:t>Publishes optimized content weekly, manages social channels daily, tracks rankings, and adjusts strategy automatically. No marketing staff needed.</a:t>
            </a:r>
          </a:p>
        </p:txBody>
      </p:sp>
      <p:sp>
        <p:nvSpPr>
          <p:cNvPr id="14" name="Rectangle 13"/>
          <p:cNvSpPr/>
          <p:nvPr/>
        </p:nvSpPr>
        <p:spPr>
          <a:xfrm>
            <a:off x="8366760" y="2514600"/>
            <a:ext cx="3657600" cy="1572768"/>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251460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2606040"/>
            <a:ext cx="3474720" cy="219456"/>
          </a:xfrm>
          <a:prstGeom prst="rect">
            <a:avLst/>
          </a:prstGeom>
          <a:noFill/>
        </p:spPr>
        <p:txBody>
          <a:bodyPr wrap="square">
            <a:spAutoFit/>
          </a:bodyPr>
          <a:lstStyle/>
          <a:p>
            <a:pPr algn="l"/>
            <a:r>
              <a:rPr sz="900" b="1">
                <a:solidFill>
                  <a:srgbClr val="3B82F6"/>
                </a:solidFill>
                <a:latin typeface="Arial"/>
              </a:rPr>
              <a:t>SALES</a:t>
            </a:r>
          </a:p>
        </p:txBody>
      </p:sp>
      <p:sp>
        <p:nvSpPr>
          <p:cNvPr id="17" name="TextBox 16"/>
          <p:cNvSpPr txBox="1"/>
          <p:nvPr/>
        </p:nvSpPr>
        <p:spPr>
          <a:xfrm>
            <a:off x="8503920" y="2862072"/>
            <a:ext cx="3474720" cy="347472"/>
          </a:xfrm>
          <a:prstGeom prst="rect">
            <a:avLst/>
          </a:prstGeom>
          <a:noFill/>
        </p:spPr>
        <p:txBody>
          <a:bodyPr wrap="square">
            <a:spAutoFit/>
          </a:bodyPr>
          <a:lstStyle/>
          <a:p>
            <a:pPr algn="l"/>
            <a:r>
              <a:rPr sz="1300" b="1">
                <a:solidFill>
                  <a:srgbClr val="FFFFFF"/>
                </a:solidFill>
                <a:latin typeface="Arial"/>
              </a:rPr>
              <a:t>Lead Generation + Response Agent</a:t>
            </a:r>
          </a:p>
        </p:txBody>
      </p:sp>
      <p:sp>
        <p:nvSpPr>
          <p:cNvPr id="18" name="TextBox 17"/>
          <p:cNvSpPr txBox="1"/>
          <p:nvPr/>
        </p:nvSpPr>
        <p:spPr>
          <a:xfrm>
            <a:off x="8503920" y="3264408"/>
            <a:ext cx="3474720" cy="749808"/>
          </a:xfrm>
          <a:prstGeom prst="rect">
            <a:avLst/>
          </a:prstGeom>
          <a:noFill/>
        </p:spPr>
        <p:txBody>
          <a:bodyPr wrap="square">
            <a:spAutoFit/>
          </a:bodyPr>
          <a:lstStyle/>
          <a:p>
            <a:pPr algn="l"/>
            <a:r>
              <a:rPr sz="1100" b="0">
                <a:solidFill>
                  <a:srgbClr val="737373"/>
                </a:solidFill>
                <a:latin typeface="Arial"/>
              </a:rPr>
              <a:t>Actively finds in-market buyers, responds to every inbound inquiry in seconds, and follows up until conversion. 150 to 300 qualified leads per month.</a:t>
            </a:r>
          </a:p>
        </p:txBody>
      </p:sp>
      <p:sp>
        <p:nvSpPr>
          <p:cNvPr id="19" name="Rectangle 18"/>
          <p:cNvSpPr/>
          <p:nvPr/>
        </p:nvSpPr>
        <p:spPr>
          <a:xfrm>
            <a:off x="731520" y="4187952"/>
            <a:ext cx="3657600" cy="1572768"/>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8795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79392"/>
            <a:ext cx="3474720" cy="219456"/>
          </a:xfrm>
          <a:prstGeom prst="rect">
            <a:avLst/>
          </a:prstGeom>
          <a:noFill/>
        </p:spPr>
        <p:txBody>
          <a:bodyPr wrap="square">
            <a:spAutoFit/>
          </a:bodyPr>
          <a:lstStyle/>
          <a:p>
            <a:pPr algn="l"/>
            <a:r>
              <a:rPr sz="900" b="1">
                <a:solidFill>
                  <a:srgbClr val="10B981"/>
                </a:solidFill>
                <a:latin typeface="Arial"/>
              </a:rPr>
              <a:t>FINANCE</a:t>
            </a:r>
          </a:p>
        </p:txBody>
      </p:sp>
      <p:sp>
        <p:nvSpPr>
          <p:cNvPr id="22" name="TextBox 21"/>
          <p:cNvSpPr txBox="1"/>
          <p:nvPr/>
        </p:nvSpPr>
        <p:spPr>
          <a:xfrm>
            <a:off x="868680" y="4535424"/>
            <a:ext cx="3474720" cy="347472"/>
          </a:xfrm>
          <a:prstGeom prst="rect">
            <a:avLst/>
          </a:prstGeom>
          <a:noFill/>
        </p:spPr>
        <p:txBody>
          <a:bodyPr wrap="square">
            <a:spAutoFit/>
          </a:bodyPr>
          <a:lstStyle/>
          <a:p>
            <a:pPr algn="l"/>
            <a:r>
              <a:rPr sz="1300" b="1">
                <a:solidFill>
                  <a:srgbClr val="FFFFFF"/>
                </a:solidFill>
                <a:latin typeface="Arial"/>
              </a:rPr>
              <a:t>Reporting + Analytics Agent</a:t>
            </a:r>
          </a:p>
        </p:txBody>
      </p:sp>
      <p:sp>
        <p:nvSpPr>
          <p:cNvPr id="23" name="TextBox 22"/>
          <p:cNvSpPr txBox="1"/>
          <p:nvPr/>
        </p:nvSpPr>
        <p:spPr>
          <a:xfrm>
            <a:off x="868680" y="4937760"/>
            <a:ext cx="3474720" cy="749808"/>
          </a:xfrm>
          <a:prstGeom prst="rect">
            <a:avLst/>
          </a:prstGeom>
          <a:noFill/>
        </p:spPr>
        <p:txBody>
          <a:bodyPr wrap="square">
            <a:spAutoFit/>
          </a:bodyPr>
          <a:lstStyle/>
          <a:p>
            <a:pPr algn="l"/>
            <a:r>
              <a:rPr sz="1100" b="0">
                <a:solidFill>
                  <a:srgbClr val="737373"/>
                </a:solidFill>
                <a:latin typeface="Arial"/>
              </a:rPr>
              <a:t>Pulls data, compiles management reports, surfaces anomalies, and delivers leadership briefings on schedule. No analyst hours required.</a:t>
            </a:r>
          </a:p>
        </p:txBody>
      </p:sp>
      <p:sp>
        <p:nvSpPr>
          <p:cNvPr id="24" name="Rectangle 23"/>
          <p:cNvSpPr/>
          <p:nvPr/>
        </p:nvSpPr>
        <p:spPr>
          <a:xfrm>
            <a:off x="4544568" y="4187952"/>
            <a:ext cx="3657600" cy="1572768"/>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44568" y="418795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1728" y="4279392"/>
            <a:ext cx="3474720" cy="219456"/>
          </a:xfrm>
          <a:prstGeom prst="rect">
            <a:avLst/>
          </a:prstGeom>
          <a:noFill/>
        </p:spPr>
        <p:txBody>
          <a:bodyPr wrap="square">
            <a:spAutoFit/>
          </a:bodyPr>
          <a:lstStyle/>
          <a:p>
            <a:pPr algn="l"/>
            <a:r>
              <a:rPr sz="900" b="1">
                <a:solidFill>
                  <a:srgbClr val="F59E0B"/>
                </a:solidFill>
                <a:latin typeface="Arial"/>
              </a:rPr>
              <a:t>COMPLIANCE</a:t>
            </a:r>
          </a:p>
        </p:txBody>
      </p:sp>
      <p:sp>
        <p:nvSpPr>
          <p:cNvPr id="27" name="TextBox 26"/>
          <p:cNvSpPr txBox="1"/>
          <p:nvPr/>
        </p:nvSpPr>
        <p:spPr>
          <a:xfrm>
            <a:off x="4681728" y="4535424"/>
            <a:ext cx="3474720" cy="347472"/>
          </a:xfrm>
          <a:prstGeom prst="rect">
            <a:avLst/>
          </a:prstGeom>
          <a:noFill/>
        </p:spPr>
        <p:txBody>
          <a:bodyPr wrap="square">
            <a:spAutoFit/>
          </a:bodyPr>
          <a:lstStyle/>
          <a:p>
            <a:pPr algn="l"/>
            <a:r>
              <a:rPr sz="1300" b="1">
                <a:solidFill>
                  <a:srgbClr val="FFFFFF"/>
                </a:solidFill>
                <a:latin typeface="Arial"/>
              </a:rPr>
              <a:t>Audit + Documentation Agent</a:t>
            </a:r>
          </a:p>
        </p:txBody>
      </p:sp>
      <p:sp>
        <p:nvSpPr>
          <p:cNvPr id="28" name="TextBox 27"/>
          <p:cNvSpPr txBox="1"/>
          <p:nvPr/>
        </p:nvSpPr>
        <p:spPr>
          <a:xfrm>
            <a:off x="4681728" y="4937760"/>
            <a:ext cx="3474720" cy="749808"/>
          </a:xfrm>
          <a:prstGeom prst="rect">
            <a:avLst/>
          </a:prstGeom>
          <a:noFill/>
        </p:spPr>
        <p:txBody>
          <a:bodyPr wrap="square">
            <a:spAutoFit/>
          </a:bodyPr>
          <a:lstStyle/>
          <a:p>
            <a:pPr algn="l"/>
            <a:r>
              <a:rPr sz="1100" b="0">
                <a:solidFill>
                  <a:srgbClr val="737373"/>
                </a:solidFill>
                <a:latin typeface="Arial"/>
              </a:rPr>
              <a:t>Monitors regulatory changes, maintains audit trails, generates required documentation, and flags exposure before it becomes a problem.</a:t>
            </a:r>
          </a:p>
        </p:txBody>
      </p:sp>
      <p:sp>
        <p:nvSpPr>
          <p:cNvPr id="29" name="Rectangle 28"/>
          <p:cNvSpPr/>
          <p:nvPr/>
        </p:nvSpPr>
        <p:spPr>
          <a:xfrm>
            <a:off x="8366760" y="4187952"/>
            <a:ext cx="3657600" cy="1572768"/>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418795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4279392"/>
            <a:ext cx="3474720" cy="219456"/>
          </a:xfrm>
          <a:prstGeom prst="rect">
            <a:avLst/>
          </a:prstGeom>
          <a:noFill/>
        </p:spPr>
        <p:txBody>
          <a:bodyPr wrap="square">
            <a:spAutoFit/>
          </a:bodyPr>
          <a:lstStyle/>
          <a:p>
            <a:pPr algn="l"/>
            <a:r>
              <a:rPr sz="900" b="1">
                <a:solidFill>
                  <a:srgbClr val="EC4899"/>
                </a:solidFill>
                <a:latin typeface="Arial"/>
              </a:rPr>
              <a:t>CUSTOMER SUCCESS</a:t>
            </a:r>
          </a:p>
        </p:txBody>
      </p:sp>
      <p:sp>
        <p:nvSpPr>
          <p:cNvPr id="32" name="TextBox 31"/>
          <p:cNvSpPr txBox="1"/>
          <p:nvPr/>
        </p:nvSpPr>
        <p:spPr>
          <a:xfrm>
            <a:off x="8503920" y="4535424"/>
            <a:ext cx="3474720" cy="347472"/>
          </a:xfrm>
          <a:prstGeom prst="rect">
            <a:avLst/>
          </a:prstGeom>
          <a:noFill/>
        </p:spPr>
        <p:txBody>
          <a:bodyPr wrap="square">
            <a:spAutoFit/>
          </a:bodyPr>
          <a:lstStyle/>
          <a:p>
            <a:pPr algn="l"/>
            <a:r>
              <a:rPr sz="1300" b="1">
                <a:solidFill>
                  <a:srgbClr val="FFFFFF"/>
                </a:solidFill>
                <a:latin typeface="Arial"/>
              </a:rPr>
              <a:t>Retention + Service Agent</a:t>
            </a:r>
          </a:p>
        </p:txBody>
      </p:sp>
      <p:sp>
        <p:nvSpPr>
          <p:cNvPr id="33" name="TextBox 32"/>
          <p:cNvSpPr txBox="1"/>
          <p:nvPr/>
        </p:nvSpPr>
        <p:spPr>
          <a:xfrm>
            <a:off x="8503920" y="4937760"/>
            <a:ext cx="3474720" cy="749808"/>
          </a:xfrm>
          <a:prstGeom prst="rect">
            <a:avLst/>
          </a:prstGeom>
          <a:noFill/>
        </p:spPr>
        <p:txBody>
          <a:bodyPr wrap="square">
            <a:spAutoFit/>
          </a:bodyPr>
          <a:lstStyle/>
          <a:p>
            <a:pPr algn="l"/>
            <a:r>
              <a:rPr sz="1100" b="0">
                <a:solidFill>
                  <a:srgbClr val="737373"/>
                </a:solidFill>
                <a:latin typeface="Arial"/>
              </a:rPr>
              <a:t>Sends reminders, books appointments, manages follow-up, and proactively reaches out to at-risk customers before they churn.</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a:solidFill>
                  <a:srgbClr val="232323"/>
                </a:solidFill>
                <a:latin typeface="Arial"/>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