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Arial"/>
              </a:rPr>
              <a:t>DEVOLUTION LAB  | 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1">
                <a:solidFill>
                  <a:srgbClr val="FFFFFF"/>
                </a:solidFill>
                <a:latin typeface="Arial"/>
              </a:rPr>
              <a:t>The AI Workforce for</a:t>
            </a:r>
          </a:p>
          <a:p>
            <a:r>
              <a:rPr sz="5600" b="1">
                <a:solidFill>
                  <a:srgbClr val="22D3EE"/>
                </a:solidFill>
                <a:latin typeface="Arial"/>
              </a:rPr>
              <a:t>ProperFix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3737"/>
                </a:solidFill>
                <a:latin typeface="Arial"/>
              </a:rPr>
              <a:t>Luxury Property Management  |  Long Island, NY  |  Lead Generation, Client Ops, Service, Finance,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Arial"/>
              </a:rPr>
              <a:t>THE MARKET PROPERFIX SERVES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rial"/>
              </a:rPr>
              <a:t>Luxury homeowners on Long Island's</a:t>
            </a:r>
          </a:p>
          <a:p>
            <a:r>
              <a:rPr sz="3800" b="1">
                <a:solidFill>
                  <a:srgbClr val="22D3EE"/>
                </a:solidFill>
                <a:latin typeface="Arial"/>
              </a:rPr>
              <a:t>North Shore demand more than a vendor.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33472"/>
            <a:ext cx="41148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37373"/>
                </a:solidFill>
                <a:latin typeface="Arial"/>
              </a:rPr>
              <a:t>ProperFix serves homeowners with properties valued at $800,000 and above on Long Island's North Shore. These clients expect concierge-level service, immediate response, meticulous coordination, and complete transparency. Delivering that consistently at scale requires the right operational infrastructure behind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41648"/>
            <a:ext cx="2651760" cy="2286000"/>
          </a:xfrm>
          <a:prstGeom prst="rect">
            <a:avLst/>
          </a:prstGeom>
          <a:solidFill>
            <a:srgbClr val="0C0C0C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2062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2D3EE"/>
                </a:solidFill>
                <a:latin typeface="Arial"/>
              </a:rPr>
              <a:t>$800K+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194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Min. Property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26694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North Shore luxury estate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4041648"/>
            <a:ext cx="2651760" cy="2286000"/>
          </a:xfrm>
          <a:prstGeom prst="rect">
            <a:avLst/>
          </a:prstGeom>
          <a:solidFill>
            <a:srgbClr val="0C0C0C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42062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2D3EE"/>
                </a:solidFill>
                <a:latin typeface="Arial"/>
              </a:rPr>
              <a:t>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49194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Expected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526694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High-net-worth clients do not wait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041648"/>
            <a:ext cx="2651760" cy="2286000"/>
          </a:xfrm>
          <a:prstGeom prst="rect">
            <a:avLst/>
          </a:prstGeom>
          <a:solidFill>
            <a:srgbClr val="0C0C0C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2062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2D3EE"/>
                </a:solidFill>
                <a:latin typeface="Arial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9194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Retention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526694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Churn in this market is a referral problem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4041648"/>
            <a:ext cx="2651760" cy="2286000"/>
          </a:xfrm>
          <a:prstGeom prst="rect">
            <a:avLst/>
          </a:prstGeom>
          <a:solidFill>
            <a:srgbClr val="0C0C0C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42062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2D3EE"/>
                </a:solidFill>
                <a:latin typeface="Arial"/>
              </a:rPr>
              <a:t>Zero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49194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Tolerance for Errors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526694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One missed service call costs the relationship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rial"/>
              </a:rPr>
              <a:t>Running a luxury service business</a:t>
            </a:r>
          </a:p>
          <a:p>
            <a:r>
              <a:rPr sz="3800" b="1">
                <a:solidFill>
                  <a:srgbClr val="22D3EE"/>
                </a:solidFill>
                <a:latin typeface="Arial"/>
              </a:rPr>
              <a:t>at this level requires a workforce you may not have.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33472"/>
            <a:ext cx="41148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37373"/>
                </a:solidFill>
                <a:latin typeface="Arial"/>
              </a:rPr>
              <a:t>Every inquiry needs an instant response. Every service appointment needs coordination, confirmation, and follow-up. Every vendor needs to be managed. Every client relationship needs nurturing. Every invoice needs to go out on time. And every piece of this needs to happen seamlessly — because the clients ProperFix serves have no patience for friction.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Hiring staff to cover all of this is expensive, inconsistent, and hard to scale. Devolution Lab replaces that entire coordination layer with an AI workforce that runs continuously at a fraction of the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Arial"/>
              </a:rPr>
              <a:t>THE AI WORKFORCE — BUILT FOR PROPERFIX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rial"/>
              </a:rPr>
              <a:t>Twelve agents.</a:t>
            </a:r>
          </a:p>
          <a:p>
            <a:r>
              <a:rPr sz="3800" b="1">
                <a:solidFill>
                  <a:srgbClr val="22D3EE"/>
                </a:solidFill>
                <a:latin typeface="Arial"/>
              </a:rPr>
              <a:t>Every function covered.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78608"/>
            <a:ext cx="3493008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578608"/>
            <a:ext cx="3493008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70048"/>
            <a:ext cx="331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Arial"/>
              </a:rPr>
              <a:t>LEAD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Lead Generation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28416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Actively searches for homeowners in the North Shore market who need property management services. Identifies prospects on social platforms, local forums, and real estate networks. Delivers qualified leads daily.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2544" y="2578608"/>
            <a:ext cx="3493008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2544" y="2578608"/>
            <a:ext cx="3493008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2670048"/>
            <a:ext cx="331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  <a:latin typeface="Arial"/>
              </a:rPr>
              <a:t>LEAD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92608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Lead Response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3328416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Every inbound inquiry from the website, Google, and referrals receives an immediate personalized response. Qualifies the prospect, answers questions, and books a consultation. No lead goes unanswered.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3568" y="2578608"/>
            <a:ext cx="3493008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3568" y="2578608"/>
            <a:ext cx="3493008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2670048"/>
            <a:ext cx="331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Arial"/>
              </a:rPr>
              <a:t>MARKETING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292608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Content and SEO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3328416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Publishes weekly content across the website, Instagram, and Facebook. Manages Google My Business. Monitors search rankings for ProperFix target keywords. Keeps the brand visible to luxury homeowners consistently.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3493008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3493008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06240"/>
            <a:ext cx="331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CLIENT ONBOARDING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62272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Onboarding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64608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Guides new clients through the onboarding process. Sends welcome materials, collects property information, schedules initial walkthroughs, and introduces the team. Every new client feels attended to from day one.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2544" y="4114800"/>
            <a:ext cx="3493008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52544" y="4114800"/>
            <a:ext cx="3493008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4" y="4206240"/>
            <a:ext cx="331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Arial"/>
              </a:rPr>
              <a:t>SERVICE COORDINATION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9704" y="4462272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Service Scheduling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4864608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Coordinates all service appointments across vendors, maintenance crews, and inspections. Confirms appointments, sends reminders, and follows up after completion. The service calendar stays full and organized.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73568" y="4114800"/>
            <a:ext cx="3493008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73568" y="4114800"/>
            <a:ext cx="3493008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8" y="4206240"/>
            <a:ext cx="331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Arial"/>
              </a:rPr>
              <a:t>VENDOR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8" y="4462272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Vendor Coordination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8" y="4864608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Manages all vendor relationships — landscapers, cleaners, plumbers, electricians, and specialists. Assigns jobs, tracks completion, flags SLA misses, and maintains performance records on every vendor in the network.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Arial"/>
              </a:rPr>
              <a:t>THE AI WORKFORCE — COMMUNICATIONS, FINANCE, AND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Six more agents.</a:t>
            </a:r>
          </a:p>
          <a:p>
            <a:r>
              <a:rPr sz="3600" b="1">
                <a:solidFill>
                  <a:srgbClr val="22D3EE"/>
                </a:solidFill>
                <a:latin typeface="Arial"/>
              </a:rPr>
              <a:t>Client experience, finance, and growth.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78608"/>
            <a:ext cx="3493008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578608"/>
            <a:ext cx="3493008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70048"/>
            <a:ext cx="331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Arial"/>
              </a:rPr>
              <a:t>CLIENT COMMUNICATIONS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Client Update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28416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Sends proactive updates to every client about scheduled services, completed work, and upcoming maintenance windows. Every homeowner stays informed without a single call from the office.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2544" y="2578608"/>
            <a:ext cx="3493008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2544" y="2578608"/>
            <a:ext cx="3493008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2670048"/>
            <a:ext cx="331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Arial"/>
              </a:rPr>
              <a:t>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92608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Reputation Management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3328416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Requests Google and Yelp reviews from satisfied clients at the right moment. Monitors incoming reviews and alerts the team to any negative feedback immediately. Builds the ProperFix reputation systematically.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3568" y="2578608"/>
            <a:ext cx="3493008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3568" y="2578608"/>
            <a:ext cx="3493008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2670048"/>
            <a:ext cx="331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  <a:latin typeface="Arial"/>
              </a:rPr>
              <a:t>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292608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Billing and Invoice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3328416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Generates invoices from completed service records, tracks payment status, sends reminders, and flags overdue accounts. The billing cycle runs without manual input from the team.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3493008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3493008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06240"/>
            <a:ext cx="331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RETENTION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62272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Client Retention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64608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Tracks every client relationship. Sends seasonal service reminders, contract renewal outreach, and personal check-ins at the right intervals. Proactively identifies at-risk clients before they consider leaving.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2544" y="4114800"/>
            <a:ext cx="3493008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52544" y="4114800"/>
            <a:ext cx="3493008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4" y="4206240"/>
            <a:ext cx="331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Arial"/>
              </a:rPr>
              <a:t>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9704" y="4462272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Management Reporting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4864608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Delivers weekly operational summaries to leadership — leads received, services completed, revenue, vendor performance, client satisfaction, and pipeline. Management stays informed without pulling reports manually.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73568" y="4114800"/>
            <a:ext cx="3493008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73568" y="4114800"/>
            <a:ext cx="3493008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8" y="4206240"/>
            <a:ext cx="331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C4899"/>
                </a:solidFill>
                <a:latin typeface="Arial"/>
              </a:rPr>
              <a:t>REFERRALS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8" y="4462272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Referral and Expansion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8" y="4864608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37373"/>
                </a:solidFill>
                <a:latin typeface="Arial"/>
              </a:rPr>
              <a:t>Identifies satisfied clients with high referral potential. Sends referral requests at optimal moments. Tracks referral pipeline and rewards. Turns the existing client base into a growth channel.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Arial"/>
              </a:rPr>
              <a:t>FINANCIAL MODEL — 6 MONTH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The numbers for ProperFix.</a:t>
            </a:r>
          </a:p>
          <a:p>
            <a:r>
              <a:rPr sz="3400" b="1">
                <a:solidFill>
                  <a:srgbClr val="22D3EE"/>
                </a:solidFill>
                <a:latin typeface="Arial"/>
              </a:rPr>
              <a:t>12 agents. $680K-$1.1M over 6 months.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87168"/>
            <a:ext cx="3749039" cy="292608"/>
          </a:xfrm>
          <a:prstGeom prst="rect">
            <a:avLst/>
          </a:prstGeom>
          <a:solidFill>
            <a:srgbClr val="141414"/>
          </a:solidFill>
          <a:ln w="12700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0545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3737"/>
                </a:solidFill>
                <a:latin typeface="Arial"/>
              </a:rPr>
              <a:t>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2487168"/>
            <a:ext cx="4206240" cy="292608"/>
          </a:xfrm>
          <a:prstGeom prst="rect">
            <a:avLst/>
          </a:prstGeom>
          <a:solidFill>
            <a:srgbClr val="141414"/>
          </a:solidFill>
          <a:ln w="12700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50545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3737"/>
                </a:solidFill>
                <a:latin typeface="Arial"/>
              </a:rPr>
              <a:t>What It Replaces / Generates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0" y="2487168"/>
            <a:ext cx="2926080" cy="292608"/>
          </a:xfrm>
          <a:prstGeom prst="rect">
            <a:avLst/>
          </a:prstGeom>
          <a:solidFill>
            <a:srgbClr val="141414"/>
          </a:solidFill>
          <a:ln w="12700"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25054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3737"/>
                </a:solidFill>
                <a:latin typeface="Arial"/>
              </a:rPr>
              <a:t>6-Month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16352"/>
            <a:ext cx="3749039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62072"/>
            <a:ext cx="365759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Lead Generation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816352"/>
            <a:ext cx="420624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862072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25-40 new qualified prospects per 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2816352"/>
            <a:ext cx="292608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2862072"/>
            <a:ext cx="2834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$90K-$160K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118104"/>
            <a:ext cx="3749039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63824"/>
            <a:ext cx="365759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Lead Response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118104"/>
            <a:ext cx="420624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3163824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Replaces front desk / BDC coordinator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3118104"/>
            <a:ext cx="292608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3163824"/>
            <a:ext cx="2834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$35K-$55K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419856"/>
            <a:ext cx="3749039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365759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Content and SEO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3419856"/>
            <a:ext cx="420624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6592" y="3465576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Replaces marketing agency retainer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3419856"/>
            <a:ext cx="292608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2" y="3465576"/>
            <a:ext cx="2834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$30K-$50K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721608"/>
            <a:ext cx="3749039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767328"/>
            <a:ext cx="365759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Service Scheduling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3721608"/>
            <a:ext cx="420624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3767328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Replaces scheduling coordinator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3721608"/>
            <a:ext cx="292608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5712" y="3767328"/>
            <a:ext cx="2834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$30K-$45K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023360"/>
            <a:ext cx="3749039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4069080"/>
            <a:ext cx="365759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Vendor Coordination Agent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4023360"/>
            <a:ext cx="420624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36592" y="4069080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Reduces vendor errors and delays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2560" y="4023360"/>
            <a:ext cx="292608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25712" y="4069080"/>
            <a:ext cx="2834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$25K-$40K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325112"/>
            <a:ext cx="3749039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4370832"/>
            <a:ext cx="365759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Client Update and Retention Agent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4325112"/>
            <a:ext cx="420624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36592" y="4370832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Reduces churn, increases contract renewals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52560" y="4325112"/>
            <a:ext cx="292608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25712" y="4370832"/>
            <a:ext cx="2834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$75K-$120K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4626864"/>
            <a:ext cx="3749039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" y="4672584"/>
            <a:ext cx="365759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Billing and Invoice Agent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4626864"/>
            <a:ext cx="420624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36592" y="4672584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Replaces billing admin, reduces late payments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52560" y="4626864"/>
            <a:ext cx="292608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25712" y="4672584"/>
            <a:ext cx="2834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$25K-$40K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4928616"/>
            <a:ext cx="3749039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" y="4974336"/>
            <a:ext cx="365759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Reputation and Referral Agent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4928616"/>
            <a:ext cx="420624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36592" y="4974336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Drives new client acquisition via referrals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52560" y="4928616"/>
            <a:ext cx="292608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25712" y="4974336"/>
            <a:ext cx="2834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$80K-$140K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5230368"/>
            <a:ext cx="3749039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" y="5276088"/>
            <a:ext cx="365759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Management Reporting Agent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5230368"/>
            <a:ext cx="420624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36592" y="5276088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3-5 hours/week management time saved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5230368"/>
            <a:ext cx="292608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25712" y="5276088"/>
            <a:ext cx="2834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$20K-$35K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5532120"/>
            <a:ext cx="3749039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2" y="5577840"/>
            <a:ext cx="365759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Onboarding Agent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63440" y="5532120"/>
            <a:ext cx="420624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36592" y="5577840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Faster onboarding, higher first-impression scores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52560" y="5532120"/>
            <a:ext cx="292608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25712" y="5577840"/>
            <a:ext cx="2834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37373"/>
                </a:solidFill>
                <a:latin typeface="Arial"/>
              </a:rPr>
              <a:t>$20K-$35K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" y="5833872"/>
            <a:ext cx="3749039" cy="274320"/>
          </a:xfrm>
          <a:prstGeom prst="rect">
            <a:avLst/>
          </a:prstGeom>
          <a:solidFill>
            <a:srgbClr val="06121A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4672" y="5879592"/>
            <a:ext cx="365759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TOTAL (12 AGENTS)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5833872"/>
            <a:ext cx="4206240" cy="274320"/>
          </a:xfrm>
          <a:prstGeom prst="rect">
            <a:avLst/>
          </a:prstGeom>
          <a:solidFill>
            <a:srgbClr val="06121A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36592" y="5879592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3-5 roles replaced + significant revenue uplift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60" y="5833872"/>
            <a:ext cx="2926080" cy="274320"/>
          </a:xfrm>
          <a:prstGeom prst="rect">
            <a:avLst/>
          </a:prstGeom>
          <a:solidFill>
            <a:srgbClr val="06121A"/>
          </a:solidFill>
          <a:ln w="12700"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25712" y="5879592"/>
            <a:ext cx="2834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Arial"/>
              </a:rPr>
              <a:t>$430K-$720K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3737"/>
                </a:solidFill>
                <a:latin typeface="Arial"/>
              </a:rPr>
              <a:t>Deployment cost (6 months): $40K-$60K   |   Net value: $370K-$660K   |   Payback: 45-60 days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Arial"/>
              </a:rPr>
              <a:t>DEPLOYMENT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rial"/>
              </a:rPr>
              <a:t>Revenue in 30 days.</a:t>
            </a:r>
          </a:p>
          <a:p>
            <a:r>
              <a:rPr sz="3800" b="1">
                <a:solidFill>
                  <a:srgbClr val="22D3EE"/>
                </a:solidFill>
                <a:latin typeface="Arial"/>
              </a:rPr>
              <a:t>Full AI workforce in 90.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51760"/>
            <a:ext cx="3566160" cy="3566160"/>
          </a:xfrm>
          <a:prstGeom prst="rect">
            <a:avLst/>
          </a:prstGeom>
          <a:solidFill>
            <a:srgbClr val="0C0C0C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356616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Arial"/>
              </a:rPr>
              <a:t>PHASE 1 — DAYS 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906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Lead and Response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Arial"/>
              </a:rPr>
              <a:t>Lead Generation and Lead Response agents activate immediately. Every inbound inquiry answered in seconds. Outbound prospecting begins day one. First new client consultations within weeks.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Arial"/>
              </a:rPr>
              <a:t>Revenue in 30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651760"/>
            <a:ext cx="3566160" cy="3566160"/>
          </a:xfrm>
          <a:prstGeom prst="rect">
            <a:avLst/>
          </a:prstGeom>
          <a:solidFill>
            <a:srgbClr val="0C0C0C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2651760"/>
            <a:ext cx="356616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7889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Arial"/>
              </a:rPr>
              <a:t>PHASE 2 — MONTH 2-3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0906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Service, Vendor, and 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61188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Arial"/>
              </a:rPr>
              <a:t>Service Scheduling, Vendor Coordination, Content, and SEO agents go live. Operations run without a coordinator. Brand presence grows consistently across all channels.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5440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Arial"/>
              </a:rPr>
              <a:t>$200K-$350K by month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651760"/>
            <a:ext cx="3566160" cy="3566160"/>
          </a:xfrm>
          <a:prstGeom prst="rect">
            <a:avLst/>
          </a:prstGeom>
          <a:solidFill>
            <a:srgbClr val="0C0C0C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651760"/>
            <a:ext cx="356616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7889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Arial"/>
              </a:rPr>
              <a:t>PHASE 3 — MONTH 4-6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0906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Finance, Retention, and Full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61188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Arial"/>
              </a:rPr>
              <a:t>All remaining agents active. Billing automated, retention campaigns running, referral engine generating new business. Full AI workforce operational.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440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Arial"/>
              </a:rPr>
              <a:t>$430K-$720K by month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Arial"/>
              </a:rPr>
              <a:t>WHY DEVOLUTION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rial"/>
              </a:rPr>
              <a:t>We already built ProperFix.</a:t>
            </a:r>
          </a:p>
          <a:p>
            <a:r>
              <a:rPr sz="3800" b="1">
                <a:solidFill>
                  <a:srgbClr val="22D3EE"/>
                </a:solidFill>
                <a:latin typeface="Arial"/>
              </a:rPr>
              <a:t>We know exactly what it takes.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33472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37373"/>
                </a:solidFill>
                <a:latin typeface="Arial"/>
              </a:rPr>
              <a:t>Devolution Lab built ProperFix from the ground up — brand, website, operations platform, billing system, and the AI agent workforce. We are not proposing a concept. We are proposing to deploy the same architecture that is already running for ProperFix, configured to your specific scope and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547872"/>
            <a:ext cx="530352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547872"/>
            <a:ext cx="53035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85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Built for luxury property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42232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Arial"/>
              </a:rPr>
              <a:t>Every agent is configured for the specific workflows of a high-end property management company. Not generic AI tools. Built for your market, your clients, and your standards.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547872"/>
            <a:ext cx="530352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3547872"/>
            <a:ext cx="53035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685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Your data stays private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142232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Arial"/>
              </a:rPr>
              <a:t>Client records, property information, and service history stay inside your systems. Zero third-party exposure. Built to meet the privacy expectations of high-net-worth clients.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148072"/>
            <a:ext cx="530352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148072"/>
            <a:ext cx="53035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852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No IT team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42432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Arial"/>
              </a:rPr>
              <a:t>Devolution Lab handles full deployment and ongoing operations. Your team focuses on client relationships. We handle everything behind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5148072"/>
            <a:ext cx="530352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5148072"/>
            <a:ext cx="53035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52852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Own it outright at any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742432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Arial"/>
              </a:rPr>
              <a:t>Monthly managed service for up to 6 months. Full platform ownership with ongoing support available at any point. No long-term commitment required to start.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Arial"/>
              </a:rPr>
              <a:t>DEVOLUTION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1">
                <a:solidFill>
                  <a:srgbClr val="22D3EE"/>
                </a:solidFill>
                <a:latin typeface="Arial"/>
              </a:rPr>
              <a:t>$430K-$720K in 6 months.</a:t>
            </a:r>
          </a:p>
          <a:p>
            <a:r>
              <a:rPr sz="5000" b="1">
                <a:solidFill>
                  <a:srgbClr val="FFFFFF"/>
                </a:solidFill>
                <a:latin typeface="Arial"/>
              </a:rPr>
              <a:t>12 agents. 45-day payback.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37373"/>
                </a:solidFill>
                <a:latin typeface="Arial"/>
              </a:rPr>
              <a:t>The ProperFix team keeps delivering white-glove service.
The AI workforce handles every inquiry, every follow-up, every invoice, and every referral around the clock.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D3EE"/>
                </a:solidFill>
                <a:latin typeface="Arial"/>
              </a:rPr>
              <a:t>info@devolutionlab.com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3737"/>
                </a:solidFill>
                <a:latin typeface="Arial"/>
              </a:rPr>
              <a:t>devolutionlab.com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218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73737"/>
                </a:solidFill>
                <a:latin typeface="Arial"/>
              </a:rPr>
              <a:t>proper-fix.com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