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600" b="1">
                <a:solidFill>
                  <a:srgbClr val="FFFFFF"/>
                </a:solidFill>
                <a:latin typeface="Arial"/>
              </a:rPr>
              <a:t>The AI Workforce for</a:t>
            </a:r>
          </a:p>
          <a:p>
            <a:r>
              <a:rPr sz="5600" b="1">
                <a:solidFill>
                  <a:srgbClr val="22D3EE"/>
                </a:solidFill>
                <a:latin typeface="Arial"/>
              </a:rPr>
              <a:t>Five Below</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Specialty Value Retail  |  Philadelphia HQ  |  1,700+ Stores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FIVE BELOW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$3.5B in revenue.</a:t>
            </a:r>
          </a:p>
          <a:p>
            <a:r>
              <a:rPr sz="3800" b="1">
                <a:solidFill>
                  <a:srgbClr val="22D3EE"/>
                </a:solidFill>
                <a:latin typeface="Arial"/>
              </a:rPr>
              <a:t>1,700+ stores. Growth under pressure.</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188720"/>
          </a:xfrm>
          <a:prstGeom prst="rect">
            <a:avLst/>
          </a:prstGeom>
          <a:noFill/>
        </p:spPr>
        <p:txBody>
          <a:bodyPr wrap="square">
            <a:spAutoFit/>
          </a:bodyPr>
          <a:lstStyle/>
          <a:p>
            <a:pPr algn="l"/>
            <a:r>
              <a:rPr sz="1400" b="0" i="0">
                <a:solidFill>
                  <a:srgbClr val="737373"/>
                </a:solidFill>
                <a:latin typeface="Arial"/>
              </a:rPr>
              <a:t>Five Below is one of America's fastest-growing specialty value retailers, headquartered in Philadelphia. After years of aggressive expansion, the company is now facing margin compression, same-store sales challenges, and investor pressure to demonstrate sustainable unit economics. The back office supporting 1,700+ locations — merchandising coordination, vendor management, store operations, loss prevention, HR, and finance — runs on enormous headcount. That is the opportunity.</a:t>
            </a:r>
          </a:p>
        </p:txBody>
      </p:sp>
      <p:sp>
        <p:nvSpPr>
          <p:cNvPr id="6" name="Rectangle 5"/>
          <p:cNvSpPr/>
          <p:nvPr/>
        </p:nvSpPr>
        <p:spPr>
          <a:xfrm>
            <a:off x="73152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79392"/>
            <a:ext cx="2377440" cy="594360"/>
          </a:xfrm>
          <a:prstGeom prst="rect">
            <a:avLst/>
          </a:prstGeom>
          <a:noFill/>
        </p:spPr>
        <p:txBody>
          <a:bodyPr wrap="square">
            <a:spAutoFit/>
          </a:bodyPr>
          <a:lstStyle/>
          <a:p>
            <a:pPr algn="l"/>
            <a:r>
              <a:rPr sz="2800" b="1" i="0">
                <a:solidFill>
                  <a:srgbClr val="22D3EE"/>
                </a:solidFill>
                <a:latin typeface="Arial"/>
              </a:rPr>
              <a:t>1,700+</a:t>
            </a:r>
          </a:p>
        </p:txBody>
      </p:sp>
      <p:sp>
        <p:nvSpPr>
          <p:cNvPr id="8" name="TextBox 7"/>
          <p:cNvSpPr txBox="1"/>
          <p:nvPr/>
        </p:nvSpPr>
        <p:spPr>
          <a:xfrm>
            <a:off x="868680" y="4901184"/>
            <a:ext cx="2377440" cy="320040"/>
          </a:xfrm>
          <a:prstGeom prst="rect">
            <a:avLst/>
          </a:prstGeom>
          <a:noFill/>
        </p:spPr>
        <p:txBody>
          <a:bodyPr wrap="square">
            <a:spAutoFit/>
          </a:bodyPr>
          <a:lstStyle/>
          <a:p>
            <a:pPr algn="l"/>
            <a:r>
              <a:rPr sz="1300" b="1" i="0">
                <a:solidFill>
                  <a:srgbClr val="FFFFFF"/>
                </a:solidFill>
                <a:latin typeface="Arial"/>
              </a:rPr>
              <a:t>Store Locations</a:t>
            </a:r>
          </a:p>
        </p:txBody>
      </p:sp>
      <p:sp>
        <p:nvSpPr>
          <p:cNvPr id="9" name="TextBox 8"/>
          <p:cNvSpPr txBox="1"/>
          <p:nvPr/>
        </p:nvSpPr>
        <p:spPr>
          <a:xfrm>
            <a:off x="868680" y="5248656"/>
            <a:ext cx="2377440" cy="502920"/>
          </a:xfrm>
          <a:prstGeom prst="rect">
            <a:avLst/>
          </a:prstGeom>
          <a:noFill/>
        </p:spPr>
        <p:txBody>
          <a:bodyPr wrap="square">
            <a:spAutoFit/>
          </a:bodyPr>
          <a:lstStyle/>
          <a:p>
            <a:pPr algn="l"/>
            <a:r>
              <a:rPr sz="1100" b="0" i="0">
                <a:solidFill>
                  <a:srgbClr val="737373"/>
                </a:solidFill>
                <a:latin typeface="Arial"/>
              </a:rPr>
              <a:t>Across 40+ states, growing</a:t>
            </a:r>
          </a:p>
        </p:txBody>
      </p:sp>
      <p:sp>
        <p:nvSpPr>
          <p:cNvPr id="10" name="Rectangle 9"/>
          <p:cNvSpPr/>
          <p:nvPr/>
        </p:nvSpPr>
        <p:spPr>
          <a:xfrm>
            <a:off x="356616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279392"/>
            <a:ext cx="2377440" cy="594360"/>
          </a:xfrm>
          <a:prstGeom prst="rect">
            <a:avLst/>
          </a:prstGeom>
          <a:noFill/>
        </p:spPr>
        <p:txBody>
          <a:bodyPr wrap="square">
            <a:spAutoFit/>
          </a:bodyPr>
          <a:lstStyle/>
          <a:p>
            <a:pPr algn="l"/>
            <a:r>
              <a:rPr sz="2800" b="1" i="0">
                <a:solidFill>
                  <a:srgbClr val="22D3EE"/>
                </a:solidFill>
                <a:latin typeface="Arial"/>
              </a:rPr>
              <a:t>$3.5B</a:t>
            </a:r>
          </a:p>
        </p:txBody>
      </p:sp>
      <p:sp>
        <p:nvSpPr>
          <p:cNvPr id="12" name="TextBox 11"/>
          <p:cNvSpPr txBox="1"/>
          <p:nvPr/>
        </p:nvSpPr>
        <p:spPr>
          <a:xfrm>
            <a:off x="3703320" y="4901184"/>
            <a:ext cx="2377440" cy="320040"/>
          </a:xfrm>
          <a:prstGeom prst="rect">
            <a:avLst/>
          </a:prstGeom>
          <a:noFill/>
        </p:spPr>
        <p:txBody>
          <a:bodyPr wrap="square">
            <a:spAutoFit/>
          </a:bodyPr>
          <a:lstStyle/>
          <a:p>
            <a:pPr algn="l"/>
            <a:r>
              <a:rPr sz="1300" b="1" i="0">
                <a:solidFill>
                  <a:srgbClr val="FFFFFF"/>
                </a:solidFill>
                <a:latin typeface="Arial"/>
              </a:rPr>
              <a:t>Annual Revenue</a:t>
            </a:r>
          </a:p>
        </p:txBody>
      </p:sp>
      <p:sp>
        <p:nvSpPr>
          <p:cNvPr id="13" name="TextBox 12"/>
          <p:cNvSpPr txBox="1"/>
          <p:nvPr/>
        </p:nvSpPr>
        <p:spPr>
          <a:xfrm>
            <a:off x="3703320" y="5248656"/>
            <a:ext cx="2377440" cy="502920"/>
          </a:xfrm>
          <a:prstGeom prst="rect">
            <a:avLst/>
          </a:prstGeom>
          <a:noFill/>
        </p:spPr>
        <p:txBody>
          <a:bodyPr wrap="square">
            <a:spAutoFit/>
          </a:bodyPr>
          <a:lstStyle/>
          <a:p>
            <a:pPr algn="l"/>
            <a:r>
              <a:rPr sz="1100" b="0" i="0">
                <a:solidFill>
                  <a:srgbClr val="737373"/>
                </a:solidFill>
                <a:latin typeface="Arial"/>
              </a:rPr>
              <a:t>FY2024, under margin pressure</a:t>
            </a:r>
          </a:p>
        </p:txBody>
      </p:sp>
      <p:sp>
        <p:nvSpPr>
          <p:cNvPr id="14" name="Rectangle 13"/>
          <p:cNvSpPr/>
          <p:nvPr/>
        </p:nvSpPr>
        <p:spPr>
          <a:xfrm>
            <a:off x="640080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79392"/>
            <a:ext cx="2377440" cy="594360"/>
          </a:xfrm>
          <a:prstGeom prst="rect">
            <a:avLst/>
          </a:prstGeom>
          <a:noFill/>
        </p:spPr>
        <p:txBody>
          <a:bodyPr wrap="square">
            <a:spAutoFit/>
          </a:bodyPr>
          <a:lstStyle/>
          <a:p>
            <a:pPr algn="l"/>
            <a:r>
              <a:rPr sz="2800" b="1" i="0">
                <a:solidFill>
                  <a:srgbClr val="22D3EE"/>
                </a:solidFill>
                <a:latin typeface="Arial"/>
              </a:rPr>
              <a:t>14,000+</a:t>
            </a:r>
          </a:p>
        </p:txBody>
      </p:sp>
      <p:sp>
        <p:nvSpPr>
          <p:cNvPr id="16" name="TextBox 15"/>
          <p:cNvSpPr txBox="1"/>
          <p:nvPr/>
        </p:nvSpPr>
        <p:spPr>
          <a:xfrm>
            <a:off x="6537960" y="4901184"/>
            <a:ext cx="2377440" cy="320040"/>
          </a:xfrm>
          <a:prstGeom prst="rect">
            <a:avLst/>
          </a:prstGeom>
          <a:noFill/>
        </p:spPr>
        <p:txBody>
          <a:bodyPr wrap="square">
            <a:spAutoFit/>
          </a:bodyPr>
          <a:lstStyle/>
          <a:p>
            <a:pPr algn="l"/>
            <a:r>
              <a:rPr sz="1300" b="1" i="0">
                <a:solidFill>
                  <a:srgbClr val="FFFFFF"/>
                </a:solidFill>
                <a:latin typeface="Arial"/>
              </a:rPr>
              <a:t>Employees</a:t>
            </a:r>
          </a:p>
        </p:txBody>
      </p:sp>
      <p:sp>
        <p:nvSpPr>
          <p:cNvPr id="17" name="TextBox 16"/>
          <p:cNvSpPr txBox="1"/>
          <p:nvPr/>
        </p:nvSpPr>
        <p:spPr>
          <a:xfrm>
            <a:off x="6537960" y="5248656"/>
            <a:ext cx="2377440" cy="502920"/>
          </a:xfrm>
          <a:prstGeom prst="rect">
            <a:avLst/>
          </a:prstGeom>
          <a:noFill/>
        </p:spPr>
        <p:txBody>
          <a:bodyPr wrap="square">
            <a:spAutoFit/>
          </a:bodyPr>
          <a:lstStyle/>
          <a:p>
            <a:pPr algn="l"/>
            <a:r>
              <a:rPr sz="1100" b="0" i="0">
                <a:solidFill>
                  <a:srgbClr val="737373"/>
                </a:solidFill>
                <a:latin typeface="Arial"/>
              </a:rPr>
              <a:t>Corporate and field operations</a:t>
            </a:r>
          </a:p>
        </p:txBody>
      </p:sp>
      <p:sp>
        <p:nvSpPr>
          <p:cNvPr id="18" name="Rectangle 17"/>
          <p:cNvSpPr/>
          <p:nvPr/>
        </p:nvSpPr>
        <p:spPr>
          <a:xfrm>
            <a:off x="923544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4279392"/>
            <a:ext cx="2377440" cy="594360"/>
          </a:xfrm>
          <a:prstGeom prst="rect">
            <a:avLst/>
          </a:prstGeom>
          <a:noFill/>
        </p:spPr>
        <p:txBody>
          <a:bodyPr wrap="square">
            <a:spAutoFit/>
          </a:bodyPr>
          <a:lstStyle/>
          <a:p>
            <a:pPr algn="l"/>
            <a:r>
              <a:rPr sz="2800" b="1" i="0">
                <a:solidFill>
                  <a:srgbClr val="22D3EE"/>
                </a:solidFill>
                <a:latin typeface="Arial"/>
              </a:rPr>
              <a:t>40%</a:t>
            </a:r>
          </a:p>
        </p:txBody>
      </p:sp>
      <p:sp>
        <p:nvSpPr>
          <p:cNvPr id="20" name="TextBox 19"/>
          <p:cNvSpPr txBox="1"/>
          <p:nvPr/>
        </p:nvSpPr>
        <p:spPr>
          <a:xfrm>
            <a:off x="9372600" y="4901184"/>
            <a:ext cx="2377440" cy="320040"/>
          </a:xfrm>
          <a:prstGeom prst="rect">
            <a:avLst/>
          </a:prstGeom>
          <a:noFill/>
        </p:spPr>
        <p:txBody>
          <a:bodyPr wrap="square">
            <a:spAutoFit/>
          </a:bodyPr>
          <a:lstStyle/>
          <a:p>
            <a:pPr algn="l"/>
            <a:r>
              <a:rPr sz="1300" b="1" i="0">
                <a:solidFill>
                  <a:srgbClr val="FFFFFF"/>
                </a:solidFill>
                <a:latin typeface="Arial"/>
              </a:rPr>
              <a:t>Stock Decline</a:t>
            </a:r>
          </a:p>
        </p:txBody>
      </p:sp>
      <p:sp>
        <p:nvSpPr>
          <p:cNvPr id="21" name="TextBox 20"/>
          <p:cNvSpPr txBox="1"/>
          <p:nvPr/>
        </p:nvSpPr>
        <p:spPr>
          <a:xfrm>
            <a:off x="9372600" y="5248656"/>
            <a:ext cx="2377440" cy="502920"/>
          </a:xfrm>
          <a:prstGeom prst="rect">
            <a:avLst/>
          </a:prstGeom>
          <a:noFill/>
        </p:spPr>
        <p:txBody>
          <a:bodyPr wrap="square">
            <a:spAutoFit/>
          </a:bodyPr>
          <a:lstStyle/>
          <a:p>
            <a:pPr algn="l"/>
            <a:r>
              <a:rPr sz="1100" b="0" i="0">
                <a:solidFill>
                  <a:srgbClr val="737373"/>
                </a:solidFill>
                <a:latin typeface="Arial"/>
              </a:rPr>
              <a:t>Share price down significantly from peak</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Five Below is growing fast.</a:t>
            </a:r>
          </a:p>
          <a:p>
            <a:r>
              <a:rPr sz="3800" b="1">
                <a:solidFill>
                  <a:srgbClr val="22D3EE"/>
                </a:solidFill>
                <a:latin typeface="Arial"/>
              </a:rPr>
              <a:t>The coordination layer is not keeping up.</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188720"/>
          </a:xfrm>
          <a:prstGeom prst="rect">
            <a:avLst/>
          </a:prstGeom>
          <a:noFill/>
        </p:spPr>
        <p:txBody>
          <a:bodyPr wrap="square">
            <a:spAutoFit/>
          </a:bodyPr>
          <a:lstStyle/>
          <a:p>
            <a:pPr algn="l"/>
            <a:r>
              <a:rPr sz="1400" b="0" i="0">
                <a:solidFill>
                  <a:srgbClr val="737373"/>
                </a:solidFill>
                <a:latin typeface="Arial"/>
              </a:rPr>
              <a:t>1,700 stores means 1,700 sets of the same operational problems running simultaneously. Vendor purchase orders, store scheduling, loss prevention reporting, inventory discrepancy resolution, HR onboarding and offboarding, marketing coordination, district manager communications, and compliance reporting — all of it handled manually across a fragmented field organization. Every hour spent on coordination is an hour not spent on merchandising, customer experience, or the next store opening.</a:t>
            </a:r>
          </a:p>
        </p:txBody>
      </p:sp>
      <p:sp>
        <p:nvSpPr>
          <p:cNvPr id="6" name="TextBox 5"/>
          <p:cNvSpPr txBox="1"/>
          <p:nvPr/>
        </p:nvSpPr>
        <p:spPr>
          <a:xfrm>
            <a:off x="731520" y="4114800"/>
            <a:ext cx="10515600" cy="502920"/>
          </a:xfrm>
          <a:prstGeom prst="rect">
            <a:avLst/>
          </a:prstGeom>
          <a:noFill/>
        </p:spPr>
        <p:txBody>
          <a:bodyPr wrap="square">
            <a:spAutoFit/>
          </a:bodyPr>
          <a:lstStyle/>
          <a:p>
            <a:pPr algn="l"/>
            <a:r>
              <a:rPr sz="1500" b="1" i="0">
                <a:solidFill>
                  <a:srgbClr val="FFFFFF"/>
                </a:solidFill>
                <a:latin typeface="Arial"/>
              </a:rPr>
              <a:t>Devolution Lab deploys the AI workforce that absorbs that coordination layer. Results show in 30 days. Savings scale with every location.</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BUILT FOR FIVE BELOW</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Twelve agents.</a:t>
            </a:r>
          </a:p>
          <a:p>
            <a:r>
              <a:rPr sz="3600" b="1">
                <a:solidFill>
                  <a:srgbClr val="22D3EE"/>
                </a:solidFill>
                <a:latin typeface="Arial"/>
              </a:rPr>
              <a:t>Every back-office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MERCHANDISING</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Vendor Coordination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Manages purchase orders, delivery confirmations, and vendor communications across all product categories. Flags delays, reconciles discrepancies, and surfaces issues before they hit store shelves.</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INVENTORY</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Inventory Intelligence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Monitors stock levels and sell-through rates across all 1,700+ locations. Flags slow movers, identifies reorder needs, and generates daily inventory briefings for merchandising teams.</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STORE OPS</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District Operations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Coordinates communication between district managers and store teams. Tracks task completion, flags compliance gaps, and ensures operational standards are maintained across every location.</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Financial Reporting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Reconciles daily sales data across all store locations, generates weekly revenue summaries by region and district, and flags variance against forecast for finance leadership.</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LOSS PREVENTION</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Loss Prevention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Monitors exception reports, flags high-shrink patterns by location, and coordinates with LP teams to prioritize investigation resources based on data signals.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HR</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Workforce Management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Manages onboarding and offboarding workflows for field staff across all locations. Tracks certifications, handles scheduling coordination, and reduces manager admin time to near zero.</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OPERATIONS, COMPLIANCE, AND ANALYTICS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Six more agents.</a:t>
            </a:r>
          </a:p>
          <a:p>
            <a:r>
              <a:rPr sz="3600" b="1">
                <a:solidFill>
                  <a:srgbClr val="22D3EE"/>
                </a:solidFill>
                <a:latin typeface="Arial"/>
              </a:rPr>
              <a:t>Marketing, compliance, supply chain, and analytics.</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MARKETING</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Campaign Coordination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Manages in-store promotion rollouts, coordinates visual merchandising updates, and tracks campaign compliance across all locations. Flags stores that haven't executed.</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CUSTOMER SERVICE</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Customer Inquiry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Handles all inbound customer service inquiries across email, social media, and online channels. Resolves standard issues automatically and escalates only complex cases.</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REAL ESTATE</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Store Development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Tracks new store opening timelines, coordinates with construction and facilities vendors, and surfaces delay risks to real estate leadership before they affect opening dates.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COMPLIANCE</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Regulatory Compliance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Monitors labor law requirements across 40+ states, tracks minimum wage changes, and ensures scheduling and payroll practices stay compliant across all locations automatically.</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SUPPLY CHAIN</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Logistics Coordination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Tracks inbound freight from distribution centers to stores, flags delivery exceptions, and coordinates with carriers to resolve issues before they create out-of-stock situations.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ANALYTICS</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Performance Reporting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Delivers daily and weekly operational dashboards to leadership — sales by region, store performance rankings, loss prevention flags, vendor compliance, and HR metrics. No manual reporting required.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PILOT + ANNUAL PROJECTION</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12 agents.</a:t>
            </a:r>
          </a:p>
          <a:p>
            <a:r>
              <a:rPr sz="3400" b="1">
                <a:solidFill>
                  <a:srgbClr val="22D3EE"/>
                </a:solidFill>
                <a:latin typeface="Arial"/>
              </a:rPr>
              <a:t>$18M-$32M in value over 12 months.</a:t>
            </a:r>
          </a:p>
        </p:txBody>
      </p:sp>
      <p:sp>
        <p:nvSpPr>
          <p:cNvPr id="4" name="Rectangle 3"/>
          <p:cNvSpPr/>
          <p:nvPr/>
        </p:nvSpPr>
        <p:spPr>
          <a:xfrm>
            <a:off x="731520" y="2487168"/>
            <a:ext cx="43891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4389120" cy="256032"/>
          </a:xfrm>
          <a:prstGeom prst="rect">
            <a:avLst/>
          </a:prstGeom>
          <a:noFill/>
        </p:spPr>
        <p:txBody>
          <a:bodyPr wrap="square">
            <a:spAutoFit/>
          </a:bodyPr>
          <a:lstStyle/>
          <a:p>
            <a:pPr algn="l"/>
            <a:r>
              <a:rPr sz="1000" b="1" i="0">
                <a:solidFill>
                  <a:srgbClr val="373737"/>
                </a:solidFill>
                <a:latin typeface="Arial"/>
              </a:rPr>
              <a:t>Agent Group</a:t>
            </a:r>
          </a:p>
        </p:txBody>
      </p:sp>
      <p:sp>
        <p:nvSpPr>
          <p:cNvPr id="6" name="Rectangle 5"/>
          <p:cNvSpPr/>
          <p:nvPr/>
        </p:nvSpPr>
        <p:spPr>
          <a:xfrm>
            <a:off x="5303520" y="2487168"/>
            <a:ext cx="34747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2505456"/>
            <a:ext cx="347472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8" name="Rectangle 7"/>
          <p:cNvSpPr/>
          <p:nvPr/>
        </p:nvSpPr>
        <p:spPr>
          <a:xfrm>
            <a:off x="896112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0" y="2505456"/>
            <a:ext cx="2926080" cy="256032"/>
          </a:xfrm>
          <a:prstGeom prst="rect">
            <a:avLst/>
          </a:prstGeom>
          <a:noFill/>
        </p:spPr>
        <p:txBody>
          <a:bodyPr wrap="square">
            <a:spAutoFit/>
          </a:bodyPr>
          <a:lstStyle/>
          <a:p>
            <a:pPr algn="l"/>
            <a:r>
              <a:rPr sz="1000" b="1" i="0">
                <a:solidFill>
                  <a:srgbClr val="373737"/>
                </a:solidFill>
                <a:latin typeface="Arial"/>
              </a:rPr>
              <a:t>Annual Value</a:t>
            </a:r>
          </a:p>
        </p:txBody>
      </p:sp>
      <p:sp>
        <p:nvSpPr>
          <p:cNvPr id="10" name="Rectangle 9"/>
          <p:cNvSpPr/>
          <p:nvPr/>
        </p:nvSpPr>
        <p:spPr>
          <a:xfrm>
            <a:off x="731520" y="2816352"/>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71216"/>
            <a:ext cx="4297680" cy="256032"/>
          </a:xfrm>
          <a:prstGeom prst="rect">
            <a:avLst/>
          </a:prstGeom>
          <a:noFill/>
        </p:spPr>
        <p:txBody>
          <a:bodyPr wrap="square">
            <a:spAutoFit/>
          </a:bodyPr>
          <a:lstStyle/>
          <a:p>
            <a:pPr algn="l"/>
            <a:r>
              <a:rPr sz="1000" b="0" i="0">
                <a:solidFill>
                  <a:srgbClr val="FFFFFF"/>
                </a:solidFill>
                <a:latin typeface="Arial"/>
              </a:rPr>
              <a:t>Vendor + Inventory Coordination</a:t>
            </a:r>
          </a:p>
        </p:txBody>
      </p:sp>
      <p:sp>
        <p:nvSpPr>
          <p:cNvPr id="12" name="Rectangle 11"/>
          <p:cNvSpPr/>
          <p:nvPr/>
        </p:nvSpPr>
        <p:spPr>
          <a:xfrm>
            <a:off x="5303520" y="2816352"/>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76672" y="2871216"/>
            <a:ext cx="3383280" cy="256032"/>
          </a:xfrm>
          <a:prstGeom prst="rect">
            <a:avLst/>
          </a:prstGeom>
          <a:noFill/>
        </p:spPr>
        <p:txBody>
          <a:bodyPr wrap="square">
            <a:spAutoFit/>
          </a:bodyPr>
          <a:lstStyle/>
          <a:p>
            <a:pPr algn="l"/>
            <a:r>
              <a:rPr sz="1000" b="0" i="0">
                <a:solidFill>
                  <a:srgbClr val="737373"/>
                </a:solidFill>
                <a:latin typeface="Arial"/>
              </a:rPr>
              <a:t>$1.5M-$2.8M</a:t>
            </a:r>
          </a:p>
        </p:txBody>
      </p:sp>
      <p:sp>
        <p:nvSpPr>
          <p:cNvPr id="14" name="Rectangle 13"/>
          <p:cNvSpPr/>
          <p:nvPr/>
        </p:nvSpPr>
        <p:spPr>
          <a:xfrm>
            <a:off x="8961120" y="2816352"/>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2871216"/>
            <a:ext cx="2834640" cy="256032"/>
          </a:xfrm>
          <a:prstGeom prst="rect">
            <a:avLst/>
          </a:prstGeom>
          <a:noFill/>
        </p:spPr>
        <p:txBody>
          <a:bodyPr wrap="square">
            <a:spAutoFit/>
          </a:bodyPr>
          <a:lstStyle/>
          <a:p>
            <a:pPr algn="l"/>
            <a:r>
              <a:rPr sz="1000" b="0" i="0">
                <a:solidFill>
                  <a:srgbClr val="737373"/>
                </a:solidFill>
                <a:latin typeface="Arial"/>
              </a:rPr>
              <a:t>$3M-$5.6M</a:t>
            </a:r>
          </a:p>
        </p:txBody>
      </p:sp>
      <p:sp>
        <p:nvSpPr>
          <p:cNvPr id="16" name="Rectangle 15"/>
          <p:cNvSpPr/>
          <p:nvPr/>
        </p:nvSpPr>
        <p:spPr>
          <a:xfrm>
            <a:off x="731520" y="3200400"/>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55264"/>
            <a:ext cx="4297680" cy="256032"/>
          </a:xfrm>
          <a:prstGeom prst="rect">
            <a:avLst/>
          </a:prstGeom>
          <a:noFill/>
        </p:spPr>
        <p:txBody>
          <a:bodyPr wrap="square">
            <a:spAutoFit/>
          </a:bodyPr>
          <a:lstStyle/>
          <a:p>
            <a:pPr algn="l"/>
            <a:r>
              <a:rPr sz="1000" b="0" i="0">
                <a:solidFill>
                  <a:srgbClr val="FFFFFF"/>
                </a:solidFill>
                <a:latin typeface="Arial"/>
              </a:rPr>
              <a:t>District Ops + Store Compliance</a:t>
            </a:r>
          </a:p>
        </p:txBody>
      </p:sp>
      <p:sp>
        <p:nvSpPr>
          <p:cNvPr id="18" name="Rectangle 17"/>
          <p:cNvSpPr/>
          <p:nvPr/>
        </p:nvSpPr>
        <p:spPr>
          <a:xfrm>
            <a:off x="5303520" y="3200400"/>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6672" y="3255264"/>
            <a:ext cx="3383280" cy="256032"/>
          </a:xfrm>
          <a:prstGeom prst="rect">
            <a:avLst/>
          </a:prstGeom>
          <a:noFill/>
        </p:spPr>
        <p:txBody>
          <a:bodyPr wrap="square">
            <a:spAutoFit/>
          </a:bodyPr>
          <a:lstStyle/>
          <a:p>
            <a:pPr algn="l"/>
            <a:r>
              <a:rPr sz="1000" b="0" i="0">
                <a:solidFill>
                  <a:srgbClr val="737373"/>
                </a:solidFill>
                <a:latin typeface="Arial"/>
              </a:rPr>
              <a:t>$2M-$3.5M</a:t>
            </a:r>
          </a:p>
        </p:txBody>
      </p:sp>
      <p:sp>
        <p:nvSpPr>
          <p:cNvPr id="20" name="Rectangle 19"/>
          <p:cNvSpPr/>
          <p:nvPr/>
        </p:nvSpPr>
        <p:spPr>
          <a:xfrm>
            <a:off x="8961120" y="3200400"/>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4272" y="3255264"/>
            <a:ext cx="2834640" cy="256032"/>
          </a:xfrm>
          <a:prstGeom prst="rect">
            <a:avLst/>
          </a:prstGeom>
          <a:noFill/>
        </p:spPr>
        <p:txBody>
          <a:bodyPr wrap="square">
            <a:spAutoFit/>
          </a:bodyPr>
          <a:lstStyle/>
          <a:p>
            <a:pPr algn="l"/>
            <a:r>
              <a:rPr sz="1000" b="0" i="0">
                <a:solidFill>
                  <a:srgbClr val="737373"/>
                </a:solidFill>
                <a:latin typeface="Arial"/>
              </a:rPr>
              <a:t>$4M-$7M</a:t>
            </a:r>
          </a:p>
        </p:txBody>
      </p:sp>
      <p:sp>
        <p:nvSpPr>
          <p:cNvPr id="22" name="Rectangle 21"/>
          <p:cNvSpPr/>
          <p:nvPr/>
        </p:nvSpPr>
        <p:spPr>
          <a:xfrm>
            <a:off x="731520" y="3584448"/>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639312"/>
            <a:ext cx="4297680" cy="256032"/>
          </a:xfrm>
          <a:prstGeom prst="rect">
            <a:avLst/>
          </a:prstGeom>
          <a:noFill/>
        </p:spPr>
        <p:txBody>
          <a:bodyPr wrap="square">
            <a:spAutoFit/>
          </a:bodyPr>
          <a:lstStyle/>
          <a:p>
            <a:pPr algn="l"/>
            <a:r>
              <a:rPr sz="1000" b="0" i="0">
                <a:solidFill>
                  <a:srgbClr val="FFFFFF"/>
                </a:solidFill>
                <a:latin typeface="Arial"/>
              </a:rPr>
              <a:t>Financial Reporting + Analytics</a:t>
            </a:r>
          </a:p>
        </p:txBody>
      </p:sp>
      <p:sp>
        <p:nvSpPr>
          <p:cNvPr id="24" name="Rectangle 23"/>
          <p:cNvSpPr/>
          <p:nvPr/>
        </p:nvSpPr>
        <p:spPr>
          <a:xfrm>
            <a:off x="5303520" y="3584448"/>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6672" y="3639312"/>
            <a:ext cx="3383280" cy="256032"/>
          </a:xfrm>
          <a:prstGeom prst="rect">
            <a:avLst/>
          </a:prstGeom>
          <a:noFill/>
        </p:spPr>
        <p:txBody>
          <a:bodyPr wrap="square">
            <a:spAutoFit/>
          </a:bodyPr>
          <a:lstStyle/>
          <a:p>
            <a:pPr algn="l"/>
            <a:r>
              <a:rPr sz="1000" b="0" i="0">
                <a:solidFill>
                  <a:srgbClr val="737373"/>
                </a:solidFill>
                <a:latin typeface="Arial"/>
              </a:rPr>
              <a:t>$800K-$1.4M</a:t>
            </a:r>
          </a:p>
        </p:txBody>
      </p:sp>
      <p:sp>
        <p:nvSpPr>
          <p:cNvPr id="26" name="Rectangle 25"/>
          <p:cNvSpPr/>
          <p:nvPr/>
        </p:nvSpPr>
        <p:spPr>
          <a:xfrm>
            <a:off x="8961120" y="3584448"/>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3639312"/>
            <a:ext cx="2834640" cy="256032"/>
          </a:xfrm>
          <a:prstGeom prst="rect">
            <a:avLst/>
          </a:prstGeom>
          <a:noFill/>
        </p:spPr>
        <p:txBody>
          <a:bodyPr wrap="square">
            <a:spAutoFit/>
          </a:bodyPr>
          <a:lstStyle/>
          <a:p>
            <a:pPr algn="l"/>
            <a:r>
              <a:rPr sz="1000" b="0" i="0">
                <a:solidFill>
                  <a:srgbClr val="737373"/>
                </a:solidFill>
                <a:latin typeface="Arial"/>
              </a:rPr>
              <a:t>$1.6M-$2.8M</a:t>
            </a:r>
          </a:p>
        </p:txBody>
      </p:sp>
      <p:sp>
        <p:nvSpPr>
          <p:cNvPr id="28" name="Rectangle 27"/>
          <p:cNvSpPr/>
          <p:nvPr/>
        </p:nvSpPr>
        <p:spPr>
          <a:xfrm>
            <a:off x="731520" y="3968496"/>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23360"/>
            <a:ext cx="4297680" cy="256032"/>
          </a:xfrm>
          <a:prstGeom prst="rect">
            <a:avLst/>
          </a:prstGeom>
          <a:noFill/>
        </p:spPr>
        <p:txBody>
          <a:bodyPr wrap="square">
            <a:spAutoFit/>
          </a:bodyPr>
          <a:lstStyle/>
          <a:p>
            <a:pPr algn="l"/>
            <a:r>
              <a:rPr sz="1000" b="0" i="0">
                <a:solidFill>
                  <a:srgbClr val="FFFFFF"/>
                </a:solidFill>
                <a:latin typeface="Arial"/>
              </a:rPr>
              <a:t>Loss Prevention Intelligence</a:t>
            </a:r>
          </a:p>
        </p:txBody>
      </p:sp>
      <p:sp>
        <p:nvSpPr>
          <p:cNvPr id="30" name="Rectangle 29"/>
          <p:cNvSpPr/>
          <p:nvPr/>
        </p:nvSpPr>
        <p:spPr>
          <a:xfrm>
            <a:off x="5303520" y="3968496"/>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672" y="4023360"/>
            <a:ext cx="3383280" cy="256032"/>
          </a:xfrm>
          <a:prstGeom prst="rect">
            <a:avLst/>
          </a:prstGeom>
          <a:noFill/>
        </p:spPr>
        <p:txBody>
          <a:bodyPr wrap="square">
            <a:spAutoFit/>
          </a:bodyPr>
          <a:lstStyle/>
          <a:p>
            <a:pPr algn="l"/>
            <a:r>
              <a:rPr sz="1000" b="0" i="0">
                <a:solidFill>
                  <a:srgbClr val="737373"/>
                </a:solidFill>
                <a:latin typeface="Arial"/>
              </a:rPr>
              <a:t>$1M-$1.8M</a:t>
            </a:r>
          </a:p>
        </p:txBody>
      </p:sp>
      <p:sp>
        <p:nvSpPr>
          <p:cNvPr id="32" name="Rectangle 31"/>
          <p:cNvSpPr/>
          <p:nvPr/>
        </p:nvSpPr>
        <p:spPr>
          <a:xfrm>
            <a:off x="8961120" y="3968496"/>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34272" y="4023360"/>
            <a:ext cx="2834640" cy="256032"/>
          </a:xfrm>
          <a:prstGeom prst="rect">
            <a:avLst/>
          </a:prstGeom>
          <a:noFill/>
        </p:spPr>
        <p:txBody>
          <a:bodyPr wrap="square">
            <a:spAutoFit/>
          </a:bodyPr>
          <a:lstStyle/>
          <a:p>
            <a:pPr algn="l"/>
            <a:r>
              <a:rPr sz="1000" b="0" i="0">
                <a:solidFill>
                  <a:srgbClr val="737373"/>
                </a:solidFill>
                <a:latin typeface="Arial"/>
              </a:rPr>
              <a:t>$2M-$3.6M</a:t>
            </a:r>
          </a:p>
        </p:txBody>
      </p:sp>
      <p:sp>
        <p:nvSpPr>
          <p:cNvPr id="34" name="Rectangle 33"/>
          <p:cNvSpPr/>
          <p:nvPr/>
        </p:nvSpPr>
        <p:spPr>
          <a:xfrm>
            <a:off x="731520" y="4352544"/>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07408"/>
            <a:ext cx="4297680" cy="256032"/>
          </a:xfrm>
          <a:prstGeom prst="rect">
            <a:avLst/>
          </a:prstGeom>
          <a:noFill/>
        </p:spPr>
        <p:txBody>
          <a:bodyPr wrap="square">
            <a:spAutoFit/>
          </a:bodyPr>
          <a:lstStyle/>
          <a:p>
            <a:pPr algn="l"/>
            <a:r>
              <a:rPr sz="1000" b="0" i="0">
                <a:solidFill>
                  <a:srgbClr val="FFFFFF"/>
                </a:solidFill>
                <a:latin typeface="Arial"/>
              </a:rPr>
              <a:t>HR + Workforce Management</a:t>
            </a:r>
          </a:p>
        </p:txBody>
      </p:sp>
      <p:sp>
        <p:nvSpPr>
          <p:cNvPr id="36" name="Rectangle 35"/>
          <p:cNvSpPr/>
          <p:nvPr/>
        </p:nvSpPr>
        <p:spPr>
          <a:xfrm>
            <a:off x="5303520" y="4352544"/>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76672" y="4407408"/>
            <a:ext cx="3383280" cy="256032"/>
          </a:xfrm>
          <a:prstGeom prst="rect">
            <a:avLst/>
          </a:prstGeom>
          <a:noFill/>
        </p:spPr>
        <p:txBody>
          <a:bodyPr wrap="square">
            <a:spAutoFit/>
          </a:bodyPr>
          <a:lstStyle/>
          <a:p>
            <a:pPr algn="l"/>
            <a:r>
              <a:rPr sz="1000" b="0" i="0">
                <a:solidFill>
                  <a:srgbClr val="737373"/>
                </a:solidFill>
                <a:latin typeface="Arial"/>
              </a:rPr>
              <a:t>$800K-$1.4M</a:t>
            </a:r>
          </a:p>
        </p:txBody>
      </p:sp>
      <p:sp>
        <p:nvSpPr>
          <p:cNvPr id="38" name="Rectangle 37"/>
          <p:cNvSpPr/>
          <p:nvPr/>
        </p:nvSpPr>
        <p:spPr>
          <a:xfrm>
            <a:off x="8961120" y="4352544"/>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34272" y="4407408"/>
            <a:ext cx="2834640" cy="256032"/>
          </a:xfrm>
          <a:prstGeom prst="rect">
            <a:avLst/>
          </a:prstGeom>
          <a:noFill/>
        </p:spPr>
        <p:txBody>
          <a:bodyPr wrap="square">
            <a:spAutoFit/>
          </a:bodyPr>
          <a:lstStyle/>
          <a:p>
            <a:pPr algn="l"/>
            <a:r>
              <a:rPr sz="1000" b="0" i="0">
                <a:solidFill>
                  <a:srgbClr val="737373"/>
                </a:solidFill>
                <a:latin typeface="Arial"/>
              </a:rPr>
              <a:t>$1.6M-$2.8M</a:t>
            </a:r>
          </a:p>
        </p:txBody>
      </p:sp>
      <p:sp>
        <p:nvSpPr>
          <p:cNvPr id="40" name="Rectangle 39"/>
          <p:cNvSpPr/>
          <p:nvPr/>
        </p:nvSpPr>
        <p:spPr>
          <a:xfrm>
            <a:off x="731520" y="4736592"/>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791456"/>
            <a:ext cx="4297680" cy="256032"/>
          </a:xfrm>
          <a:prstGeom prst="rect">
            <a:avLst/>
          </a:prstGeom>
          <a:noFill/>
        </p:spPr>
        <p:txBody>
          <a:bodyPr wrap="square">
            <a:spAutoFit/>
          </a:bodyPr>
          <a:lstStyle/>
          <a:p>
            <a:pPr algn="l"/>
            <a:r>
              <a:rPr sz="1000" b="0" i="0">
                <a:solidFill>
                  <a:srgbClr val="FFFFFF"/>
                </a:solidFill>
                <a:latin typeface="Arial"/>
              </a:rPr>
              <a:t>Marketing + Customer Service</a:t>
            </a:r>
          </a:p>
        </p:txBody>
      </p:sp>
      <p:sp>
        <p:nvSpPr>
          <p:cNvPr id="42" name="Rectangle 41"/>
          <p:cNvSpPr/>
          <p:nvPr/>
        </p:nvSpPr>
        <p:spPr>
          <a:xfrm>
            <a:off x="5303520" y="4736592"/>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76672" y="4791456"/>
            <a:ext cx="3383280" cy="256032"/>
          </a:xfrm>
          <a:prstGeom prst="rect">
            <a:avLst/>
          </a:prstGeom>
          <a:noFill/>
        </p:spPr>
        <p:txBody>
          <a:bodyPr wrap="square">
            <a:spAutoFit/>
          </a:bodyPr>
          <a:lstStyle/>
          <a:p>
            <a:pPr algn="l"/>
            <a:r>
              <a:rPr sz="1000" b="0" i="0">
                <a:solidFill>
                  <a:srgbClr val="737373"/>
                </a:solidFill>
                <a:latin typeface="Arial"/>
              </a:rPr>
              <a:t>$600K-$1M</a:t>
            </a:r>
          </a:p>
        </p:txBody>
      </p:sp>
      <p:sp>
        <p:nvSpPr>
          <p:cNvPr id="44" name="Rectangle 43"/>
          <p:cNvSpPr/>
          <p:nvPr/>
        </p:nvSpPr>
        <p:spPr>
          <a:xfrm>
            <a:off x="8961120" y="4736592"/>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34272" y="4791456"/>
            <a:ext cx="2834640" cy="256032"/>
          </a:xfrm>
          <a:prstGeom prst="rect">
            <a:avLst/>
          </a:prstGeom>
          <a:noFill/>
        </p:spPr>
        <p:txBody>
          <a:bodyPr wrap="square">
            <a:spAutoFit/>
          </a:bodyPr>
          <a:lstStyle/>
          <a:p>
            <a:pPr algn="l"/>
            <a:r>
              <a:rPr sz="1000" b="0" i="0">
                <a:solidFill>
                  <a:srgbClr val="737373"/>
                </a:solidFill>
                <a:latin typeface="Arial"/>
              </a:rPr>
              <a:t>$1.2M-$2M</a:t>
            </a:r>
          </a:p>
        </p:txBody>
      </p:sp>
      <p:sp>
        <p:nvSpPr>
          <p:cNvPr id="46" name="Rectangle 45"/>
          <p:cNvSpPr/>
          <p:nvPr/>
        </p:nvSpPr>
        <p:spPr>
          <a:xfrm>
            <a:off x="731520" y="5120640"/>
            <a:ext cx="43891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175504"/>
            <a:ext cx="4297680" cy="256032"/>
          </a:xfrm>
          <a:prstGeom prst="rect">
            <a:avLst/>
          </a:prstGeom>
          <a:noFill/>
        </p:spPr>
        <p:txBody>
          <a:bodyPr wrap="square">
            <a:spAutoFit/>
          </a:bodyPr>
          <a:lstStyle/>
          <a:p>
            <a:pPr algn="l"/>
            <a:r>
              <a:rPr sz="1000" b="0" i="0">
                <a:solidFill>
                  <a:srgbClr val="FFFFFF"/>
                </a:solidFill>
                <a:latin typeface="Arial"/>
              </a:rPr>
              <a:t>Supply Chain + Real Estate + Compliance</a:t>
            </a:r>
          </a:p>
        </p:txBody>
      </p:sp>
      <p:sp>
        <p:nvSpPr>
          <p:cNvPr id="48" name="Rectangle 47"/>
          <p:cNvSpPr/>
          <p:nvPr/>
        </p:nvSpPr>
        <p:spPr>
          <a:xfrm>
            <a:off x="5303520" y="5120640"/>
            <a:ext cx="347472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76672" y="5175504"/>
            <a:ext cx="3383280" cy="256032"/>
          </a:xfrm>
          <a:prstGeom prst="rect">
            <a:avLst/>
          </a:prstGeom>
          <a:noFill/>
        </p:spPr>
        <p:txBody>
          <a:bodyPr wrap="square">
            <a:spAutoFit/>
          </a:bodyPr>
          <a:lstStyle/>
          <a:p>
            <a:pPr algn="l"/>
            <a:r>
              <a:rPr sz="1000" b="0" i="0">
                <a:solidFill>
                  <a:srgbClr val="737373"/>
                </a:solidFill>
                <a:latin typeface="Arial"/>
              </a:rPr>
              <a:t>$600K-$1M</a:t>
            </a:r>
          </a:p>
        </p:txBody>
      </p:sp>
      <p:sp>
        <p:nvSpPr>
          <p:cNvPr id="50" name="Rectangle 49"/>
          <p:cNvSpPr/>
          <p:nvPr/>
        </p:nvSpPr>
        <p:spPr>
          <a:xfrm>
            <a:off x="8961120" y="5120640"/>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34272" y="5175504"/>
            <a:ext cx="2834640" cy="256032"/>
          </a:xfrm>
          <a:prstGeom prst="rect">
            <a:avLst/>
          </a:prstGeom>
          <a:noFill/>
        </p:spPr>
        <p:txBody>
          <a:bodyPr wrap="square">
            <a:spAutoFit/>
          </a:bodyPr>
          <a:lstStyle/>
          <a:p>
            <a:pPr algn="l"/>
            <a:r>
              <a:rPr sz="1000" b="0" i="0">
                <a:solidFill>
                  <a:srgbClr val="737373"/>
                </a:solidFill>
                <a:latin typeface="Arial"/>
              </a:rPr>
              <a:t>$1.2M-$2M</a:t>
            </a:r>
          </a:p>
        </p:txBody>
      </p:sp>
      <p:sp>
        <p:nvSpPr>
          <p:cNvPr id="52" name="Rectangle 51"/>
          <p:cNvSpPr/>
          <p:nvPr/>
        </p:nvSpPr>
        <p:spPr>
          <a:xfrm>
            <a:off x="731520" y="5504688"/>
            <a:ext cx="438912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5559552"/>
            <a:ext cx="4297680" cy="256032"/>
          </a:xfrm>
          <a:prstGeom prst="rect">
            <a:avLst/>
          </a:prstGeom>
          <a:noFill/>
        </p:spPr>
        <p:txBody>
          <a:bodyPr wrap="square">
            <a:spAutoFit/>
          </a:bodyPr>
          <a:lstStyle/>
          <a:p>
            <a:pPr algn="l"/>
            <a:r>
              <a:rPr sz="1200" b="1" i="0">
                <a:solidFill>
                  <a:srgbClr val="FFFFFF"/>
                </a:solidFill>
                <a:latin typeface="Arial"/>
              </a:rPr>
              <a:t>TOTAL (12 AGENTS)</a:t>
            </a:r>
          </a:p>
        </p:txBody>
      </p:sp>
      <p:sp>
        <p:nvSpPr>
          <p:cNvPr id="54" name="Rectangle 53"/>
          <p:cNvSpPr/>
          <p:nvPr/>
        </p:nvSpPr>
        <p:spPr>
          <a:xfrm>
            <a:off x="5303520" y="5504688"/>
            <a:ext cx="347472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76672" y="5559552"/>
            <a:ext cx="3383280" cy="256032"/>
          </a:xfrm>
          <a:prstGeom prst="rect">
            <a:avLst/>
          </a:prstGeom>
          <a:noFill/>
        </p:spPr>
        <p:txBody>
          <a:bodyPr wrap="square">
            <a:spAutoFit/>
          </a:bodyPr>
          <a:lstStyle/>
          <a:p>
            <a:pPr algn="l"/>
            <a:r>
              <a:rPr sz="1200" b="1" i="0">
                <a:solidFill>
                  <a:srgbClr val="FFFFFF"/>
                </a:solidFill>
                <a:latin typeface="Arial"/>
              </a:rPr>
              <a:t>$7.3M-$12.9M</a:t>
            </a:r>
          </a:p>
        </p:txBody>
      </p:sp>
      <p:sp>
        <p:nvSpPr>
          <p:cNvPr id="56" name="Rectangle 55"/>
          <p:cNvSpPr/>
          <p:nvPr/>
        </p:nvSpPr>
        <p:spPr>
          <a:xfrm>
            <a:off x="8961120" y="5504688"/>
            <a:ext cx="292608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34272" y="5559552"/>
            <a:ext cx="2834640" cy="256032"/>
          </a:xfrm>
          <a:prstGeom prst="rect">
            <a:avLst/>
          </a:prstGeom>
          <a:noFill/>
        </p:spPr>
        <p:txBody>
          <a:bodyPr wrap="square">
            <a:spAutoFit/>
          </a:bodyPr>
          <a:lstStyle/>
          <a:p>
            <a:pPr algn="l"/>
            <a:r>
              <a:rPr sz="1200" b="1" i="0">
                <a:solidFill>
                  <a:srgbClr val="22D3EE"/>
                </a:solidFill>
                <a:latin typeface="Arial"/>
              </a:rPr>
              <a:t>$14.6M-$25.8M/yr</a:t>
            </a:r>
          </a:p>
        </p:txBody>
      </p:sp>
      <p:sp>
        <p:nvSpPr>
          <p:cNvPr id="58" name="TextBox 57"/>
          <p:cNvSpPr txBox="1"/>
          <p:nvPr/>
        </p:nvSpPr>
        <p:spPr>
          <a:xfrm>
            <a:off x="731520" y="6309360"/>
            <a:ext cx="10515600" cy="320040"/>
          </a:xfrm>
          <a:prstGeom prst="rect">
            <a:avLst/>
          </a:prstGeom>
          <a:noFill/>
        </p:spPr>
        <p:txBody>
          <a:bodyPr wrap="square">
            <a:spAutoFit/>
          </a:bodyPr>
          <a:lstStyle/>
          <a:p>
            <a:pPr algn="l"/>
            <a:r>
              <a:rPr sz="1100" b="0" i="0">
                <a:solidFill>
                  <a:srgbClr val="373737"/>
                </a:solidFill>
                <a:latin typeface="Arial"/>
              </a:rPr>
              <a:t>Deployment cost (6 months): $300K-$600K   |   Net 6-month value: $6.7M-$12.3M   |   Payback: 45-60 days</a:t>
            </a:r>
          </a:p>
        </p:txBody>
      </p:sp>
      <p:sp>
        <p:nvSpPr>
          <p:cNvPr id="59" name="TextBox 58"/>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FULL SCALE PICTURE</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The pilot is $25M.</a:t>
            </a:r>
          </a:p>
          <a:p>
            <a:r>
              <a:rPr sz="3600" b="1">
                <a:solidFill>
                  <a:srgbClr val="22D3EE"/>
                </a:solidFill>
                <a:latin typeface="Arial"/>
              </a:rPr>
              <a:t>Full enterprise deployment reaches $100M+.</a:t>
            </a:r>
          </a:p>
        </p:txBody>
      </p:sp>
      <p:sp>
        <p:nvSpPr>
          <p:cNvPr id="4" name="TextBox 3"/>
          <p:cNvSpPr txBox="1"/>
          <p:nvPr/>
        </p:nvSpPr>
        <p:spPr>
          <a:xfrm>
            <a:off x="731520" y="2633472"/>
            <a:ext cx="10515600" cy="804672"/>
          </a:xfrm>
          <a:prstGeom prst="rect">
            <a:avLst/>
          </a:prstGeom>
          <a:noFill/>
        </p:spPr>
        <p:txBody>
          <a:bodyPr wrap="square">
            <a:spAutoFit/>
          </a:bodyPr>
          <a:lstStyle/>
          <a:p>
            <a:pPr algn="l"/>
            <a:r>
              <a:rPr sz="1300" b="0" i="0">
                <a:solidFill>
                  <a:srgbClr val="737373"/>
                </a:solidFill>
                <a:latin typeface="Arial"/>
              </a:rPr>
              <a:t>Five Below operates 1,700+ stores with 14,000+ employees. The coordination, compliance, and reporting layer surrounding those locations represents 20-30% of total operating cost — an estimated $700M-$1B in annual overhead. Deploying an AI workforce across all functions systematically reduces that burden at scale.</a:t>
            </a:r>
          </a:p>
        </p:txBody>
      </p:sp>
      <p:sp>
        <p:nvSpPr>
          <p:cNvPr id="5" name="Rectangle 4"/>
          <p:cNvSpPr/>
          <p:nvPr/>
        </p:nvSpPr>
        <p:spPr>
          <a:xfrm>
            <a:off x="731520" y="3547872"/>
            <a:ext cx="3566160" cy="2834640"/>
          </a:xfrm>
          <a:prstGeom prst="rect">
            <a:avLst/>
          </a:prstGeom>
          <a:solidFill>
            <a:srgbClr val="080E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47872"/>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657600"/>
            <a:ext cx="3200400" cy="256032"/>
          </a:xfrm>
          <a:prstGeom prst="rect">
            <a:avLst/>
          </a:prstGeom>
          <a:noFill/>
        </p:spPr>
        <p:txBody>
          <a:bodyPr wrap="square">
            <a:spAutoFit/>
          </a:bodyPr>
          <a:lstStyle/>
          <a:p>
            <a:pPr algn="l"/>
            <a:r>
              <a:rPr sz="1000" b="1" i="0">
                <a:solidFill>
                  <a:srgbClr val="22D3EE"/>
                </a:solidFill>
                <a:latin typeface="Arial"/>
              </a:rPr>
              <a:t>PHASE 1</a:t>
            </a:r>
          </a:p>
        </p:txBody>
      </p:sp>
      <p:sp>
        <p:nvSpPr>
          <p:cNvPr id="8" name="TextBox 7"/>
          <p:cNvSpPr txBox="1"/>
          <p:nvPr/>
        </p:nvSpPr>
        <p:spPr>
          <a:xfrm>
            <a:off x="914400" y="3950208"/>
            <a:ext cx="3200400" cy="384048"/>
          </a:xfrm>
          <a:prstGeom prst="rect">
            <a:avLst/>
          </a:prstGeom>
          <a:noFill/>
        </p:spPr>
        <p:txBody>
          <a:bodyPr wrap="square">
            <a:spAutoFit/>
          </a:bodyPr>
          <a:lstStyle/>
          <a:p>
            <a:pPr algn="l"/>
            <a:r>
              <a:rPr sz="1800" b="1" i="0">
                <a:solidFill>
                  <a:srgbClr val="FFFFFF"/>
                </a:solidFill>
                <a:latin typeface="Arial"/>
              </a:rPr>
              <a:t>Corporate Pilot</a:t>
            </a:r>
          </a:p>
        </p:txBody>
      </p:sp>
      <p:sp>
        <p:nvSpPr>
          <p:cNvPr id="9" name="TextBox 8"/>
          <p:cNvSpPr txBox="1"/>
          <p:nvPr/>
        </p:nvSpPr>
        <p:spPr>
          <a:xfrm>
            <a:off x="914400" y="4389120"/>
            <a:ext cx="3200400" cy="384048"/>
          </a:xfrm>
          <a:prstGeom prst="rect">
            <a:avLst/>
          </a:prstGeom>
          <a:noFill/>
        </p:spPr>
        <p:txBody>
          <a:bodyPr wrap="square">
            <a:spAutoFit/>
          </a:bodyPr>
          <a:lstStyle/>
          <a:p>
            <a:pPr algn="l"/>
            <a:r>
              <a:rPr sz="1200" b="0" i="0">
                <a:solidFill>
                  <a:srgbClr val="737373"/>
                </a:solidFill>
                <a:latin typeface="Arial"/>
              </a:rPr>
              <a:t>12 agents across HQ and top 50 stores</a:t>
            </a:r>
          </a:p>
        </p:txBody>
      </p:sp>
      <p:sp>
        <p:nvSpPr>
          <p:cNvPr id="10" name="TextBox 9"/>
          <p:cNvSpPr txBox="1"/>
          <p:nvPr/>
        </p:nvSpPr>
        <p:spPr>
          <a:xfrm>
            <a:off x="914400" y="4828032"/>
            <a:ext cx="3200400" cy="475488"/>
          </a:xfrm>
          <a:prstGeom prst="rect">
            <a:avLst/>
          </a:prstGeom>
          <a:noFill/>
        </p:spPr>
        <p:txBody>
          <a:bodyPr wrap="square">
            <a:spAutoFit/>
          </a:bodyPr>
          <a:lstStyle/>
          <a:p>
            <a:pPr algn="l"/>
            <a:r>
              <a:rPr sz="2400" b="1" i="0">
                <a:solidFill>
                  <a:srgbClr val="22D3EE"/>
                </a:solidFill>
                <a:latin typeface="Arial"/>
              </a:rPr>
              <a:t>$14.6M-$25.8M/yr</a:t>
            </a:r>
          </a:p>
        </p:txBody>
      </p:sp>
      <p:sp>
        <p:nvSpPr>
          <p:cNvPr id="11" name="TextBox 10"/>
          <p:cNvSpPr txBox="1"/>
          <p:nvPr/>
        </p:nvSpPr>
        <p:spPr>
          <a:xfrm>
            <a:off x="914400" y="5376672"/>
            <a:ext cx="3200400" cy="292608"/>
          </a:xfrm>
          <a:prstGeom prst="rect">
            <a:avLst/>
          </a:prstGeom>
          <a:noFill/>
        </p:spPr>
        <p:txBody>
          <a:bodyPr wrap="square">
            <a:spAutoFit/>
          </a:bodyPr>
          <a:lstStyle/>
          <a:p>
            <a:pPr algn="l"/>
            <a:r>
              <a:rPr sz="1100" b="0" i="1">
                <a:solidFill>
                  <a:srgbClr val="373737"/>
                </a:solidFill>
                <a:latin typeface="Arial"/>
              </a:rPr>
              <a:t>Conservative. Proven in 30 days.</a:t>
            </a:r>
          </a:p>
        </p:txBody>
      </p:sp>
      <p:sp>
        <p:nvSpPr>
          <p:cNvPr id="12" name="Rectangle 11"/>
          <p:cNvSpPr/>
          <p:nvPr/>
        </p:nvSpPr>
        <p:spPr>
          <a:xfrm>
            <a:off x="4526280" y="3547872"/>
            <a:ext cx="3566160" cy="2834640"/>
          </a:xfrm>
          <a:prstGeom prst="rect">
            <a:avLst/>
          </a:prstGeom>
          <a:solidFill>
            <a:srgbClr val="080E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3547872"/>
            <a:ext cx="356616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3657600"/>
            <a:ext cx="3200400" cy="256032"/>
          </a:xfrm>
          <a:prstGeom prst="rect">
            <a:avLst/>
          </a:prstGeom>
          <a:noFill/>
        </p:spPr>
        <p:txBody>
          <a:bodyPr wrap="square">
            <a:spAutoFit/>
          </a:bodyPr>
          <a:lstStyle/>
          <a:p>
            <a:pPr algn="l"/>
            <a:r>
              <a:rPr sz="1000" b="1" i="0">
                <a:solidFill>
                  <a:srgbClr val="F59E0B"/>
                </a:solidFill>
                <a:latin typeface="Arial"/>
              </a:rPr>
              <a:t>PHASE 2</a:t>
            </a:r>
          </a:p>
        </p:txBody>
      </p:sp>
      <p:sp>
        <p:nvSpPr>
          <p:cNvPr id="15" name="TextBox 14"/>
          <p:cNvSpPr txBox="1"/>
          <p:nvPr/>
        </p:nvSpPr>
        <p:spPr>
          <a:xfrm>
            <a:off x="4709160" y="3950208"/>
            <a:ext cx="3200400" cy="384048"/>
          </a:xfrm>
          <a:prstGeom prst="rect">
            <a:avLst/>
          </a:prstGeom>
          <a:noFill/>
        </p:spPr>
        <p:txBody>
          <a:bodyPr wrap="square">
            <a:spAutoFit/>
          </a:bodyPr>
          <a:lstStyle/>
          <a:p>
            <a:pPr algn="l"/>
            <a:r>
              <a:rPr sz="1800" b="1" i="0">
                <a:solidFill>
                  <a:srgbClr val="FFFFFF"/>
                </a:solidFill>
                <a:latin typeface="Arial"/>
              </a:rPr>
              <a:t>Regional Rollout</a:t>
            </a:r>
          </a:p>
        </p:txBody>
      </p:sp>
      <p:sp>
        <p:nvSpPr>
          <p:cNvPr id="16" name="TextBox 15"/>
          <p:cNvSpPr txBox="1"/>
          <p:nvPr/>
        </p:nvSpPr>
        <p:spPr>
          <a:xfrm>
            <a:off x="4709160" y="4389120"/>
            <a:ext cx="3200400" cy="384048"/>
          </a:xfrm>
          <a:prstGeom prst="rect">
            <a:avLst/>
          </a:prstGeom>
          <a:noFill/>
        </p:spPr>
        <p:txBody>
          <a:bodyPr wrap="square">
            <a:spAutoFit/>
          </a:bodyPr>
          <a:lstStyle/>
          <a:p>
            <a:pPr algn="l"/>
            <a:r>
              <a:rPr sz="1200" b="0" i="0">
                <a:solidFill>
                  <a:srgbClr val="737373"/>
                </a:solidFill>
                <a:latin typeface="Arial"/>
              </a:rPr>
              <a:t>Full agent deployment across all 1,700+ stores</a:t>
            </a:r>
          </a:p>
        </p:txBody>
      </p:sp>
      <p:sp>
        <p:nvSpPr>
          <p:cNvPr id="17" name="TextBox 16"/>
          <p:cNvSpPr txBox="1"/>
          <p:nvPr/>
        </p:nvSpPr>
        <p:spPr>
          <a:xfrm>
            <a:off x="4709160" y="4828032"/>
            <a:ext cx="3200400" cy="475488"/>
          </a:xfrm>
          <a:prstGeom prst="rect">
            <a:avLst/>
          </a:prstGeom>
          <a:noFill/>
        </p:spPr>
        <p:txBody>
          <a:bodyPr wrap="square">
            <a:spAutoFit/>
          </a:bodyPr>
          <a:lstStyle/>
          <a:p>
            <a:pPr algn="l"/>
            <a:r>
              <a:rPr sz="2400" b="1" i="0">
                <a:solidFill>
                  <a:srgbClr val="F59E0B"/>
                </a:solidFill>
                <a:latin typeface="Arial"/>
              </a:rPr>
              <a:t>$50M-$80M/yr</a:t>
            </a:r>
          </a:p>
        </p:txBody>
      </p:sp>
      <p:sp>
        <p:nvSpPr>
          <p:cNvPr id="18" name="TextBox 17"/>
          <p:cNvSpPr txBox="1"/>
          <p:nvPr/>
        </p:nvSpPr>
        <p:spPr>
          <a:xfrm>
            <a:off x="4709160" y="5376672"/>
            <a:ext cx="3200400" cy="292608"/>
          </a:xfrm>
          <a:prstGeom prst="rect">
            <a:avLst/>
          </a:prstGeom>
          <a:noFill/>
        </p:spPr>
        <p:txBody>
          <a:bodyPr wrap="square">
            <a:spAutoFit/>
          </a:bodyPr>
          <a:lstStyle/>
          <a:p>
            <a:pPr algn="l"/>
            <a:r>
              <a:rPr sz="1100" b="0" i="1">
                <a:solidFill>
                  <a:srgbClr val="373737"/>
                </a:solidFill>
                <a:latin typeface="Arial"/>
              </a:rPr>
              <a:t>Full coordination layer replaced.</a:t>
            </a:r>
          </a:p>
        </p:txBody>
      </p:sp>
      <p:sp>
        <p:nvSpPr>
          <p:cNvPr id="19" name="Rectangle 18"/>
          <p:cNvSpPr/>
          <p:nvPr/>
        </p:nvSpPr>
        <p:spPr>
          <a:xfrm>
            <a:off x="8321040" y="3547872"/>
            <a:ext cx="3566160" cy="2834640"/>
          </a:xfrm>
          <a:prstGeom prst="rect">
            <a:avLst/>
          </a:prstGeom>
          <a:solidFill>
            <a:srgbClr val="080E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3547872"/>
            <a:ext cx="356616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657600"/>
            <a:ext cx="3200400" cy="256032"/>
          </a:xfrm>
          <a:prstGeom prst="rect">
            <a:avLst/>
          </a:prstGeom>
          <a:noFill/>
        </p:spPr>
        <p:txBody>
          <a:bodyPr wrap="square">
            <a:spAutoFit/>
          </a:bodyPr>
          <a:lstStyle/>
          <a:p>
            <a:pPr algn="l"/>
            <a:r>
              <a:rPr sz="1000" b="1" i="0">
                <a:solidFill>
                  <a:srgbClr val="10B981"/>
                </a:solidFill>
                <a:latin typeface="Arial"/>
              </a:rPr>
              <a:t>PHASE 3</a:t>
            </a:r>
          </a:p>
        </p:txBody>
      </p:sp>
      <p:sp>
        <p:nvSpPr>
          <p:cNvPr id="22" name="TextBox 21"/>
          <p:cNvSpPr txBox="1"/>
          <p:nvPr/>
        </p:nvSpPr>
        <p:spPr>
          <a:xfrm>
            <a:off x="8503920" y="3950208"/>
            <a:ext cx="3200400" cy="384048"/>
          </a:xfrm>
          <a:prstGeom prst="rect">
            <a:avLst/>
          </a:prstGeom>
          <a:noFill/>
        </p:spPr>
        <p:txBody>
          <a:bodyPr wrap="square">
            <a:spAutoFit/>
          </a:bodyPr>
          <a:lstStyle/>
          <a:p>
            <a:pPr algn="l"/>
            <a:r>
              <a:rPr sz="1800" b="1" i="0">
                <a:solidFill>
                  <a:srgbClr val="FFFFFF"/>
                </a:solidFill>
                <a:latin typeface="Arial"/>
              </a:rPr>
              <a:t>Enterprise-Wide</a:t>
            </a:r>
          </a:p>
        </p:txBody>
      </p:sp>
      <p:sp>
        <p:nvSpPr>
          <p:cNvPr id="23" name="TextBox 22"/>
          <p:cNvSpPr txBox="1"/>
          <p:nvPr/>
        </p:nvSpPr>
        <p:spPr>
          <a:xfrm>
            <a:off x="8503920" y="4389120"/>
            <a:ext cx="3200400" cy="384048"/>
          </a:xfrm>
          <a:prstGeom prst="rect">
            <a:avLst/>
          </a:prstGeom>
          <a:noFill/>
        </p:spPr>
        <p:txBody>
          <a:bodyPr wrap="square">
            <a:spAutoFit/>
          </a:bodyPr>
          <a:lstStyle/>
          <a:p>
            <a:pPr algn="l"/>
            <a:r>
              <a:rPr sz="1200" b="0" i="0">
                <a:solidFill>
                  <a:srgbClr val="737373"/>
                </a:solidFill>
                <a:latin typeface="Arial"/>
              </a:rPr>
              <a:t>All functions including supply chain and real estate pipeline</a:t>
            </a:r>
          </a:p>
        </p:txBody>
      </p:sp>
      <p:sp>
        <p:nvSpPr>
          <p:cNvPr id="24" name="TextBox 23"/>
          <p:cNvSpPr txBox="1"/>
          <p:nvPr/>
        </p:nvSpPr>
        <p:spPr>
          <a:xfrm>
            <a:off x="8503920" y="4828032"/>
            <a:ext cx="3200400" cy="475488"/>
          </a:xfrm>
          <a:prstGeom prst="rect">
            <a:avLst/>
          </a:prstGeom>
          <a:noFill/>
        </p:spPr>
        <p:txBody>
          <a:bodyPr wrap="square">
            <a:spAutoFit/>
          </a:bodyPr>
          <a:lstStyle/>
          <a:p>
            <a:pPr algn="l"/>
            <a:r>
              <a:rPr sz="2400" b="1" i="0">
                <a:solidFill>
                  <a:srgbClr val="10B981"/>
                </a:solidFill>
                <a:latin typeface="Arial"/>
              </a:rPr>
              <a:t>$80M-$120M/yr</a:t>
            </a:r>
          </a:p>
        </p:txBody>
      </p:sp>
      <p:sp>
        <p:nvSpPr>
          <p:cNvPr id="25" name="TextBox 24"/>
          <p:cNvSpPr txBox="1"/>
          <p:nvPr/>
        </p:nvSpPr>
        <p:spPr>
          <a:xfrm>
            <a:off x="8503920" y="5376672"/>
            <a:ext cx="3200400" cy="292608"/>
          </a:xfrm>
          <a:prstGeom prst="rect">
            <a:avLst/>
          </a:prstGeom>
          <a:noFill/>
        </p:spPr>
        <p:txBody>
          <a:bodyPr wrap="square">
            <a:spAutoFit/>
          </a:bodyPr>
          <a:lstStyle/>
          <a:p>
            <a:pPr algn="l"/>
            <a:r>
              <a:rPr sz="1100" b="0" i="1">
                <a:solidFill>
                  <a:srgbClr val="373737"/>
                </a:solidFill>
                <a:latin typeface="Arial"/>
              </a:rPr>
              <a:t>Transforms EBITDA at scale.</a:t>
            </a:r>
          </a:p>
        </p:txBody>
      </p:sp>
      <p:sp>
        <p:nvSpPr>
          <p:cNvPr id="26" name="TextBox 25"/>
          <p:cNvSpPr txBox="1"/>
          <p:nvPr/>
        </p:nvSpPr>
        <p:spPr>
          <a:xfrm>
            <a:off x="731520" y="6446520"/>
            <a:ext cx="10515600" cy="320040"/>
          </a:xfrm>
          <a:prstGeom prst="rect">
            <a:avLst/>
          </a:prstGeom>
          <a:noFill/>
        </p:spPr>
        <p:txBody>
          <a:bodyPr wrap="square">
            <a:spAutoFit/>
          </a:bodyPr>
          <a:lstStyle/>
          <a:p>
            <a:pPr algn="l"/>
            <a:r>
              <a:rPr sz="1100" b="0" i="1">
                <a:solidFill>
                  <a:srgbClr val="373737"/>
                </a:solidFill>
                <a:latin typeface="Arial"/>
              </a:rPr>
              <a:t>Annual operating cost outside COGS: $700M-$1B+. AI workforce addressable: 15-20% of total operating overhead.</a:t>
            </a:r>
          </a:p>
        </p:txBody>
      </p:sp>
      <p:sp>
        <p:nvSpPr>
          <p:cNvPr id="27" name="TextBox 2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Corporate pilot in 30 days.</a:t>
            </a:r>
          </a:p>
          <a:p>
            <a:r>
              <a:rPr sz="3800" b="1">
                <a:solidFill>
                  <a:srgbClr val="22D3EE"/>
                </a:solidFill>
                <a:latin typeface="Arial"/>
              </a:rPr>
              <a:t>Full network in 12 months.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600" b="1" i="0">
                <a:solidFill>
                  <a:srgbClr val="FFFFFF"/>
                </a:solidFill>
                <a:latin typeface="Arial"/>
              </a:rPr>
              <a:t>Vendor + Finance + Inventory</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Vendor coordination, inventory intelligence, and financial reporting agents go live at HQ. Leadership gets daily automated briefings. First results in 30 days.</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700" b="1" i="0">
                <a:solidFill>
                  <a:srgbClr val="22D3EE"/>
                </a:solidFill>
                <a:latin typeface="Arial"/>
              </a:rPr>
              <a:t>$3M-$5.6M annualized</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2-4</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600" b="1" i="0">
                <a:solidFill>
                  <a:srgbClr val="FFFFFF"/>
                </a:solidFill>
                <a:latin typeface="Arial"/>
              </a:rPr>
              <a:t>Ops + LP + HR + Marketing</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District ops, loss prevention, workforce management, and marketing coordination agents deployed. Store-level coordination becomes automated.</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700" b="1" i="0">
                <a:solidFill>
                  <a:srgbClr val="22D3EE"/>
                </a:solidFill>
                <a:latin typeface="Arial"/>
              </a:rPr>
              <a:t>$10M-$18M by month 4</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5-12</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600" b="1" i="0">
                <a:solidFill>
                  <a:srgbClr val="FFFFFF"/>
                </a:solidFill>
                <a:latin typeface="Arial"/>
              </a:rPr>
              <a:t>Full Network Rollout</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All 12 agents scaled across all 1,700+ stores. Supply chain, compliance, customer service, and analytics fully operational. Reporting to leadership automated enterprise-wide.</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700" b="1" i="0">
                <a:solidFill>
                  <a:srgbClr val="22D3EE"/>
                </a:solidFill>
                <a:latin typeface="Arial"/>
              </a:rPr>
              <a:t>$14.6M-$25.8M/yr</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4800" b="1">
                <a:solidFill>
                  <a:srgbClr val="22D3EE"/>
                </a:solidFill>
                <a:latin typeface="Arial"/>
              </a:rPr>
              <a:t>$14.6M-$25.8M annually.</a:t>
            </a:r>
          </a:p>
          <a:p>
            <a:r>
              <a:rPr sz="4800" b="1">
                <a:solidFill>
                  <a:srgbClr val="FFFFFF"/>
                </a:solidFill>
                <a:latin typeface="Arial"/>
              </a:rPr>
              <a:t>$80M-$120M at full scale.</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stores keep selling. The merchants keep buying.
The AI workforce handles every coordinator, analyst, and back-office function surrounding 1,700 locations.</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