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Labs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AGENT CAPABILITIES</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Agents built for</a:t>
            </a:r>
          </a:p>
          <a:p>
            <a:r>
              <a:rPr sz="3800" b="1">
                <a:solidFill>
                  <a:srgbClr val="22D3EE"/>
                </a:solidFill>
                <a:latin typeface="Arial"/>
              </a:rPr>
              <a:t>every business function.</a:t>
            </a:r>
          </a:p>
        </p:txBody>
      </p:sp>
      <p:sp>
        <p:nvSpPr>
          <p:cNvPr id="4" name="Rectangle 3"/>
          <p:cNvSpPr/>
          <p:nvPr/>
        </p:nvSpPr>
        <p:spPr>
          <a:xfrm>
            <a:off x="73152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OPERATIONS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Exception + Routing Agent</a:t>
            </a:r>
          </a:p>
        </p:txBody>
      </p:sp>
      <p:sp>
        <p:nvSpPr>
          <p:cNvPr id="8" name="TextBox 7"/>
          <p:cNvSpPr txBox="1"/>
          <p:nvPr/>
        </p:nvSpPr>
        <p:spPr>
          <a:xfrm>
            <a:off x="868680" y="3383280"/>
            <a:ext cx="3474720" cy="548640"/>
          </a:xfrm>
          <a:prstGeom prst="rect">
            <a:avLst/>
          </a:prstGeom>
          <a:noFill/>
        </p:spPr>
        <p:txBody>
          <a:bodyPr wrap="square">
            <a:spAutoFit/>
          </a:bodyPr>
          <a:lstStyle/>
          <a:p>
            <a:pPr algn="l"/>
            <a:r>
              <a:rPr sz="1100" b="0" i="0">
                <a:solidFill>
                  <a:srgbClr val="737373"/>
                </a:solidFill>
                <a:latin typeface="Arial"/>
              </a:rPr>
              <a:t>Monitors workflows in real time, routes tasks automatically, and escalates only what requires human judgment. Runs 24/7.</a:t>
            </a:r>
          </a:p>
        </p:txBody>
      </p:sp>
      <p:sp>
        <p:nvSpPr>
          <p:cNvPr id="9" name="Rectangle 8"/>
          <p:cNvSpPr/>
          <p:nvPr/>
        </p:nvSpPr>
        <p:spPr>
          <a:xfrm>
            <a:off x="452628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MARKETING</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Content + SEO Agent</a:t>
            </a:r>
          </a:p>
        </p:txBody>
      </p:sp>
      <p:sp>
        <p:nvSpPr>
          <p:cNvPr id="13" name="TextBox 12"/>
          <p:cNvSpPr txBox="1"/>
          <p:nvPr/>
        </p:nvSpPr>
        <p:spPr>
          <a:xfrm>
            <a:off x="4663440" y="3383280"/>
            <a:ext cx="3474720" cy="548640"/>
          </a:xfrm>
          <a:prstGeom prst="rect">
            <a:avLst/>
          </a:prstGeom>
          <a:noFill/>
        </p:spPr>
        <p:txBody>
          <a:bodyPr wrap="square">
            <a:spAutoFit/>
          </a:bodyPr>
          <a:lstStyle/>
          <a:p>
            <a:pPr algn="l"/>
            <a:r>
              <a:rPr sz="1100" b="0" i="0">
                <a:solidFill>
                  <a:srgbClr val="737373"/>
                </a:solidFill>
                <a:latin typeface="Arial"/>
              </a:rPr>
              <a:t>Publishes optimized content weekly, manages social channels daily, tracks rankings, and adjusts strategy automatically.</a:t>
            </a:r>
          </a:p>
        </p:txBody>
      </p:sp>
      <p:sp>
        <p:nvSpPr>
          <p:cNvPr id="14" name="Rectangle 13"/>
          <p:cNvSpPr/>
          <p:nvPr/>
        </p:nvSpPr>
        <p:spPr>
          <a:xfrm>
            <a:off x="832104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4142231"/>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233671"/>
            <a:ext cx="3474720" cy="228600"/>
          </a:xfrm>
          <a:prstGeom prst="rect">
            <a:avLst/>
          </a:prstGeom>
          <a:noFill/>
        </p:spPr>
        <p:txBody>
          <a:bodyPr wrap="square">
            <a:spAutoFit/>
          </a:bodyPr>
          <a:lstStyle/>
          <a:p>
            <a:pPr algn="l"/>
            <a:r>
              <a:rPr sz="900" b="1" i="0">
                <a:solidFill>
                  <a:srgbClr val="3B82F6"/>
                </a:solidFill>
                <a:latin typeface="Arial"/>
              </a:rPr>
              <a:t>SALES</a:t>
            </a:r>
          </a:p>
        </p:txBody>
      </p:sp>
      <p:sp>
        <p:nvSpPr>
          <p:cNvPr id="17" name="TextBox 16"/>
          <p:cNvSpPr txBox="1"/>
          <p:nvPr/>
        </p:nvSpPr>
        <p:spPr>
          <a:xfrm>
            <a:off x="8458200" y="4489703"/>
            <a:ext cx="3474720" cy="347472"/>
          </a:xfrm>
          <a:prstGeom prst="rect">
            <a:avLst/>
          </a:prstGeom>
          <a:noFill/>
        </p:spPr>
        <p:txBody>
          <a:bodyPr wrap="square">
            <a:spAutoFit/>
          </a:bodyPr>
          <a:lstStyle/>
          <a:p>
            <a:pPr algn="l"/>
            <a:r>
              <a:rPr sz="1300" b="1" i="0">
                <a:solidFill>
                  <a:srgbClr val="FFFFFF"/>
                </a:solidFill>
                <a:latin typeface="Arial"/>
              </a:rPr>
              <a:t>Lead Generation + Response Agent</a:t>
            </a:r>
          </a:p>
        </p:txBody>
      </p:sp>
      <p:sp>
        <p:nvSpPr>
          <p:cNvPr id="18" name="TextBox 17"/>
          <p:cNvSpPr txBox="1"/>
          <p:nvPr/>
        </p:nvSpPr>
        <p:spPr>
          <a:xfrm>
            <a:off x="8458200" y="4892039"/>
            <a:ext cx="3474720" cy="548640"/>
          </a:xfrm>
          <a:prstGeom prst="rect">
            <a:avLst/>
          </a:prstGeom>
          <a:noFill/>
        </p:spPr>
        <p:txBody>
          <a:bodyPr wrap="square">
            <a:spAutoFit/>
          </a:bodyPr>
          <a:lstStyle/>
          <a:p>
            <a:pPr algn="l"/>
            <a:r>
              <a:rPr sz="1100" b="0" i="0">
                <a:solidFill>
                  <a:srgbClr val="737373"/>
                </a:solidFill>
                <a:latin typeface="Arial"/>
              </a:rPr>
              <a:t>Actively finds in-market buyers, responds to every inbound inquiry in seconds, and follows up until conversion.</a:t>
            </a:r>
          </a:p>
        </p:txBody>
      </p:sp>
      <p:sp>
        <p:nvSpPr>
          <p:cNvPr id="19" name="Rectangle 18"/>
          <p:cNvSpPr/>
          <p:nvPr/>
        </p:nvSpPr>
        <p:spPr>
          <a:xfrm>
            <a:off x="73152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42231"/>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33671"/>
            <a:ext cx="3474720" cy="228600"/>
          </a:xfrm>
          <a:prstGeom prst="rect">
            <a:avLst/>
          </a:prstGeom>
          <a:noFill/>
        </p:spPr>
        <p:txBody>
          <a:bodyPr wrap="square">
            <a:spAutoFit/>
          </a:bodyPr>
          <a:lstStyle/>
          <a:p>
            <a:pPr algn="l"/>
            <a:r>
              <a:rPr sz="900" b="1" i="0">
                <a:solidFill>
                  <a:srgbClr val="10B981"/>
                </a:solidFill>
                <a:latin typeface="Arial"/>
              </a:rPr>
              <a:t>FINANCE</a:t>
            </a:r>
          </a:p>
        </p:txBody>
      </p:sp>
      <p:sp>
        <p:nvSpPr>
          <p:cNvPr id="22" name="TextBox 21"/>
          <p:cNvSpPr txBox="1"/>
          <p:nvPr/>
        </p:nvSpPr>
        <p:spPr>
          <a:xfrm>
            <a:off x="868680" y="4489703"/>
            <a:ext cx="3474720" cy="347472"/>
          </a:xfrm>
          <a:prstGeom prst="rect">
            <a:avLst/>
          </a:prstGeom>
          <a:noFill/>
        </p:spPr>
        <p:txBody>
          <a:bodyPr wrap="square">
            <a:spAutoFit/>
          </a:bodyPr>
          <a:lstStyle/>
          <a:p>
            <a:pPr algn="l"/>
            <a:r>
              <a:rPr sz="1300" b="1" i="0">
                <a:solidFill>
                  <a:srgbClr val="FFFFFF"/>
                </a:solidFill>
                <a:latin typeface="Arial"/>
              </a:rPr>
              <a:t>Reporting + Analytics Agent</a:t>
            </a:r>
          </a:p>
        </p:txBody>
      </p:sp>
      <p:sp>
        <p:nvSpPr>
          <p:cNvPr id="23" name="TextBox 22"/>
          <p:cNvSpPr txBox="1"/>
          <p:nvPr/>
        </p:nvSpPr>
        <p:spPr>
          <a:xfrm>
            <a:off x="868680" y="4892039"/>
            <a:ext cx="3474720" cy="548640"/>
          </a:xfrm>
          <a:prstGeom prst="rect">
            <a:avLst/>
          </a:prstGeom>
          <a:noFill/>
        </p:spPr>
        <p:txBody>
          <a:bodyPr wrap="square">
            <a:spAutoFit/>
          </a:bodyPr>
          <a:lstStyle/>
          <a:p>
            <a:pPr algn="l"/>
            <a:r>
              <a:rPr sz="1100" b="0" i="0">
                <a:solidFill>
                  <a:srgbClr val="737373"/>
                </a:solidFill>
                <a:latin typeface="Arial"/>
              </a:rPr>
              <a:t>Pulls data, compiles management reports, surfaces anomalies, and delivers leadership briefings on schedule.</a:t>
            </a:r>
          </a:p>
        </p:txBody>
      </p:sp>
      <p:sp>
        <p:nvSpPr>
          <p:cNvPr id="24" name="Rectangle 23"/>
          <p:cNvSpPr/>
          <p:nvPr/>
        </p:nvSpPr>
        <p:spPr>
          <a:xfrm>
            <a:off x="452628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565099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5742432"/>
            <a:ext cx="3474720" cy="228600"/>
          </a:xfrm>
          <a:prstGeom prst="rect">
            <a:avLst/>
          </a:prstGeom>
          <a:noFill/>
        </p:spPr>
        <p:txBody>
          <a:bodyPr wrap="square">
            <a:spAutoFit/>
          </a:bodyPr>
          <a:lstStyle/>
          <a:p>
            <a:pPr algn="l"/>
            <a:r>
              <a:rPr sz="900" b="1" i="0">
                <a:solidFill>
                  <a:srgbClr val="F59E0B"/>
                </a:solidFill>
                <a:latin typeface="Arial"/>
              </a:rPr>
              <a:t>COMPLIANCE</a:t>
            </a:r>
          </a:p>
        </p:txBody>
      </p:sp>
      <p:sp>
        <p:nvSpPr>
          <p:cNvPr id="27" name="TextBox 26"/>
          <p:cNvSpPr txBox="1"/>
          <p:nvPr/>
        </p:nvSpPr>
        <p:spPr>
          <a:xfrm>
            <a:off x="4663440" y="5998464"/>
            <a:ext cx="3474720" cy="347472"/>
          </a:xfrm>
          <a:prstGeom prst="rect">
            <a:avLst/>
          </a:prstGeom>
          <a:noFill/>
        </p:spPr>
        <p:txBody>
          <a:bodyPr wrap="square">
            <a:spAutoFit/>
          </a:bodyPr>
          <a:lstStyle/>
          <a:p>
            <a:pPr algn="l"/>
            <a:r>
              <a:rPr sz="1300" b="1" i="0">
                <a:solidFill>
                  <a:srgbClr val="FFFFFF"/>
                </a:solidFill>
                <a:latin typeface="Arial"/>
              </a:rPr>
              <a:t>Audit + Documentation Agent</a:t>
            </a:r>
          </a:p>
        </p:txBody>
      </p:sp>
      <p:sp>
        <p:nvSpPr>
          <p:cNvPr id="28" name="TextBox 27"/>
          <p:cNvSpPr txBox="1"/>
          <p:nvPr/>
        </p:nvSpPr>
        <p:spPr>
          <a:xfrm>
            <a:off x="4663440" y="6400800"/>
            <a:ext cx="3474720" cy="548640"/>
          </a:xfrm>
          <a:prstGeom prst="rect">
            <a:avLst/>
          </a:prstGeom>
          <a:noFill/>
        </p:spPr>
        <p:txBody>
          <a:bodyPr wrap="square">
            <a:spAutoFit/>
          </a:bodyPr>
          <a:lstStyle/>
          <a:p>
            <a:pPr algn="l"/>
            <a:r>
              <a:rPr sz="1100" b="0" i="0">
                <a:solidFill>
                  <a:srgbClr val="737373"/>
                </a:solidFill>
                <a:latin typeface="Arial"/>
              </a:rPr>
              <a:t>Monitors regulatory changes, maintains audit trails, generates required documentation, and flags exposure automatically.</a:t>
            </a:r>
          </a:p>
        </p:txBody>
      </p:sp>
      <p:sp>
        <p:nvSpPr>
          <p:cNvPr id="29" name="Rectangle 28"/>
          <p:cNvSpPr/>
          <p:nvPr/>
        </p:nvSpPr>
        <p:spPr>
          <a:xfrm>
            <a:off x="832104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565099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5742432"/>
            <a:ext cx="3474720" cy="228600"/>
          </a:xfrm>
          <a:prstGeom prst="rect">
            <a:avLst/>
          </a:prstGeom>
          <a:noFill/>
        </p:spPr>
        <p:txBody>
          <a:bodyPr wrap="square">
            <a:spAutoFit/>
          </a:bodyPr>
          <a:lstStyle/>
          <a:p>
            <a:pPr algn="l"/>
            <a:r>
              <a:rPr sz="900" b="1" i="0">
                <a:solidFill>
                  <a:srgbClr val="EC4899"/>
                </a:solidFill>
                <a:latin typeface="Arial"/>
              </a:rPr>
              <a:t>CUSTOMER SUCCESS</a:t>
            </a:r>
          </a:p>
        </p:txBody>
      </p:sp>
      <p:sp>
        <p:nvSpPr>
          <p:cNvPr id="32" name="TextBox 31"/>
          <p:cNvSpPr txBox="1"/>
          <p:nvPr/>
        </p:nvSpPr>
        <p:spPr>
          <a:xfrm>
            <a:off x="8458200" y="5998464"/>
            <a:ext cx="3474720" cy="347472"/>
          </a:xfrm>
          <a:prstGeom prst="rect">
            <a:avLst/>
          </a:prstGeom>
          <a:noFill/>
        </p:spPr>
        <p:txBody>
          <a:bodyPr wrap="square">
            <a:spAutoFit/>
          </a:bodyPr>
          <a:lstStyle/>
          <a:p>
            <a:pPr algn="l"/>
            <a:r>
              <a:rPr sz="1300" b="1" i="0">
                <a:solidFill>
                  <a:srgbClr val="FFFFFF"/>
                </a:solidFill>
                <a:latin typeface="Arial"/>
              </a:rPr>
              <a:t>Retention + Service Agent</a:t>
            </a:r>
          </a:p>
        </p:txBody>
      </p:sp>
      <p:sp>
        <p:nvSpPr>
          <p:cNvPr id="33" name="TextBox 32"/>
          <p:cNvSpPr txBox="1"/>
          <p:nvPr/>
        </p:nvSpPr>
        <p:spPr>
          <a:xfrm>
            <a:off x="8458200" y="6400800"/>
            <a:ext cx="3474720" cy="548640"/>
          </a:xfrm>
          <a:prstGeom prst="rect">
            <a:avLst/>
          </a:prstGeom>
          <a:noFill/>
        </p:spPr>
        <p:txBody>
          <a:bodyPr wrap="square">
            <a:spAutoFit/>
          </a:bodyPr>
          <a:lstStyle/>
          <a:p>
            <a:pPr algn="l"/>
            <a:r>
              <a:rPr sz="1100" b="0" i="0">
                <a:solidFill>
                  <a:srgbClr val="737373"/>
                </a:solidFill>
                <a:latin typeface="Arial"/>
              </a:rPr>
              <a:t>Sends reminders, books appointments, manages follow-up, and proactively reaches out to at-risk customers.</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Labs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Labs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Labs.</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/devəˈlooSH(e)n/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from human teams to AI agents. Authority delegated. Outcomes owned. Costs reduced.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Any industry. Any function. Any organization where human coordination is a bottleneck.</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