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LABS  |  CASE STUDY</a:t>
            </a:r>
          </a:p>
        </p:txBody>
      </p:sp>
      <p:sp>
        <p:nvSpPr>
          <p:cNvPr id="3" name="TextBox 2"/>
          <p:cNvSpPr txBox="1"/>
          <p:nvPr/>
        </p:nvSpPr>
        <p:spPr>
          <a:xfrm>
            <a:off x="731520" y="1188720"/>
            <a:ext cx="10058400" cy="2286000"/>
          </a:xfrm>
          <a:prstGeom prst="rect">
            <a:avLst/>
          </a:prstGeom>
          <a:noFill/>
        </p:spPr>
        <p:txBody>
          <a:bodyPr wrap="square">
            <a:spAutoFit/>
          </a:bodyPr>
          <a:lstStyle/>
          <a:p>
            <a:r>
              <a:rPr sz="5000" b="1">
                <a:solidFill>
                  <a:srgbClr val="FFFFFF"/>
                </a:solidFill>
                <a:latin typeface="Arial"/>
              </a:rPr>
              <a:t>We did not just sell the idea.</a:t>
            </a:r>
          </a:p>
          <a:p>
            <a:r>
              <a:rPr sz="5000" b="1">
                <a:solidFill>
                  <a:srgbClr val="22D3EE"/>
                </a:solidFill>
                <a:latin typeface="Arial"/>
              </a:rPr>
              <a:t>We built it. ProperFix is the proof.</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400" b="0" i="0">
                <a:solidFill>
                  <a:srgbClr val="373737"/>
                </a:solidFill>
                <a:latin typeface="Arial"/>
              </a:rPr>
              <a:t>ProperFix  |  Luxury Property Management  |  Long Island, NY  |  Built entirely by Devolution Labs</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WHAT IS PROPERFIX</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luxury property management company.</a:t>
            </a:r>
          </a:p>
          <a:p>
            <a:r>
              <a:rPr sz="3800" b="1">
                <a:solidFill>
                  <a:srgbClr val="22D3EE"/>
                </a:solidFill>
                <a:latin typeface="Arial"/>
              </a:rPr>
              <a:t>Built from zero by Devolution Labs.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280160"/>
          </a:xfrm>
          <a:prstGeom prst="rect">
            <a:avLst/>
          </a:prstGeom>
          <a:noFill/>
        </p:spPr>
        <p:txBody>
          <a:bodyPr wrap="square">
            <a:spAutoFit/>
          </a:bodyPr>
          <a:lstStyle/>
          <a:p>
            <a:pPr algn="l"/>
            <a:r>
              <a:rPr sz="1400" b="0" i="0">
                <a:solidFill>
                  <a:srgbClr val="737373"/>
                </a:solidFill>
                <a:latin typeface="Arial"/>
              </a:rPr>
              <a:t>ProperFix is a full-service luxury estate management company serving homeowners on Long Island's North Shore — properties valued at $800,000 and above. It was conceived, designed, built, and deployed entirely by Devolution Labs. From the brand and website to the client operations system, the vendor network, the billing infrastructure, and the AI agent workforce running behind it — every component was built in-house.</a:t>
            </a:r>
          </a:p>
        </p:txBody>
      </p:sp>
      <p:sp>
        <p:nvSpPr>
          <p:cNvPr id="6" name="TextBox 5"/>
          <p:cNvSpPr txBox="1"/>
          <p:nvPr/>
        </p:nvSpPr>
        <p:spPr>
          <a:xfrm>
            <a:off x="731520" y="4206240"/>
            <a:ext cx="10515600" cy="502920"/>
          </a:xfrm>
          <a:prstGeom prst="rect">
            <a:avLst/>
          </a:prstGeom>
          <a:noFill/>
        </p:spPr>
        <p:txBody>
          <a:bodyPr wrap="square">
            <a:spAutoFit/>
          </a:bodyPr>
          <a:lstStyle/>
          <a:p>
            <a:pPr algn="l"/>
            <a:r>
              <a:rPr sz="1500" b="1" i="0">
                <a:solidFill>
                  <a:srgbClr val="FFFFFF"/>
                </a:solidFill>
                <a:latin typeface="Arial"/>
              </a:rPr>
              <a:t>ProperFix is not a client success story. It is a working demonstration of what Devolution Labs deploys.</a:t>
            </a:r>
          </a:p>
        </p:txBody>
      </p:sp>
      <p:sp>
        <p:nvSpPr>
          <p:cNvPr id="7" name="Rectangle 6"/>
          <p:cNvSpPr/>
          <p:nvPr/>
        </p:nvSpPr>
        <p:spPr>
          <a:xfrm>
            <a:off x="731520" y="4846320"/>
            <a:ext cx="3566160" cy="14630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10912"/>
            <a:ext cx="3200400" cy="502920"/>
          </a:xfrm>
          <a:prstGeom prst="rect">
            <a:avLst/>
          </a:prstGeom>
          <a:noFill/>
        </p:spPr>
        <p:txBody>
          <a:bodyPr wrap="square">
            <a:spAutoFit/>
          </a:bodyPr>
          <a:lstStyle/>
          <a:p>
            <a:pPr algn="l"/>
            <a:r>
              <a:rPr sz="2800" b="1" i="0">
                <a:solidFill>
                  <a:srgbClr val="22D3EE"/>
                </a:solidFill>
                <a:latin typeface="Arial"/>
              </a:rPr>
              <a:t>$800K+</a:t>
            </a:r>
          </a:p>
        </p:txBody>
      </p:sp>
      <p:sp>
        <p:nvSpPr>
          <p:cNvPr id="9" name="TextBox 8"/>
          <p:cNvSpPr txBox="1"/>
          <p:nvPr/>
        </p:nvSpPr>
        <p:spPr>
          <a:xfrm>
            <a:off x="914400" y="5559552"/>
            <a:ext cx="3200400" cy="274320"/>
          </a:xfrm>
          <a:prstGeom prst="rect">
            <a:avLst/>
          </a:prstGeom>
          <a:noFill/>
        </p:spPr>
        <p:txBody>
          <a:bodyPr wrap="square">
            <a:spAutoFit/>
          </a:bodyPr>
          <a:lstStyle/>
          <a:p>
            <a:pPr algn="l"/>
            <a:r>
              <a:rPr sz="1300" b="1" i="0">
                <a:solidFill>
                  <a:srgbClr val="FFFFFF"/>
                </a:solidFill>
                <a:latin typeface="Arial"/>
              </a:rPr>
              <a:t>Min. Property Value</a:t>
            </a:r>
          </a:p>
        </p:txBody>
      </p:sp>
      <p:sp>
        <p:nvSpPr>
          <p:cNvPr id="10" name="TextBox 9"/>
          <p:cNvSpPr txBox="1"/>
          <p:nvPr/>
        </p:nvSpPr>
        <p:spPr>
          <a:xfrm>
            <a:off x="914400" y="5870448"/>
            <a:ext cx="3200400" cy="320040"/>
          </a:xfrm>
          <a:prstGeom prst="rect">
            <a:avLst/>
          </a:prstGeom>
          <a:noFill/>
        </p:spPr>
        <p:txBody>
          <a:bodyPr wrap="square">
            <a:spAutoFit/>
          </a:bodyPr>
          <a:lstStyle/>
          <a:p>
            <a:pPr algn="l"/>
            <a:r>
              <a:rPr sz="1100" b="0" i="0">
                <a:solidFill>
                  <a:srgbClr val="737373"/>
                </a:solidFill>
                <a:latin typeface="Arial"/>
              </a:rPr>
              <a:t>North Shore Long Island luxury estate market</a:t>
            </a:r>
          </a:p>
        </p:txBody>
      </p:sp>
      <p:sp>
        <p:nvSpPr>
          <p:cNvPr id="11" name="Rectangle 10"/>
          <p:cNvSpPr/>
          <p:nvPr/>
        </p:nvSpPr>
        <p:spPr>
          <a:xfrm>
            <a:off x="4526280" y="4846320"/>
            <a:ext cx="3566160" cy="14630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5010912"/>
            <a:ext cx="3200400" cy="502920"/>
          </a:xfrm>
          <a:prstGeom prst="rect">
            <a:avLst/>
          </a:prstGeom>
          <a:noFill/>
        </p:spPr>
        <p:txBody>
          <a:bodyPr wrap="square">
            <a:spAutoFit/>
          </a:bodyPr>
          <a:lstStyle/>
          <a:p>
            <a:pPr algn="l"/>
            <a:r>
              <a:rPr sz="2800" b="1" i="0">
                <a:solidFill>
                  <a:srgbClr val="22D3EE"/>
                </a:solidFill>
                <a:latin typeface="Arial"/>
              </a:rPr>
              <a:t>Full Stack</a:t>
            </a:r>
          </a:p>
        </p:txBody>
      </p:sp>
      <p:sp>
        <p:nvSpPr>
          <p:cNvPr id="13" name="TextBox 12"/>
          <p:cNvSpPr txBox="1"/>
          <p:nvPr/>
        </p:nvSpPr>
        <p:spPr>
          <a:xfrm>
            <a:off x="4709160" y="5559552"/>
            <a:ext cx="3200400" cy="274320"/>
          </a:xfrm>
          <a:prstGeom prst="rect">
            <a:avLst/>
          </a:prstGeom>
          <a:noFill/>
        </p:spPr>
        <p:txBody>
          <a:bodyPr wrap="square">
            <a:spAutoFit/>
          </a:bodyPr>
          <a:lstStyle/>
          <a:p>
            <a:pPr algn="l"/>
            <a:r>
              <a:rPr sz="1300" b="1" i="0">
                <a:solidFill>
                  <a:srgbClr val="FFFFFF"/>
                </a:solidFill>
                <a:latin typeface="Arial"/>
              </a:rPr>
              <a:t>Built by DL</a:t>
            </a:r>
          </a:p>
        </p:txBody>
      </p:sp>
      <p:sp>
        <p:nvSpPr>
          <p:cNvPr id="14" name="TextBox 13"/>
          <p:cNvSpPr txBox="1"/>
          <p:nvPr/>
        </p:nvSpPr>
        <p:spPr>
          <a:xfrm>
            <a:off x="4709160" y="5870448"/>
            <a:ext cx="3200400" cy="320040"/>
          </a:xfrm>
          <a:prstGeom prst="rect">
            <a:avLst/>
          </a:prstGeom>
          <a:noFill/>
        </p:spPr>
        <p:txBody>
          <a:bodyPr wrap="square">
            <a:spAutoFit/>
          </a:bodyPr>
          <a:lstStyle/>
          <a:p>
            <a:pPr algn="l"/>
            <a:r>
              <a:rPr sz="1100" b="0" i="0">
                <a:solidFill>
                  <a:srgbClr val="737373"/>
                </a:solidFill>
                <a:latin typeface="Arial"/>
              </a:rPr>
              <a:t>Brand, site, ops, billing, AI agents — all in-house</a:t>
            </a:r>
          </a:p>
        </p:txBody>
      </p:sp>
      <p:sp>
        <p:nvSpPr>
          <p:cNvPr id="15" name="Rectangle 14"/>
          <p:cNvSpPr/>
          <p:nvPr/>
        </p:nvSpPr>
        <p:spPr>
          <a:xfrm>
            <a:off x="8321040" y="4846320"/>
            <a:ext cx="3566160" cy="14630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5010912"/>
            <a:ext cx="3200400" cy="502920"/>
          </a:xfrm>
          <a:prstGeom prst="rect">
            <a:avLst/>
          </a:prstGeom>
          <a:noFill/>
        </p:spPr>
        <p:txBody>
          <a:bodyPr wrap="square">
            <a:spAutoFit/>
          </a:bodyPr>
          <a:lstStyle/>
          <a:p>
            <a:pPr algn="l"/>
            <a:r>
              <a:rPr sz="2800" b="1" i="0">
                <a:solidFill>
                  <a:srgbClr val="22D3EE"/>
                </a:solidFill>
                <a:latin typeface="Arial"/>
              </a:rPr>
              <a:t>Live</a:t>
            </a:r>
          </a:p>
        </p:txBody>
      </p:sp>
      <p:sp>
        <p:nvSpPr>
          <p:cNvPr id="17" name="TextBox 16"/>
          <p:cNvSpPr txBox="1"/>
          <p:nvPr/>
        </p:nvSpPr>
        <p:spPr>
          <a:xfrm>
            <a:off x="8503920" y="5559552"/>
            <a:ext cx="3200400" cy="274320"/>
          </a:xfrm>
          <a:prstGeom prst="rect">
            <a:avLst/>
          </a:prstGeom>
          <a:noFill/>
        </p:spPr>
        <p:txBody>
          <a:bodyPr wrap="square">
            <a:spAutoFit/>
          </a:bodyPr>
          <a:lstStyle/>
          <a:p>
            <a:pPr algn="l"/>
            <a:r>
              <a:rPr sz="1300" b="1" i="0">
                <a:solidFill>
                  <a:srgbClr val="FFFFFF"/>
                </a:solidFill>
                <a:latin typeface="Arial"/>
              </a:rPr>
              <a:t>Operating Today</a:t>
            </a:r>
          </a:p>
        </p:txBody>
      </p:sp>
      <p:sp>
        <p:nvSpPr>
          <p:cNvPr id="18" name="TextBox 17"/>
          <p:cNvSpPr txBox="1"/>
          <p:nvPr/>
        </p:nvSpPr>
        <p:spPr>
          <a:xfrm>
            <a:off x="8503920" y="5870448"/>
            <a:ext cx="3200400" cy="320040"/>
          </a:xfrm>
          <a:prstGeom prst="rect">
            <a:avLst/>
          </a:prstGeom>
          <a:noFill/>
        </p:spPr>
        <p:txBody>
          <a:bodyPr wrap="square">
            <a:spAutoFit/>
          </a:bodyPr>
          <a:lstStyle/>
          <a:p>
            <a:pPr algn="l"/>
            <a:r>
              <a:rPr sz="1100" b="0" i="0">
                <a:solidFill>
                  <a:srgbClr val="737373"/>
                </a:solidFill>
                <a:latin typeface="Arial"/>
              </a:rPr>
              <a:t>Real clients. Real revenue. Real AI workforce running.</a:t>
            </a:r>
          </a:p>
        </p:txBody>
      </p:sp>
      <p:sp>
        <p:nvSpPr>
          <p:cNvPr id="19" name="TextBox 18"/>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WHAT DEVOLUTION LABS BUILT FOR PROPERFIX</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layer.</a:t>
            </a:r>
          </a:p>
          <a:p>
            <a:r>
              <a:rPr sz="3800" b="1">
                <a:solidFill>
                  <a:srgbClr val="22D3EE"/>
                </a:solidFill>
                <a:latin typeface="Arial"/>
              </a:rPr>
              <a:t>From brand to back office.</a:t>
            </a:r>
          </a:p>
        </p:txBody>
      </p:sp>
      <p:sp>
        <p:nvSpPr>
          <p:cNvPr id="4" name="Rectangle 3"/>
          <p:cNvSpPr/>
          <p:nvPr/>
        </p:nvSpPr>
        <p:spPr>
          <a:xfrm>
            <a:off x="73152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BUILT BY DEVOLUTION LABS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Brand and Identity</a:t>
            </a:r>
          </a:p>
        </p:txBody>
      </p:sp>
      <p:sp>
        <p:nvSpPr>
          <p:cNvPr id="8" name="TextBox 7"/>
          <p:cNvSpPr txBox="1"/>
          <p:nvPr/>
        </p:nvSpPr>
        <p:spPr>
          <a:xfrm>
            <a:off x="868680" y="3383280"/>
            <a:ext cx="3474720" cy="621792"/>
          </a:xfrm>
          <a:prstGeom prst="rect">
            <a:avLst/>
          </a:prstGeom>
          <a:noFill/>
        </p:spPr>
        <p:txBody>
          <a:bodyPr wrap="square">
            <a:spAutoFit/>
          </a:bodyPr>
          <a:lstStyle/>
          <a:p>
            <a:pPr algn="l"/>
            <a:r>
              <a:rPr sz="1100" b="0" i="0">
                <a:solidFill>
                  <a:srgbClr val="737373"/>
                </a:solidFill>
                <a:latin typeface="Arial"/>
              </a:rPr>
              <a:t>Company name, visual identity, brand voice, and positioning. Designed for the Long Island luxury homeowner market. Every element built from scratch by Devolution Labs.</a:t>
            </a:r>
          </a:p>
        </p:txBody>
      </p:sp>
      <p:sp>
        <p:nvSpPr>
          <p:cNvPr id="9" name="Rectangle 8"/>
          <p:cNvSpPr/>
          <p:nvPr/>
        </p:nvSpPr>
        <p:spPr>
          <a:xfrm>
            <a:off x="452628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BUILT BY DEVOLUTION LABS</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Website and Digital Presence</a:t>
            </a:r>
          </a:p>
        </p:txBody>
      </p:sp>
      <p:sp>
        <p:nvSpPr>
          <p:cNvPr id="13" name="TextBox 12"/>
          <p:cNvSpPr txBox="1"/>
          <p:nvPr/>
        </p:nvSpPr>
        <p:spPr>
          <a:xfrm>
            <a:off x="4663440" y="3383280"/>
            <a:ext cx="3474720" cy="621792"/>
          </a:xfrm>
          <a:prstGeom prst="rect">
            <a:avLst/>
          </a:prstGeom>
          <a:noFill/>
        </p:spPr>
        <p:txBody>
          <a:bodyPr wrap="square">
            <a:spAutoFit/>
          </a:bodyPr>
          <a:lstStyle/>
          <a:p>
            <a:pPr algn="l"/>
            <a:r>
              <a:rPr sz="1100" b="0" i="0">
                <a:solidFill>
                  <a:srgbClr val="737373"/>
                </a:solidFill>
                <a:latin typeface="Arial"/>
              </a:rPr>
              <a:t>Full React and TypeScript web application. Mobile-responsive. SEO-optimized. AI chat widget. Lead capture. Service pricing. Client portal. Deployed and maintained by Devolution Labs.</a:t>
            </a:r>
          </a:p>
        </p:txBody>
      </p:sp>
      <p:sp>
        <p:nvSpPr>
          <p:cNvPr id="14" name="Rectangle 13"/>
          <p:cNvSpPr/>
          <p:nvPr/>
        </p:nvSpPr>
        <p:spPr>
          <a:xfrm>
            <a:off x="832104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474720" cy="228600"/>
          </a:xfrm>
          <a:prstGeom prst="rect">
            <a:avLst/>
          </a:prstGeom>
          <a:noFill/>
        </p:spPr>
        <p:txBody>
          <a:bodyPr wrap="square">
            <a:spAutoFit/>
          </a:bodyPr>
          <a:lstStyle/>
          <a:p>
            <a:pPr algn="l"/>
            <a:r>
              <a:rPr sz="900" b="1" i="0">
                <a:solidFill>
                  <a:srgbClr val="3B82F6"/>
                </a:solidFill>
                <a:latin typeface="Arial"/>
              </a:rPr>
              <a:t>BUILT BY DEVOLUTION LABS</a:t>
            </a:r>
          </a:p>
        </p:txBody>
      </p:sp>
      <p:sp>
        <p:nvSpPr>
          <p:cNvPr id="17" name="TextBox 16"/>
          <p:cNvSpPr txBox="1"/>
          <p:nvPr/>
        </p:nvSpPr>
        <p:spPr>
          <a:xfrm>
            <a:off x="8458200" y="2980944"/>
            <a:ext cx="3474720" cy="347472"/>
          </a:xfrm>
          <a:prstGeom prst="rect">
            <a:avLst/>
          </a:prstGeom>
          <a:noFill/>
        </p:spPr>
        <p:txBody>
          <a:bodyPr wrap="square">
            <a:spAutoFit/>
          </a:bodyPr>
          <a:lstStyle/>
          <a:p>
            <a:pPr algn="l"/>
            <a:r>
              <a:rPr sz="1300" b="1" i="0">
                <a:solidFill>
                  <a:srgbClr val="FFFFFF"/>
                </a:solidFill>
                <a:latin typeface="Arial"/>
              </a:rPr>
              <a:t>Operations Platform</a:t>
            </a:r>
          </a:p>
        </p:txBody>
      </p:sp>
      <p:sp>
        <p:nvSpPr>
          <p:cNvPr id="18" name="TextBox 17"/>
          <p:cNvSpPr txBox="1"/>
          <p:nvPr/>
        </p:nvSpPr>
        <p:spPr>
          <a:xfrm>
            <a:off x="8458200" y="3383280"/>
            <a:ext cx="3474720" cy="621792"/>
          </a:xfrm>
          <a:prstGeom prst="rect">
            <a:avLst/>
          </a:prstGeom>
          <a:noFill/>
        </p:spPr>
        <p:txBody>
          <a:bodyPr wrap="square">
            <a:spAutoFit/>
          </a:bodyPr>
          <a:lstStyle/>
          <a:p>
            <a:pPr algn="l"/>
            <a:r>
              <a:rPr sz="1100" b="0" i="0">
                <a:solidFill>
                  <a:srgbClr val="737373"/>
                </a:solidFill>
                <a:latin typeface="Arial"/>
              </a:rPr>
              <a:t>Work order management, vendor coordination, job scheduling, client communications, and service delivery tracking — all built on a custom Supabase backend.</a:t>
            </a:r>
          </a:p>
        </p:txBody>
      </p:sp>
      <p:sp>
        <p:nvSpPr>
          <p:cNvPr id="19" name="Rectangle 18"/>
          <p:cNvSpPr/>
          <p:nvPr/>
        </p:nvSpPr>
        <p:spPr>
          <a:xfrm>
            <a:off x="73152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20624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97680"/>
            <a:ext cx="3474720" cy="228600"/>
          </a:xfrm>
          <a:prstGeom prst="rect">
            <a:avLst/>
          </a:prstGeom>
          <a:noFill/>
        </p:spPr>
        <p:txBody>
          <a:bodyPr wrap="square">
            <a:spAutoFit/>
          </a:bodyPr>
          <a:lstStyle/>
          <a:p>
            <a:pPr algn="l"/>
            <a:r>
              <a:rPr sz="900" b="1" i="0">
                <a:solidFill>
                  <a:srgbClr val="10B981"/>
                </a:solidFill>
                <a:latin typeface="Arial"/>
              </a:rPr>
              <a:t>BUILT BY DEVOLUTION LABS</a:t>
            </a:r>
          </a:p>
        </p:txBody>
      </p:sp>
      <p:sp>
        <p:nvSpPr>
          <p:cNvPr id="22" name="TextBox 21"/>
          <p:cNvSpPr txBox="1"/>
          <p:nvPr/>
        </p:nvSpPr>
        <p:spPr>
          <a:xfrm>
            <a:off x="868680" y="4553712"/>
            <a:ext cx="3474720" cy="347472"/>
          </a:xfrm>
          <a:prstGeom prst="rect">
            <a:avLst/>
          </a:prstGeom>
          <a:noFill/>
        </p:spPr>
        <p:txBody>
          <a:bodyPr wrap="square">
            <a:spAutoFit/>
          </a:bodyPr>
          <a:lstStyle/>
          <a:p>
            <a:pPr algn="l"/>
            <a:r>
              <a:rPr sz="1300" b="1" i="0">
                <a:solidFill>
                  <a:srgbClr val="FFFFFF"/>
                </a:solidFill>
                <a:latin typeface="Arial"/>
              </a:rPr>
              <a:t>Billing and Finance System</a:t>
            </a:r>
          </a:p>
        </p:txBody>
      </p:sp>
      <p:sp>
        <p:nvSpPr>
          <p:cNvPr id="23" name="TextBox 22"/>
          <p:cNvSpPr txBox="1"/>
          <p:nvPr/>
        </p:nvSpPr>
        <p:spPr>
          <a:xfrm>
            <a:off x="868680" y="4956048"/>
            <a:ext cx="3474720" cy="621792"/>
          </a:xfrm>
          <a:prstGeom prst="rect">
            <a:avLst/>
          </a:prstGeom>
          <a:noFill/>
        </p:spPr>
        <p:txBody>
          <a:bodyPr wrap="square">
            <a:spAutoFit/>
          </a:bodyPr>
          <a:lstStyle/>
          <a:p>
            <a:pPr algn="l"/>
            <a:r>
              <a:rPr sz="1100" b="0" i="0">
                <a:solidFill>
                  <a:srgbClr val="737373"/>
                </a:solidFill>
                <a:latin typeface="Arial"/>
              </a:rPr>
              <a:t>Quote-to-invoice platform, vendor billing, payment tracking, margin analysis, and financial reporting. Built and integrated end to end.</a:t>
            </a:r>
          </a:p>
        </p:txBody>
      </p:sp>
      <p:sp>
        <p:nvSpPr>
          <p:cNvPr id="24" name="Rectangle 23"/>
          <p:cNvSpPr/>
          <p:nvPr/>
        </p:nvSpPr>
        <p:spPr>
          <a:xfrm>
            <a:off x="452628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20624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297680"/>
            <a:ext cx="3474720" cy="228600"/>
          </a:xfrm>
          <a:prstGeom prst="rect">
            <a:avLst/>
          </a:prstGeom>
          <a:noFill/>
        </p:spPr>
        <p:txBody>
          <a:bodyPr wrap="square">
            <a:spAutoFit/>
          </a:bodyPr>
          <a:lstStyle/>
          <a:p>
            <a:pPr algn="l"/>
            <a:r>
              <a:rPr sz="900" b="1" i="0">
                <a:solidFill>
                  <a:srgbClr val="F59E0B"/>
                </a:solidFill>
                <a:latin typeface="Arial"/>
              </a:rPr>
              <a:t>BUILT BY DEVOLUTION LABS</a:t>
            </a:r>
          </a:p>
        </p:txBody>
      </p:sp>
      <p:sp>
        <p:nvSpPr>
          <p:cNvPr id="27" name="TextBox 26"/>
          <p:cNvSpPr txBox="1"/>
          <p:nvPr/>
        </p:nvSpPr>
        <p:spPr>
          <a:xfrm>
            <a:off x="4663440" y="4553712"/>
            <a:ext cx="3474720" cy="347472"/>
          </a:xfrm>
          <a:prstGeom prst="rect">
            <a:avLst/>
          </a:prstGeom>
          <a:noFill/>
        </p:spPr>
        <p:txBody>
          <a:bodyPr wrap="square">
            <a:spAutoFit/>
          </a:bodyPr>
          <a:lstStyle/>
          <a:p>
            <a:pPr algn="l"/>
            <a:r>
              <a:rPr sz="1300" b="1" i="0">
                <a:solidFill>
                  <a:srgbClr val="FFFFFF"/>
                </a:solidFill>
                <a:latin typeface="Arial"/>
              </a:rPr>
              <a:t>AI Agent Workforce</a:t>
            </a:r>
          </a:p>
        </p:txBody>
      </p:sp>
      <p:sp>
        <p:nvSpPr>
          <p:cNvPr id="28" name="TextBox 27"/>
          <p:cNvSpPr txBox="1"/>
          <p:nvPr/>
        </p:nvSpPr>
        <p:spPr>
          <a:xfrm>
            <a:off x="4663440" y="4956048"/>
            <a:ext cx="3474720" cy="621792"/>
          </a:xfrm>
          <a:prstGeom prst="rect">
            <a:avLst/>
          </a:prstGeom>
          <a:noFill/>
        </p:spPr>
        <p:txBody>
          <a:bodyPr wrap="square">
            <a:spAutoFit/>
          </a:bodyPr>
          <a:lstStyle/>
          <a:p>
            <a:pPr algn="l"/>
            <a:r>
              <a:rPr sz="1100" b="0" i="0">
                <a:solidFill>
                  <a:srgbClr val="737373"/>
                </a:solidFill>
                <a:latin typeface="Arial"/>
              </a:rPr>
              <a:t>Lead response agents, service scheduling agents, vendor coordination agents, client retention agents, and reporting agents — all running inside ProperFix's infrastructure 24/7.</a:t>
            </a:r>
          </a:p>
        </p:txBody>
      </p:sp>
      <p:sp>
        <p:nvSpPr>
          <p:cNvPr id="29" name="Rectangle 28"/>
          <p:cNvSpPr/>
          <p:nvPr/>
        </p:nvSpPr>
        <p:spPr>
          <a:xfrm>
            <a:off x="832104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206240"/>
            <a:ext cx="3657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297680"/>
            <a:ext cx="3474720" cy="228600"/>
          </a:xfrm>
          <a:prstGeom prst="rect">
            <a:avLst/>
          </a:prstGeom>
          <a:noFill/>
        </p:spPr>
        <p:txBody>
          <a:bodyPr wrap="square">
            <a:spAutoFit/>
          </a:bodyPr>
          <a:lstStyle/>
          <a:p>
            <a:pPr algn="l"/>
            <a:r>
              <a:rPr sz="900" b="1" i="0">
                <a:solidFill>
                  <a:srgbClr val="EF4444"/>
                </a:solidFill>
                <a:latin typeface="Arial"/>
              </a:rPr>
              <a:t>BUILT BY DEVOLUTION LABS</a:t>
            </a:r>
          </a:p>
        </p:txBody>
      </p:sp>
      <p:sp>
        <p:nvSpPr>
          <p:cNvPr id="32" name="TextBox 31"/>
          <p:cNvSpPr txBox="1"/>
          <p:nvPr/>
        </p:nvSpPr>
        <p:spPr>
          <a:xfrm>
            <a:off x="8458200" y="4553712"/>
            <a:ext cx="3474720" cy="347472"/>
          </a:xfrm>
          <a:prstGeom prst="rect">
            <a:avLst/>
          </a:prstGeom>
          <a:noFill/>
        </p:spPr>
        <p:txBody>
          <a:bodyPr wrap="square">
            <a:spAutoFit/>
          </a:bodyPr>
          <a:lstStyle/>
          <a:p>
            <a:pPr algn="l"/>
            <a:r>
              <a:rPr sz="1300" b="1" i="0">
                <a:solidFill>
                  <a:srgbClr val="FFFFFF"/>
                </a:solidFill>
                <a:latin typeface="Arial"/>
              </a:rPr>
              <a:t>Data and Intelligence Layer</a:t>
            </a:r>
          </a:p>
        </p:txBody>
      </p:sp>
      <p:sp>
        <p:nvSpPr>
          <p:cNvPr id="33" name="TextBox 32"/>
          <p:cNvSpPr txBox="1"/>
          <p:nvPr/>
        </p:nvSpPr>
        <p:spPr>
          <a:xfrm>
            <a:off x="8458200" y="4956048"/>
            <a:ext cx="3474720" cy="621792"/>
          </a:xfrm>
          <a:prstGeom prst="rect">
            <a:avLst/>
          </a:prstGeom>
          <a:noFill/>
        </p:spPr>
        <p:txBody>
          <a:bodyPr wrap="square">
            <a:spAutoFit/>
          </a:bodyPr>
          <a:lstStyle/>
          <a:p>
            <a:pPr algn="l"/>
            <a:r>
              <a:rPr sz="1100" b="0" i="0">
                <a:solidFill>
                  <a:srgbClr val="737373"/>
                </a:solidFill>
                <a:latin typeface="Arial"/>
              </a:rPr>
              <a:t>All client data, service history, vendor performance, and financial data ingested and available to every agent. The AI workforce improves as the data accumulates.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RUNNING PROPERFIX TODAY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Real agents.</a:t>
            </a:r>
          </a:p>
          <a:p>
            <a:r>
              <a:rPr sz="3800" b="1">
                <a:solidFill>
                  <a:srgbClr val="22D3EE"/>
                </a:solidFill>
                <a:latin typeface="Arial"/>
              </a:rPr>
              <a:t>Running a real business right now.</a:t>
            </a:r>
          </a:p>
        </p:txBody>
      </p:sp>
      <p:sp>
        <p:nvSpPr>
          <p:cNvPr id="4" name="Rectangle 3"/>
          <p:cNvSpPr/>
          <p:nvPr/>
        </p:nvSpPr>
        <p:spPr>
          <a:xfrm>
            <a:off x="73152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AGENT</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Lead Response Agent</a:t>
            </a:r>
          </a:p>
        </p:txBody>
      </p:sp>
      <p:sp>
        <p:nvSpPr>
          <p:cNvPr id="8" name="TextBox 7"/>
          <p:cNvSpPr txBox="1"/>
          <p:nvPr/>
        </p:nvSpPr>
        <p:spPr>
          <a:xfrm>
            <a:off x="868680" y="3383280"/>
            <a:ext cx="3474720" cy="621792"/>
          </a:xfrm>
          <a:prstGeom prst="rect">
            <a:avLst/>
          </a:prstGeom>
          <a:noFill/>
        </p:spPr>
        <p:txBody>
          <a:bodyPr wrap="square">
            <a:spAutoFit/>
          </a:bodyPr>
          <a:lstStyle/>
          <a:p>
            <a:pPr algn="l"/>
            <a:r>
              <a:rPr sz="1100" b="0" i="0">
                <a:solidFill>
                  <a:srgbClr val="737373"/>
                </a:solidFill>
                <a:latin typeface="Arial"/>
              </a:rPr>
              <a:t>Every inbound inquiry from the ProperFix website, Google, and referral sources receives an immediate personalized response within seconds. Qualifies the prospect and routes to a human for close.</a:t>
            </a:r>
          </a:p>
        </p:txBody>
      </p:sp>
      <p:sp>
        <p:nvSpPr>
          <p:cNvPr id="9" name="Rectangle 8"/>
          <p:cNvSpPr/>
          <p:nvPr/>
        </p:nvSpPr>
        <p:spPr>
          <a:xfrm>
            <a:off x="452628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AGENT</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Service Scheduling Agent</a:t>
            </a:r>
          </a:p>
        </p:txBody>
      </p:sp>
      <p:sp>
        <p:nvSpPr>
          <p:cNvPr id="13" name="TextBox 12"/>
          <p:cNvSpPr txBox="1"/>
          <p:nvPr/>
        </p:nvSpPr>
        <p:spPr>
          <a:xfrm>
            <a:off x="4663440" y="3383280"/>
            <a:ext cx="3474720" cy="621792"/>
          </a:xfrm>
          <a:prstGeom prst="rect">
            <a:avLst/>
          </a:prstGeom>
          <a:noFill/>
        </p:spPr>
        <p:txBody>
          <a:bodyPr wrap="square">
            <a:spAutoFit/>
          </a:bodyPr>
          <a:lstStyle/>
          <a:p>
            <a:pPr algn="l"/>
            <a:r>
              <a:rPr sz="1100" b="0" i="0">
                <a:solidFill>
                  <a:srgbClr val="737373"/>
                </a:solidFill>
                <a:latin typeface="Arial"/>
              </a:rPr>
              <a:t>Books, confirms, and manages all service appointments. Sends reminders to clients and vendors. Handles reschedules automatically. The service lane stays full without a coordinator.</a:t>
            </a:r>
          </a:p>
        </p:txBody>
      </p:sp>
      <p:sp>
        <p:nvSpPr>
          <p:cNvPr id="14" name="Rectangle 13"/>
          <p:cNvSpPr/>
          <p:nvPr/>
        </p:nvSpPr>
        <p:spPr>
          <a:xfrm>
            <a:off x="8321040" y="2633472"/>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474720" cy="228600"/>
          </a:xfrm>
          <a:prstGeom prst="rect">
            <a:avLst/>
          </a:prstGeom>
          <a:noFill/>
        </p:spPr>
        <p:txBody>
          <a:bodyPr wrap="square">
            <a:spAutoFit/>
          </a:bodyPr>
          <a:lstStyle/>
          <a:p>
            <a:pPr algn="l"/>
            <a:r>
              <a:rPr sz="900" b="1" i="0">
                <a:solidFill>
                  <a:srgbClr val="3B82F6"/>
                </a:solidFill>
                <a:latin typeface="Arial"/>
              </a:rPr>
              <a:t>AGENT</a:t>
            </a:r>
          </a:p>
        </p:txBody>
      </p:sp>
      <p:sp>
        <p:nvSpPr>
          <p:cNvPr id="17" name="TextBox 16"/>
          <p:cNvSpPr txBox="1"/>
          <p:nvPr/>
        </p:nvSpPr>
        <p:spPr>
          <a:xfrm>
            <a:off x="8458200" y="2980944"/>
            <a:ext cx="3474720" cy="347472"/>
          </a:xfrm>
          <a:prstGeom prst="rect">
            <a:avLst/>
          </a:prstGeom>
          <a:noFill/>
        </p:spPr>
        <p:txBody>
          <a:bodyPr wrap="square">
            <a:spAutoFit/>
          </a:bodyPr>
          <a:lstStyle/>
          <a:p>
            <a:pPr algn="l"/>
            <a:r>
              <a:rPr sz="1300" b="1" i="0">
                <a:solidFill>
                  <a:srgbClr val="FFFFFF"/>
                </a:solidFill>
                <a:latin typeface="Arial"/>
              </a:rPr>
              <a:t>Vendor Coordination Agent</a:t>
            </a:r>
          </a:p>
        </p:txBody>
      </p:sp>
      <p:sp>
        <p:nvSpPr>
          <p:cNvPr id="18" name="TextBox 17"/>
          <p:cNvSpPr txBox="1"/>
          <p:nvPr/>
        </p:nvSpPr>
        <p:spPr>
          <a:xfrm>
            <a:off x="8458200" y="3383280"/>
            <a:ext cx="3474720" cy="621792"/>
          </a:xfrm>
          <a:prstGeom prst="rect">
            <a:avLst/>
          </a:prstGeom>
          <a:noFill/>
        </p:spPr>
        <p:txBody>
          <a:bodyPr wrap="square">
            <a:spAutoFit/>
          </a:bodyPr>
          <a:lstStyle/>
          <a:p>
            <a:pPr algn="l"/>
            <a:r>
              <a:rPr sz="1100" b="0" i="0">
                <a:solidFill>
                  <a:srgbClr val="737373"/>
                </a:solidFill>
                <a:latin typeface="Arial"/>
              </a:rPr>
              <a:t>Manages vendor assignments, work orders, completion confirmations, and follow-up. Every vendor interaction is tracked, logged, and escalated if SLAs are not met.</a:t>
            </a:r>
          </a:p>
        </p:txBody>
      </p:sp>
      <p:sp>
        <p:nvSpPr>
          <p:cNvPr id="19" name="Rectangle 18"/>
          <p:cNvSpPr/>
          <p:nvPr/>
        </p:nvSpPr>
        <p:spPr>
          <a:xfrm>
            <a:off x="73152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20624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97680"/>
            <a:ext cx="3474720" cy="228600"/>
          </a:xfrm>
          <a:prstGeom prst="rect">
            <a:avLst/>
          </a:prstGeom>
          <a:noFill/>
        </p:spPr>
        <p:txBody>
          <a:bodyPr wrap="square">
            <a:spAutoFit/>
          </a:bodyPr>
          <a:lstStyle/>
          <a:p>
            <a:pPr algn="l"/>
            <a:r>
              <a:rPr sz="900" b="1" i="0">
                <a:solidFill>
                  <a:srgbClr val="10B981"/>
                </a:solidFill>
                <a:latin typeface="Arial"/>
              </a:rPr>
              <a:t>AGENT</a:t>
            </a:r>
          </a:p>
        </p:txBody>
      </p:sp>
      <p:sp>
        <p:nvSpPr>
          <p:cNvPr id="22" name="TextBox 21"/>
          <p:cNvSpPr txBox="1"/>
          <p:nvPr/>
        </p:nvSpPr>
        <p:spPr>
          <a:xfrm>
            <a:off x="868680" y="4553712"/>
            <a:ext cx="3474720" cy="347472"/>
          </a:xfrm>
          <a:prstGeom prst="rect">
            <a:avLst/>
          </a:prstGeom>
          <a:noFill/>
        </p:spPr>
        <p:txBody>
          <a:bodyPr wrap="square">
            <a:spAutoFit/>
          </a:bodyPr>
          <a:lstStyle/>
          <a:p>
            <a:pPr algn="l"/>
            <a:r>
              <a:rPr sz="1300" b="1" i="0">
                <a:solidFill>
                  <a:srgbClr val="FFFFFF"/>
                </a:solidFill>
                <a:latin typeface="Arial"/>
              </a:rPr>
              <a:t>Client Retention Agent</a:t>
            </a:r>
          </a:p>
        </p:txBody>
      </p:sp>
      <p:sp>
        <p:nvSpPr>
          <p:cNvPr id="23" name="TextBox 22"/>
          <p:cNvSpPr txBox="1"/>
          <p:nvPr/>
        </p:nvSpPr>
        <p:spPr>
          <a:xfrm>
            <a:off x="868680" y="4956048"/>
            <a:ext cx="3474720" cy="621792"/>
          </a:xfrm>
          <a:prstGeom prst="rect">
            <a:avLst/>
          </a:prstGeom>
          <a:noFill/>
        </p:spPr>
        <p:txBody>
          <a:bodyPr wrap="square">
            <a:spAutoFit/>
          </a:bodyPr>
          <a:lstStyle/>
          <a:p>
            <a:pPr algn="l"/>
            <a:r>
              <a:rPr sz="1100" b="0" i="0">
                <a:solidFill>
                  <a:srgbClr val="737373"/>
                </a:solidFill>
                <a:latin typeface="Arial"/>
              </a:rPr>
              <a:t>Tracks every client relationship. Proactively reaches out before seasonal service windows, after service completion, and at contract renewal time. Zero clients fall through the cracks.</a:t>
            </a:r>
          </a:p>
        </p:txBody>
      </p:sp>
      <p:sp>
        <p:nvSpPr>
          <p:cNvPr id="24" name="Rectangle 23"/>
          <p:cNvSpPr/>
          <p:nvPr/>
        </p:nvSpPr>
        <p:spPr>
          <a:xfrm>
            <a:off x="452628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20624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297680"/>
            <a:ext cx="3474720" cy="228600"/>
          </a:xfrm>
          <a:prstGeom prst="rect">
            <a:avLst/>
          </a:prstGeom>
          <a:noFill/>
        </p:spPr>
        <p:txBody>
          <a:bodyPr wrap="square">
            <a:spAutoFit/>
          </a:bodyPr>
          <a:lstStyle/>
          <a:p>
            <a:pPr algn="l"/>
            <a:r>
              <a:rPr sz="900" b="1" i="0">
                <a:solidFill>
                  <a:srgbClr val="F59E0B"/>
                </a:solidFill>
                <a:latin typeface="Arial"/>
              </a:rPr>
              <a:t>AGENT</a:t>
            </a:r>
          </a:p>
        </p:txBody>
      </p:sp>
      <p:sp>
        <p:nvSpPr>
          <p:cNvPr id="27" name="TextBox 26"/>
          <p:cNvSpPr txBox="1"/>
          <p:nvPr/>
        </p:nvSpPr>
        <p:spPr>
          <a:xfrm>
            <a:off x="4663440" y="4553712"/>
            <a:ext cx="3474720" cy="347472"/>
          </a:xfrm>
          <a:prstGeom prst="rect">
            <a:avLst/>
          </a:prstGeom>
          <a:noFill/>
        </p:spPr>
        <p:txBody>
          <a:bodyPr wrap="square">
            <a:spAutoFit/>
          </a:bodyPr>
          <a:lstStyle/>
          <a:p>
            <a:pPr algn="l"/>
            <a:r>
              <a:rPr sz="1300" b="1" i="0">
                <a:solidFill>
                  <a:srgbClr val="FFFFFF"/>
                </a:solidFill>
                <a:latin typeface="Arial"/>
              </a:rPr>
              <a:t>Billing and Invoice Agent</a:t>
            </a:r>
          </a:p>
        </p:txBody>
      </p:sp>
      <p:sp>
        <p:nvSpPr>
          <p:cNvPr id="28" name="TextBox 27"/>
          <p:cNvSpPr txBox="1"/>
          <p:nvPr/>
        </p:nvSpPr>
        <p:spPr>
          <a:xfrm>
            <a:off x="4663440" y="4956048"/>
            <a:ext cx="3474720" cy="621792"/>
          </a:xfrm>
          <a:prstGeom prst="rect">
            <a:avLst/>
          </a:prstGeom>
          <a:noFill/>
        </p:spPr>
        <p:txBody>
          <a:bodyPr wrap="square">
            <a:spAutoFit/>
          </a:bodyPr>
          <a:lstStyle/>
          <a:p>
            <a:pPr algn="l"/>
            <a:r>
              <a:rPr sz="1100" b="0" i="0">
                <a:solidFill>
                  <a:srgbClr val="737373"/>
                </a:solidFill>
                <a:latin typeface="Arial"/>
              </a:rPr>
              <a:t>Generates invoices from completed work orders, tracks payment status, sends reminders, and flags overdue accounts. Finance runs without a bookkeeper in the loop for routine transactions.</a:t>
            </a:r>
          </a:p>
        </p:txBody>
      </p:sp>
      <p:sp>
        <p:nvSpPr>
          <p:cNvPr id="29" name="Rectangle 28"/>
          <p:cNvSpPr/>
          <p:nvPr/>
        </p:nvSpPr>
        <p:spPr>
          <a:xfrm>
            <a:off x="8321040" y="4206240"/>
            <a:ext cx="3657600" cy="144475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206240"/>
            <a:ext cx="3657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297680"/>
            <a:ext cx="3474720" cy="228600"/>
          </a:xfrm>
          <a:prstGeom prst="rect">
            <a:avLst/>
          </a:prstGeom>
          <a:noFill/>
        </p:spPr>
        <p:txBody>
          <a:bodyPr wrap="square">
            <a:spAutoFit/>
          </a:bodyPr>
          <a:lstStyle/>
          <a:p>
            <a:pPr algn="l"/>
            <a:r>
              <a:rPr sz="900" b="1" i="0">
                <a:solidFill>
                  <a:srgbClr val="EF4444"/>
                </a:solidFill>
                <a:latin typeface="Arial"/>
              </a:rPr>
              <a:t>AGENT</a:t>
            </a:r>
          </a:p>
        </p:txBody>
      </p:sp>
      <p:sp>
        <p:nvSpPr>
          <p:cNvPr id="32" name="TextBox 31"/>
          <p:cNvSpPr txBox="1"/>
          <p:nvPr/>
        </p:nvSpPr>
        <p:spPr>
          <a:xfrm>
            <a:off x="8458200" y="4553712"/>
            <a:ext cx="3474720" cy="347472"/>
          </a:xfrm>
          <a:prstGeom prst="rect">
            <a:avLst/>
          </a:prstGeom>
          <a:noFill/>
        </p:spPr>
        <p:txBody>
          <a:bodyPr wrap="square">
            <a:spAutoFit/>
          </a:bodyPr>
          <a:lstStyle/>
          <a:p>
            <a:pPr algn="l"/>
            <a:r>
              <a:rPr sz="1300" b="1" i="0">
                <a:solidFill>
                  <a:srgbClr val="FFFFFF"/>
                </a:solidFill>
                <a:latin typeface="Arial"/>
              </a:rPr>
              <a:t>Reporting Agent</a:t>
            </a:r>
          </a:p>
        </p:txBody>
      </p:sp>
      <p:sp>
        <p:nvSpPr>
          <p:cNvPr id="33" name="TextBox 32"/>
          <p:cNvSpPr txBox="1"/>
          <p:nvPr/>
        </p:nvSpPr>
        <p:spPr>
          <a:xfrm>
            <a:off x="8458200" y="4956048"/>
            <a:ext cx="3474720" cy="621792"/>
          </a:xfrm>
          <a:prstGeom prst="rect">
            <a:avLst/>
          </a:prstGeom>
          <a:noFill/>
        </p:spPr>
        <p:txBody>
          <a:bodyPr wrap="square">
            <a:spAutoFit/>
          </a:bodyPr>
          <a:lstStyle/>
          <a:p>
            <a:pPr algn="l"/>
            <a:r>
              <a:rPr sz="1100" b="0" i="0">
                <a:solidFill>
                  <a:srgbClr val="737373"/>
                </a:solidFill>
                <a:latin typeface="Arial"/>
              </a:rPr>
              <a:t>Delivers weekly operational summaries to management — leads received, jobs completed, revenue generated, vendor performance, and client satisfaction scores. No manual reporting required.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WHY THIS MATTERS TO YOU</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ProperFix is not a pitch deck.</a:t>
            </a:r>
          </a:p>
          <a:p>
            <a:r>
              <a:rPr sz="3800" b="1">
                <a:solidFill>
                  <a:srgbClr val="22D3EE"/>
                </a:solidFill>
                <a:latin typeface="Arial"/>
              </a:rPr>
              <a:t>It is a live working demo.</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097280"/>
          </a:xfrm>
          <a:prstGeom prst="rect">
            <a:avLst/>
          </a:prstGeom>
          <a:noFill/>
        </p:spPr>
        <p:txBody>
          <a:bodyPr wrap="square">
            <a:spAutoFit/>
          </a:bodyPr>
          <a:lstStyle/>
          <a:p>
            <a:pPr algn="l"/>
            <a:r>
              <a:rPr sz="1400" b="0" i="0">
                <a:solidFill>
                  <a:srgbClr val="737373"/>
                </a:solidFill>
                <a:latin typeface="Arial"/>
              </a:rPr>
              <a:t>Most companies that sell AI deployment cannot show you a live example of what they have actually built. They have case studies, testimonials, and slides. Devolution Labs has ProperFix — a fully operational business running right now on the exact same architecture we would deploy inside your organization.</a:t>
            </a:r>
          </a:p>
        </p:txBody>
      </p:sp>
      <p:sp>
        <p:nvSpPr>
          <p:cNvPr id="6" name="Rectangle 5"/>
          <p:cNvSpPr/>
          <p:nvPr/>
        </p:nvSpPr>
        <p:spPr>
          <a:xfrm>
            <a:off x="731520" y="3977639"/>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977639"/>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87367"/>
            <a:ext cx="4937760" cy="320040"/>
          </a:xfrm>
          <a:prstGeom prst="rect">
            <a:avLst/>
          </a:prstGeom>
          <a:noFill/>
        </p:spPr>
        <p:txBody>
          <a:bodyPr wrap="square">
            <a:spAutoFit/>
          </a:bodyPr>
          <a:lstStyle/>
          <a:p>
            <a:pPr algn="l"/>
            <a:r>
              <a:rPr sz="1400" b="1" i="0">
                <a:solidFill>
                  <a:srgbClr val="FFFFFF"/>
                </a:solidFill>
                <a:latin typeface="Arial"/>
              </a:rPr>
              <a:t>You can see it</a:t>
            </a:r>
          </a:p>
        </p:txBody>
      </p:sp>
      <p:sp>
        <p:nvSpPr>
          <p:cNvPr id="9" name="TextBox 8"/>
          <p:cNvSpPr txBox="1"/>
          <p:nvPr/>
        </p:nvSpPr>
        <p:spPr>
          <a:xfrm>
            <a:off x="914400" y="4480559"/>
            <a:ext cx="4937760" cy="804672"/>
          </a:xfrm>
          <a:prstGeom prst="rect">
            <a:avLst/>
          </a:prstGeom>
          <a:noFill/>
        </p:spPr>
        <p:txBody>
          <a:bodyPr wrap="square">
            <a:spAutoFit/>
          </a:bodyPr>
          <a:lstStyle/>
          <a:p>
            <a:pPr algn="l"/>
            <a:r>
              <a:rPr sz="1200" b="0" i="0">
                <a:solidFill>
                  <a:srgbClr val="737373"/>
                </a:solidFill>
                <a:latin typeface="Arial"/>
              </a:rPr>
              <a:t>ProperFix is live at proper-fix.com. Every feature, every agent, every workflow we have described is operational today. You are not being asked to trust a concept.</a:t>
            </a:r>
          </a:p>
        </p:txBody>
      </p:sp>
      <p:sp>
        <p:nvSpPr>
          <p:cNvPr id="10" name="Rectangle 9"/>
          <p:cNvSpPr/>
          <p:nvPr/>
        </p:nvSpPr>
        <p:spPr>
          <a:xfrm>
            <a:off x="6400800" y="3977639"/>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977639"/>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087367"/>
            <a:ext cx="4937760" cy="320040"/>
          </a:xfrm>
          <a:prstGeom prst="rect">
            <a:avLst/>
          </a:prstGeom>
          <a:noFill/>
        </p:spPr>
        <p:txBody>
          <a:bodyPr wrap="square">
            <a:spAutoFit/>
          </a:bodyPr>
          <a:lstStyle/>
          <a:p>
            <a:pPr algn="l"/>
            <a:r>
              <a:rPr sz="1400" b="1" i="0">
                <a:solidFill>
                  <a:srgbClr val="FFFFFF"/>
                </a:solidFill>
                <a:latin typeface="Arial"/>
              </a:rPr>
              <a:t>We know what it takes</a:t>
            </a:r>
          </a:p>
        </p:txBody>
      </p:sp>
      <p:sp>
        <p:nvSpPr>
          <p:cNvPr id="13" name="TextBox 12"/>
          <p:cNvSpPr txBox="1"/>
          <p:nvPr/>
        </p:nvSpPr>
        <p:spPr>
          <a:xfrm>
            <a:off x="6583680" y="4480559"/>
            <a:ext cx="4937760" cy="804672"/>
          </a:xfrm>
          <a:prstGeom prst="rect">
            <a:avLst/>
          </a:prstGeom>
          <a:noFill/>
        </p:spPr>
        <p:txBody>
          <a:bodyPr wrap="square">
            <a:spAutoFit/>
          </a:bodyPr>
          <a:lstStyle/>
          <a:p>
            <a:pPr algn="l"/>
            <a:r>
              <a:rPr sz="1200" b="0" i="0">
                <a:solidFill>
                  <a:srgbClr val="737373"/>
                </a:solidFill>
                <a:latin typeface="Arial"/>
              </a:rPr>
              <a:t>Having built a company from zero, we understand what data is needed, what integrations matter, what workflows are worth automating, and what humans need to stay in the loop for. We have made every mistake already.</a:t>
            </a:r>
          </a:p>
        </p:txBody>
      </p:sp>
      <p:sp>
        <p:nvSpPr>
          <p:cNvPr id="14" name="Rectangle 13"/>
          <p:cNvSpPr/>
          <p:nvPr/>
        </p:nvSpPr>
        <p:spPr>
          <a:xfrm>
            <a:off x="731520" y="5550407"/>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550407"/>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60135"/>
            <a:ext cx="4937760" cy="320040"/>
          </a:xfrm>
          <a:prstGeom prst="rect">
            <a:avLst/>
          </a:prstGeom>
          <a:noFill/>
        </p:spPr>
        <p:txBody>
          <a:bodyPr wrap="square">
            <a:spAutoFit/>
          </a:bodyPr>
          <a:lstStyle/>
          <a:p>
            <a:pPr algn="l"/>
            <a:r>
              <a:rPr sz="1400" b="1" i="0">
                <a:solidFill>
                  <a:srgbClr val="FFFFFF"/>
                </a:solidFill>
                <a:latin typeface="Arial"/>
              </a:rPr>
              <a:t>We replicate it for you</a:t>
            </a:r>
          </a:p>
        </p:txBody>
      </p:sp>
      <p:sp>
        <p:nvSpPr>
          <p:cNvPr id="17" name="TextBox 16"/>
          <p:cNvSpPr txBox="1"/>
          <p:nvPr/>
        </p:nvSpPr>
        <p:spPr>
          <a:xfrm>
            <a:off x="914400" y="6053327"/>
            <a:ext cx="4937760" cy="804672"/>
          </a:xfrm>
          <a:prstGeom prst="rect">
            <a:avLst/>
          </a:prstGeom>
          <a:noFill/>
        </p:spPr>
        <p:txBody>
          <a:bodyPr wrap="square">
            <a:spAutoFit/>
          </a:bodyPr>
          <a:lstStyle/>
          <a:p>
            <a:pPr algn="l"/>
            <a:r>
              <a:rPr sz="1200" b="0" i="0">
                <a:solidFill>
                  <a:srgbClr val="737373"/>
                </a:solidFill>
                <a:latin typeface="Arial"/>
              </a:rPr>
              <a:t>The architecture that powers ProperFix is the same architecture we deploy for every client. The agents, the data layer, the operational hierarchy, the reporting infrastructure — we configure it for your industry and scale it to your size.</a:t>
            </a:r>
          </a:p>
        </p:txBody>
      </p:sp>
      <p:sp>
        <p:nvSpPr>
          <p:cNvPr id="18" name="Rectangle 17"/>
          <p:cNvSpPr/>
          <p:nvPr/>
        </p:nvSpPr>
        <p:spPr>
          <a:xfrm>
            <a:off x="6400800" y="5550407"/>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5550407"/>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660135"/>
            <a:ext cx="4937760" cy="320040"/>
          </a:xfrm>
          <a:prstGeom prst="rect">
            <a:avLst/>
          </a:prstGeom>
          <a:noFill/>
        </p:spPr>
        <p:txBody>
          <a:bodyPr wrap="square">
            <a:spAutoFit/>
          </a:bodyPr>
          <a:lstStyle/>
          <a:p>
            <a:pPr algn="l"/>
            <a:r>
              <a:rPr sz="1400" b="1" i="0">
                <a:solidFill>
                  <a:srgbClr val="FFFFFF"/>
                </a:solidFill>
                <a:latin typeface="Arial"/>
              </a:rPr>
              <a:t>Proof of ROI</a:t>
            </a:r>
          </a:p>
        </p:txBody>
      </p:sp>
      <p:sp>
        <p:nvSpPr>
          <p:cNvPr id="21" name="TextBox 20"/>
          <p:cNvSpPr txBox="1"/>
          <p:nvPr/>
        </p:nvSpPr>
        <p:spPr>
          <a:xfrm>
            <a:off x="6583680" y="6053327"/>
            <a:ext cx="4937760" cy="804672"/>
          </a:xfrm>
          <a:prstGeom prst="rect">
            <a:avLst/>
          </a:prstGeom>
          <a:noFill/>
        </p:spPr>
        <p:txBody>
          <a:bodyPr wrap="square">
            <a:spAutoFit/>
          </a:bodyPr>
          <a:lstStyle/>
          <a:p>
            <a:pPr algn="l"/>
            <a:r>
              <a:rPr sz="1200" b="0" i="0">
                <a:solidFill>
                  <a:srgbClr val="737373"/>
                </a:solidFill>
                <a:latin typeface="Arial"/>
              </a:rPr>
              <a:t>ProperFix operates with a fraction of the staff a traditional property management company would require at the same revenue level. That is the return we bring to every engagement — demonstrated, not theoretical.</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WHAT WE DEPLOY FOR YOUR ORGANIZATION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same platform.</a:t>
            </a:r>
          </a:p>
          <a:p>
            <a:r>
              <a:rPr sz="3800" b="1">
                <a:solidFill>
                  <a:srgbClr val="22D3EE"/>
                </a:solidFill>
                <a:latin typeface="Arial"/>
              </a:rPr>
              <a:t>Configured for your business.</a:t>
            </a:r>
          </a:p>
        </p:txBody>
      </p:sp>
      <p:sp>
        <p:nvSpPr>
          <p:cNvPr id="4" name="TextBox 3"/>
          <p:cNvSpPr txBox="1"/>
          <p:nvPr/>
        </p:nvSpPr>
        <p:spPr>
          <a:xfrm>
            <a:off x="731520" y="2633472"/>
            <a:ext cx="10515600" cy="804672"/>
          </a:xfrm>
          <a:prstGeom prst="rect">
            <a:avLst/>
          </a:prstGeom>
          <a:noFill/>
        </p:spPr>
        <p:txBody>
          <a:bodyPr wrap="square">
            <a:spAutoFit/>
          </a:bodyPr>
          <a:lstStyle/>
          <a:p>
            <a:pPr algn="l"/>
            <a:r>
              <a:rPr sz="1300" b="0" i="0">
                <a:solidFill>
                  <a:srgbClr val="737373"/>
                </a:solidFill>
                <a:latin typeface="Arial"/>
              </a:rPr>
              <a:t>Everything we built for ProperFix — the operational architecture, the agent hierarchy, the data integrations, the billing infrastructure, the client communications layer — we rebuild for your organization at whatever scale you require. What took us months to build for ourselves, we can deploy for a client in days.</a:t>
            </a:r>
          </a:p>
        </p:txBody>
      </p:sp>
      <p:sp>
        <p:nvSpPr>
          <p:cNvPr id="5" name="Rectangle 4"/>
          <p:cNvSpPr/>
          <p:nvPr/>
        </p:nvSpPr>
        <p:spPr>
          <a:xfrm>
            <a:off x="731520" y="3547872"/>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602736"/>
            <a:ext cx="1645920" cy="228600"/>
          </a:xfrm>
          <a:prstGeom prst="rect">
            <a:avLst/>
          </a:prstGeom>
          <a:noFill/>
        </p:spPr>
        <p:txBody>
          <a:bodyPr wrap="square">
            <a:spAutoFit/>
          </a:bodyPr>
          <a:lstStyle/>
          <a:p>
            <a:pPr algn="l"/>
            <a:r>
              <a:rPr sz="900" b="1" i="0">
                <a:solidFill>
                  <a:srgbClr val="22D3EE"/>
                </a:solidFill>
                <a:latin typeface="Arial"/>
              </a:rPr>
              <a:t>BRAND + WEB</a:t>
            </a:r>
          </a:p>
        </p:txBody>
      </p:sp>
      <p:sp>
        <p:nvSpPr>
          <p:cNvPr id="7" name="TextBox 6"/>
          <p:cNvSpPr txBox="1"/>
          <p:nvPr/>
        </p:nvSpPr>
        <p:spPr>
          <a:xfrm>
            <a:off x="868680" y="3822192"/>
            <a:ext cx="2560320" cy="292608"/>
          </a:xfrm>
          <a:prstGeom prst="rect">
            <a:avLst/>
          </a:prstGeom>
          <a:noFill/>
        </p:spPr>
        <p:txBody>
          <a:bodyPr wrap="square">
            <a:spAutoFit/>
          </a:bodyPr>
          <a:lstStyle/>
          <a:p>
            <a:pPr algn="l"/>
            <a:r>
              <a:rPr sz="1300" b="1" i="0">
                <a:solidFill>
                  <a:srgbClr val="FFFFFF"/>
                </a:solidFill>
                <a:latin typeface="Arial"/>
              </a:rPr>
              <a:t>Your Brand and Digital Presence</a:t>
            </a:r>
          </a:p>
        </p:txBody>
      </p:sp>
      <p:sp>
        <p:nvSpPr>
          <p:cNvPr id="8" name="TextBox 7"/>
          <p:cNvSpPr txBox="1"/>
          <p:nvPr/>
        </p:nvSpPr>
        <p:spPr>
          <a:xfrm>
            <a:off x="3566160" y="3602736"/>
            <a:ext cx="2286000" cy="777240"/>
          </a:xfrm>
          <a:prstGeom prst="rect">
            <a:avLst/>
          </a:prstGeom>
          <a:noFill/>
        </p:spPr>
        <p:txBody>
          <a:bodyPr wrap="square">
            <a:spAutoFit/>
          </a:bodyPr>
          <a:lstStyle/>
          <a:p>
            <a:pPr algn="l"/>
            <a:r>
              <a:rPr sz="1100" b="0" i="0">
                <a:solidFill>
                  <a:srgbClr val="737373"/>
                </a:solidFill>
                <a:latin typeface="Arial"/>
              </a:rPr>
              <a:t>We design and build your client-facing properties if needed — websites, portals, and digital interfaces — built for your market and your buyers.</a:t>
            </a:r>
          </a:p>
        </p:txBody>
      </p:sp>
      <p:sp>
        <p:nvSpPr>
          <p:cNvPr id="9" name="Rectangle 8"/>
          <p:cNvSpPr/>
          <p:nvPr/>
        </p:nvSpPr>
        <p:spPr>
          <a:xfrm>
            <a:off x="6400800" y="3547872"/>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3602736"/>
            <a:ext cx="1645920" cy="228600"/>
          </a:xfrm>
          <a:prstGeom prst="rect">
            <a:avLst/>
          </a:prstGeom>
          <a:noFill/>
        </p:spPr>
        <p:txBody>
          <a:bodyPr wrap="square">
            <a:spAutoFit/>
          </a:bodyPr>
          <a:lstStyle/>
          <a:p>
            <a:pPr algn="l"/>
            <a:r>
              <a:rPr sz="900" b="1" i="0">
                <a:solidFill>
                  <a:srgbClr val="22D3EE"/>
                </a:solidFill>
                <a:latin typeface="Arial"/>
              </a:rPr>
              <a:t>OPERATIONS</a:t>
            </a:r>
          </a:p>
        </p:txBody>
      </p:sp>
      <p:sp>
        <p:nvSpPr>
          <p:cNvPr id="11" name="TextBox 10"/>
          <p:cNvSpPr txBox="1"/>
          <p:nvPr/>
        </p:nvSpPr>
        <p:spPr>
          <a:xfrm>
            <a:off x="6537960" y="3822192"/>
            <a:ext cx="2560320" cy="292608"/>
          </a:xfrm>
          <a:prstGeom prst="rect">
            <a:avLst/>
          </a:prstGeom>
          <a:noFill/>
        </p:spPr>
        <p:txBody>
          <a:bodyPr wrap="square">
            <a:spAutoFit/>
          </a:bodyPr>
          <a:lstStyle/>
          <a:p>
            <a:pPr algn="l"/>
            <a:r>
              <a:rPr sz="1300" b="1" i="0">
                <a:solidFill>
                  <a:srgbClr val="FFFFFF"/>
                </a:solidFill>
                <a:latin typeface="Arial"/>
              </a:rPr>
              <a:t>Your Operations Platform</a:t>
            </a:r>
          </a:p>
        </p:txBody>
      </p:sp>
      <p:sp>
        <p:nvSpPr>
          <p:cNvPr id="12" name="TextBox 11"/>
          <p:cNvSpPr txBox="1"/>
          <p:nvPr/>
        </p:nvSpPr>
        <p:spPr>
          <a:xfrm>
            <a:off x="9235440" y="3602736"/>
            <a:ext cx="2286000" cy="777240"/>
          </a:xfrm>
          <a:prstGeom prst="rect">
            <a:avLst/>
          </a:prstGeom>
          <a:noFill/>
        </p:spPr>
        <p:txBody>
          <a:bodyPr wrap="square">
            <a:spAutoFit/>
          </a:bodyPr>
          <a:lstStyle/>
          <a:p>
            <a:pPr algn="l"/>
            <a:r>
              <a:rPr sz="1100" b="0" i="0">
                <a:solidFill>
                  <a:srgbClr val="737373"/>
                </a:solidFill>
                <a:latin typeface="Arial"/>
              </a:rPr>
              <a:t>Custom-built operational infrastructure for your workflows. Job management, client tracking, vendor coordination, scheduling, and communication — all in one system.</a:t>
            </a:r>
          </a:p>
        </p:txBody>
      </p:sp>
      <p:sp>
        <p:nvSpPr>
          <p:cNvPr id="13" name="Rectangle 12"/>
          <p:cNvSpPr/>
          <p:nvPr/>
        </p:nvSpPr>
        <p:spPr>
          <a:xfrm>
            <a:off x="731520" y="3547872"/>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02736"/>
            <a:ext cx="1645920" cy="228600"/>
          </a:xfrm>
          <a:prstGeom prst="rect">
            <a:avLst/>
          </a:prstGeom>
          <a:noFill/>
        </p:spPr>
        <p:txBody>
          <a:bodyPr wrap="square">
            <a:spAutoFit/>
          </a:bodyPr>
          <a:lstStyle/>
          <a:p>
            <a:pPr algn="l"/>
            <a:r>
              <a:rPr sz="900" b="1" i="0">
                <a:solidFill>
                  <a:srgbClr val="22D3EE"/>
                </a:solidFill>
                <a:latin typeface="Arial"/>
              </a:rPr>
              <a:t>AI WORKFORCE</a:t>
            </a:r>
          </a:p>
        </p:txBody>
      </p:sp>
      <p:sp>
        <p:nvSpPr>
          <p:cNvPr id="15" name="TextBox 14"/>
          <p:cNvSpPr txBox="1"/>
          <p:nvPr/>
        </p:nvSpPr>
        <p:spPr>
          <a:xfrm>
            <a:off x="868680" y="3822192"/>
            <a:ext cx="2560320" cy="292608"/>
          </a:xfrm>
          <a:prstGeom prst="rect">
            <a:avLst/>
          </a:prstGeom>
          <a:noFill/>
        </p:spPr>
        <p:txBody>
          <a:bodyPr wrap="square">
            <a:spAutoFit/>
          </a:bodyPr>
          <a:lstStyle/>
          <a:p>
            <a:pPr algn="l"/>
            <a:r>
              <a:rPr sz="1300" b="1" i="0">
                <a:solidFill>
                  <a:srgbClr val="FFFFFF"/>
                </a:solidFill>
                <a:latin typeface="Arial"/>
              </a:rPr>
              <a:t>Your AI Agent Workforce</a:t>
            </a:r>
          </a:p>
        </p:txBody>
      </p:sp>
      <p:sp>
        <p:nvSpPr>
          <p:cNvPr id="16" name="TextBox 15"/>
          <p:cNvSpPr txBox="1"/>
          <p:nvPr/>
        </p:nvSpPr>
        <p:spPr>
          <a:xfrm>
            <a:off x="3566160" y="3602736"/>
            <a:ext cx="2286000" cy="777240"/>
          </a:xfrm>
          <a:prstGeom prst="rect">
            <a:avLst/>
          </a:prstGeom>
          <a:noFill/>
        </p:spPr>
        <p:txBody>
          <a:bodyPr wrap="square">
            <a:spAutoFit/>
          </a:bodyPr>
          <a:lstStyle/>
          <a:p>
            <a:pPr algn="l"/>
            <a:r>
              <a:rPr sz="1100" b="0" i="0">
                <a:solidFill>
                  <a:srgbClr val="737373"/>
                </a:solidFill>
                <a:latin typeface="Arial"/>
              </a:rPr>
              <a:t>An org chart of AI agents configured to your specific business roles. Lead agents, service agents, coordination agents, finance agents, and reporting agents — all running 24/7.</a:t>
            </a:r>
          </a:p>
        </p:txBody>
      </p:sp>
      <p:sp>
        <p:nvSpPr>
          <p:cNvPr id="17" name="Rectangle 16"/>
          <p:cNvSpPr/>
          <p:nvPr/>
        </p:nvSpPr>
        <p:spPr>
          <a:xfrm>
            <a:off x="6400800" y="4572000"/>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626864"/>
            <a:ext cx="1645920" cy="228600"/>
          </a:xfrm>
          <a:prstGeom prst="rect">
            <a:avLst/>
          </a:prstGeom>
          <a:noFill/>
        </p:spPr>
        <p:txBody>
          <a:bodyPr wrap="square">
            <a:spAutoFit/>
          </a:bodyPr>
          <a:lstStyle/>
          <a:p>
            <a:pPr algn="l"/>
            <a:r>
              <a:rPr sz="900" b="1" i="0">
                <a:solidFill>
                  <a:srgbClr val="22D3EE"/>
                </a:solidFill>
                <a:latin typeface="Arial"/>
              </a:rPr>
              <a:t>DATA LAYER</a:t>
            </a:r>
          </a:p>
        </p:txBody>
      </p:sp>
      <p:sp>
        <p:nvSpPr>
          <p:cNvPr id="19" name="TextBox 18"/>
          <p:cNvSpPr txBox="1"/>
          <p:nvPr/>
        </p:nvSpPr>
        <p:spPr>
          <a:xfrm>
            <a:off x="6537960" y="4846320"/>
            <a:ext cx="2560320" cy="292608"/>
          </a:xfrm>
          <a:prstGeom prst="rect">
            <a:avLst/>
          </a:prstGeom>
          <a:noFill/>
        </p:spPr>
        <p:txBody>
          <a:bodyPr wrap="square">
            <a:spAutoFit/>
          </a:bodyPr>
          <a:lstStyle/>
          <a:p>
            <a:pPr algn="l"/>
            <a:r>
              <a:rPr sz="1300" b="1" i="0">
                <a:solidFill>
                  <a:srgbClr val="FFFFFF"/>
                </a:solidFill>
                <a:latin typeface="Arial"/>
              </a:rPr>
              <a:t>Your Data and Intelligence Layer</a:t>
            </a:r>
          </a:p>
        </p:txBody>
      </p:sp>
      <p:sp>
        <p:nvSpPr>
          <p:cNvPr id="20" name="TextBox 19"/>
          <p:cNvSpPr txBox="1"/>
          <p:nvPr/>
        </p:nvSpPr>
        <p:spPr>
          <a:xfrm>
            <a:off x="9235440" y="4626864"/>
            <a:ext cx="2286000" cy="777240"/>
          </a:xfrm>
          <a:prstGeom prst="rect">
            <a:avLst/>
          </a:prstGeom>
          <a:noFill/>
        </p:spPr>
        <p:txBody>
          <a:bodyPr wrap="square">
            <a:spAutoFit/>
          </a:bodyPr>
          <a:lstStyle/>
          <a:p>
            <a:pPr algn="l"/>
            <a:r>
              <a:rPr sz="1100" b="0" i="0">
                <a:solidFill>
                  <a:srgbClr val="737373"/>
                </a:solidFill>
                <a:latin typeface="Arial"/>
              </a:rPr>
              <a:t>Your data ingested and available to every agent. The system learns from every client interaction, every completed job, and every transaction — improving performance over time.</a:t>
            </a:r>
          </a:p>
        </p:txBody>
      </p:sp>
      <p:sp>
        <p:nvSpPr>
          <p:cNvPr id="21" name="Rectangle 20"/>
          <p:cNvSpPr/>
          <p:nvPr/>
        </p:nvSpPr>
        <p:spPr>
          <a:xfrm>
            <a:off x="731520" y="4572000"/>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26864"/>
            <a:ext cx="1645920" cy="228600"/>
          </a:xfrm>
          <a:prstGeom prst="rect">
            <a:avLst/>
          </a:prstGeom>
          <a:noFill/>
        </p:spPr>
        <p:txBody>
          <a:bodyPr wrap="square">
            <a:spAutoFit/>
          </a:bodyPr>
          <a:lstStyle/>
          <a:p>
            <a:pPr algn="l"/>
            <a:r>
              <a:rPr sz="900" b="1" i="0">
                <a:solidFill>
                  <a:srgbClr val="22D3EE"/>
                </a:solidFill>
                <a:latin typeface="Arial"/>
              </a:rPr>
              <a:t>FINANCE</a:t>
            </a:r>
          </a:p>
        </p:txBody>
      </p:sp>
      <p:sp>
        <p:nvSpPr>
          <p:cNvPr id="23" name="TextBox 22"/>
          <p:cNvSpPr txBox="1"/>
          <p:nvPr/>
        </p:nvSpPr>
        <p:spPr>
          <a:xfrm>
            <a:off x="868680" y="4846320"/>
            <a:ext cx="2560320" cy="292608"/>
          </a:xfrm>
          <a:prstGeom prst="rect">
            <a:avLst/>
          </a:prstGeom>
          <a:noFill/>
        </p:spPr>
        <p:txBody>
          <a:bodyPr wrap="square">
            <a:spAutoFit/>
          </a:bodyPr>
          <a:lstStyle/>
          <a:p>
            <a:pPr algn="l"/>
            <a:r>
              <a:rPr sz="1300" b="1" i="0">
                <a:solidFill>
                  <a:srgbClr val="FFFFFF"/>
                </a:solidFill>
                <a:latin typeface="Arial"/>
              </a:rPr>
              <a:t>Your Billing and Finance System</a:t>
            </a:r>
          </a:p>
        </p:txBody>
      </p:sp>
      <p:sp>
        <p:nvSpPr>
          <p:cNvPr id="24" name="TextBox 23"/>
          <p:cNvSpPr txBox="1"/>
          <p:nvPr/>
        </p:nvSpPr>
        <p:spPr>
          <a:xfrm>
            <a:off x="3566160" y="4626864"/>
            <a:ext cx="2286000" cy="777240"/>
          </a:xfrm>
          <a:prstGeom prst="rect">
            <a:avLst/>
          </a:prstGeom>
          <a:noFill/>
        </p:spPr>
        <p:txBody>
          <a:bodyPr wrap="square">
            <a:spAutoFit/>
          </a:bodyPr>
          <a:lstStyle/>
          <a:p>
            <a:pPr algn="l"/>
            <a:r>
              <a:rPr sz="1100" b="0" i="0">
                <a:solidFill>
                  <a:srgbClr val="737373"/>
                </a:solidFill>
                <a:latin typeface="Arial"/>
              </a:rPr>
              <a:t>Quote-to-invoice, vendor billing, payment tracking, and financial reporting — all automated and integrated with your existing tools.</a:t>
            </a:r>
          </a:p>
        </p:txBody>
      </p:sp>
      <p:sp>
        <p:nvSpPr>
          <p:cNvPr id="25" name="Rectangle 24"/>
          <p:cNvSpPr/>
          <p:nvPr/>
        </p:nvSpPr>
        <p:spPr>
          <a:xfrm>
            <a:off x="6400800" y="4572000"/>
            <a:ext cx="5303520" cy="9144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4626864"/>
            <a:ext cx="1645920" cy="228600"/>
          </a:xfrm>
          <a:prstGeom prst="rect">
            <a:avLst/>
          </a:prstGeom>
          <a:noFill/>
        </p:spPr>
        <p:txBody>
          <a:bodyPr wrap="square">
            <a:spAutoFit/>
          </a:bodyPr>
          <a:lstStyle/>
          <a:p>
            <a:pPr algn="l"/>
            <a:r>
              <a:rPr sz="900" b="1" i="0">
                <a:solidFill>
                  <a:srgbClr val="22D3EE"/>
                </a:solidFill>
                <a:latin typeface="Arial"/>
              </a:rPr>
              <a:t>DASHBOARD</a:t>
            </a:r>
          </a:p>
        </p:txBody>
      </p:sp>
      <p:sp>
        <p:nvSpPr>
          <p:cNvPr id="27" name="TextBox 26"/>
          <p:cNvSpPr txBox="1"/>
          <p:nvPr/>
        </p:nvSpPr>
        <p:spPr>
          <a:xfrm>
            <a:off x="6537960" y="4846320"/>
            <a:ext cx="2560320" cy="292608"/>
          </a:xfrm>
          <a:prstGeom prst="rect">
            <a:avLst/>
          </a:prstGeom>
          <a:noFill/>
        </p:spPr>
        <p:txBody>
          <a:bodyPr wrap="square">
            <a:spAutoFit/>
          </a:bodyPr>
          <a:lstStyle/>
          <a:p>
            <a:pPr algn="l"/>
            <a:r>
              <a:rPr sz="1300" b="1" i="0">
                <a:solidFill>
                  <a:srgbClr val="FFFFFF"/>
                </a:solidFill>
                <a:latin typeface="Arial"/>
              </a:rPr>
              <a:t>Your Management Dashboard</a:t>
            </a:r>
          </a:p>
        </p:txBody>
      </p:sp>
      <p:sp>
        <p:nvSpPr>
          <p:cNvPr id="28" name="TextBox 27"/>
          <p:cNvSpPr txBox="1"/>
          <p:nvPr/>
        </p:nvSpPr>
        <p:spPr>
          <a:xfrm>
            <a:off x="9235440" y="4626864"/>
            <a:ext cx="2286000" cy="777240"/>
          </a:xfrm>
          <a:prstGeom prst="rect">
            <a:avLst/>
          </a:prstGeom>
          <a:noFill/>
        </p:spPr>
        <p:txBody>
          <a:bodyPr wrap="square">
            <a:spAutoFit/>
          </a:bodyPr>
          <a:lstStyle/>
          <a:p>
            <a:pPr algn="l"/>
            <a:r>
              <a:rPr sz="1100" b="0" i="0">
                <a:solidFill>
                  <a:srgbClr val="737373"/>
                </a:solidFill>
                <a:latin typeface="Arial"/>
              </a:rPr>
              <a:t>Live operational visibility. Every agent, every workflow, every job, every client interaction visible to your leadership team in real time.</a:t>
            </a:r>
          </a:p>
        </p:txBody>
      </p:sp>
      <p:sp>
        <p:nvSpPr>
          <p:cNvPr id="29" name="TextBox 28"/>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built ProperFix in weeks.</a:t>
            </a:r>
          </a:p>
          <a:p>
            <a:r>
              <a:rPr sz="3800" b="1">
                <a:solidFill>
                  <a:srgbClr val="22D3EE"/>
                </a:solidFill>
                <a:latin typeface="Arial"/>
              </a:rPr>
              <a:t>We can deploy your workforce in days.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Discovery and Blueprint</a:t>
            </a:r>
          </a:p>
        </p:txBody>
      </p:sp>
      <p:sp>
        <p:nvSpPr>
          <p:cNvPr id="8" name="TextBox 7"/>
          <p:cNvSpPr txBox="1"/>
          <p:nvPr/>
        </p:nvSpPr>
        <p:spPr>
          <a:xfrm>
            <a:off x="914400" y="3611880"/>
            <a:ext cx="3200400" cy="1371600"/>
          </a:xfrm>
          <a:prstGeom prst="rect">
            <a:avLst/>
          </a:prstGeom>
          <a:noFill/>
        </p:spPr>
        <p:txBody>
          <a:bodyPr wrap="square">
            <a:spAutoFit/>
          </a:bodyPr>
          <a:lstStyle/>
          <a:p>
            <a:pPr algn="l"/>
            <a:r>
              <a:rPr sz="1200" b="0" i="0">
                <a:solidFill>
                  <a:srgbClr val="737373"/>
                </a:solidFill>
                <a:latin typeface="Arial"/>
              </a:rPr>
              <a:t>We map your business, define your agent roster, design your org hierarchy, and document every integration target. Output: a full deployment blueprint. Timeline: 1-2 weeks.</a:t>
            </a:r>
          </a:p>
        </p:txBody>
      </p:sp>
      <p:sp>
        <p:nvSpPr>
          <p:cNvPr id="9" name="TextBox 8"/>
          <p:cNvSpPr txBox="1"/>
          <p:nvPr/>
        </p:nvSpPr>
        <p:spPr>
          <a:xfrm>
            <a:off x="914400" y="5394960"/>
            <a:ext cx="3200400" cy="457200"/>
          </a:xfrm>
          <a:prstGeom prst="rect">
            <a:avLst/>
          </a:prstGeom>
          <a:noFill/>
        </p:spPr>
        <p:txBody>
          <a:bodyPr wrap="square">
            <a:spAutoFit/>
          </a:bodyPr>
          <a:lstStyle/>
          <a:p>
            <a:pPr algn="l"/>
            <a:r>
              <a:rPr sz="1600" b="1" i="0">
                <a:solidFill>
                  <a:srgbClr val="22D3EE"/>
                </a:solidFill>
                <a:latin typeface="Arial"/>
              </a:rPr>
              <a:t>Blueprint in 2 weeks</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Build and Deploy</a:t>
            </a:r>
          </a:p>
        </p:txBody>
      </p:sp>
      <p:sp>
        <p:nvSpPr>
          <p:cNvPr id="14" name="TextBox 13"/>
          <p:cNvSpPr txBox="1"/>
          <p:nvPr/>
        </p:nvSpPr>
        <p:spPr>
          <a:xfrm>
            <a:off x="4709160" y="3611880"/>
            <a:ext cx="3200400" cy="1371600"/>
          </a:xfrm>
          <a:prstGeom prst="rect">
            <a:avLst/>
          </a:prstGeom>
          <a:noFill/>
        </p:spPr>
        <p:txBody>
          <a:bodyPr wrap="square">
            <a:spAutoFit/>
          </a:bodyPr>
          <a:lstStyle/>
          <a:p>
            <a:pPr algn="l"/>
            <a:r>
              <a:rPr sz="1200" b="0" i="0">
                <a:solidFill>
                  <a:srgbClr val="737373"/>
                </a:solidFill>
                <a:latin typeface="Arial"/>
              </a:rPr>
              <a:t>We configure the infrastructure, build the integrations, deploy the agents, and go live. Every agent tested before activation. Timeline: 1-2 weeks after blueprint sign-off.</a:t>
            </a:r>
          </a:p>
        </p:txBody>
      </p:sp>
      <p:sp>
        <p:nvSpPr>
          <p:cNvPr id="15" name="TextBox 14"/>
          <p:cNvSpPr txBox="1"/>
          <p:nvPr/>
        </p:nvSpPr>
        <p:spPr>
          <a:xfrm>
            <a:off x="4709160" y="5394960"/>
            <a:ext cx="3200400" cy="457200"/>
          </a:xfrm>
          <a:prstGeom prst="rect">
            <a:avLst/>
          </a:prstGeom>
          <a:noFill/>
        </p:spPr>
        <p:txBody>
          <a:bodyPr wrap="square">
            <a:spAutoFit/>
          </a:bodyPr>
          <a:lstStyle/>
          <a:p>
            <a:pPr algn="l"/>
            <a:r>
              <a:rPr sz="1600" b="1" i="0">
                <a:solidFill>
                  <a:srgbClr val="22D3EE"/>
                </a:solidFill>
                <a:latin typeface="Arial"/>
              </a:rPr>
              <a:t>Live in 30 days</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Operate and Scale</a:t>
            </a:r>
          </a:p>
        </p:txBody>
      </p:sp>
      <p:sp>
        <p:nvSpPr>
          <p:cNvPr id="20" name="TextBox 19"/>
          <p:cNvSpPr txBox="1"/>
          <p:nvPr/>
        </p:nvSpPr>
        <p:spPr>
          <a:xfrm>
            <a:off x="8503920" y="3611880"/>
            <a:ext cx="3200400" cy="1371600"/>
          </a:xfrm>
          <a:prstGeom prst="rect">
            <a:avLst/>
          </a:prstGeom>
          <a:noFill/>
        </p:spPr>
        <p:txBody>
          <a:bodyPr wrap="square">
            <a:spAutoFit/>
          </a:bodyPr>
          <a:lstStyle/>
          <a:p>
            <a:pPr algn="l"/>
            <a:r>
              <a:rPr sz="1200" b="0" i="0">
                <a:solidFill>
                  <a:srgbClr val="737373"/>
                </a:solidFill>
                <a:latin typeface="Arial"/>
              </a:rPr>
              <a:t>Devolution Labs operates the full workforce as a managed service. Monthly reporting. Performance tuning. New agents and functions added as the business grows. Own it outright at any time.</a:t>
            </a:r>
          </a:p>
        </p:txBody>
      </p:sp>
      <p:sp>
        <p:nvSpPr>
          <p:cNvPr id="21" name="TextBox 20"/>
          <p:cNvSpPr txBox="1"/>
          <p:nvPr/>
        </p:nvSpPr>
        <p:spPr>
          <a:xfrm>
            <a:off x="8503920" y="5394960"/>
            <a:ext cx="3200400" cy="457200"/>
          </a:xfrm>
          <a:prstGeom prst="rect">
            <a:avLst/>
          </a:prstGeom>
          <a:noFill/>
        </p:spPr>
        <p:txBody>
          <a:bodyPr wrap="square">
            <a:spAutoFit/>
          </a:bodyPr>
          <a:lstStyle/>
          <a:p>
            <a:pPr algn="l"/>
            <a:r>
              <a:rPr sz="1600" b="1" i="0">
                <a:solidFill>
                  <a:srgbClr val="22D3EE"/>
                </a:solidFill>
                <a:latin typeface="Arial"/>
              </a:rPr>
              <a:t>Ongoing, yours forever</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828800"/>
          </a:xfrm>
          <a:prstGeom prst="rect">
            <a:avLst/>
          </a:prstGeom>
          <a:noFill/>
        </p:spPr>
        <p:txBody>
          <a:bodyPr wrap="square">
            <a:spAutoFit/>
          </a:bodyPr>
          <a:lstStyle/>
          <a:p>
            <a:r>
              <a:rPr sz="4400" b="1">
                <a:solidFill>
                  <a:srgbClr val="FFFFFF"/>
                </a:solidFill>
                <a:latin typeface="Arial"/>
              </a:rPr>
              <a:t>We did not just build the pitch.</a:t>
            </a:r>
          </a:p>
          <a:p>
            <a:r>
              <a:rPr sz="4400" b="1">
                <a:solidFill>
                  <a:srgbClr val="22D3EE"/>
                </a:solidFill>
                <a:latin typeface="Arial"/>
              </a:rPr>
              <a:t>We built the company.</a:t>
            </a:r>
          </a:p>
        </p:txBody>
      </p:sp>
      <p:sp>
        <p:nvSpPr>
          <p:cNvPr id="4" name="TextBox 3"/>
          <p:cNvSpPr txBox="1"/>
          <p:nvPr/>
        </p:nvSpPr>
        <p:spPr>
          <a:xfrm>
            <a:off x="731520" y="3063240"/>
            <a:ext cx="10515600" cy="822960"/>
          </a:xfrm>
          <a:prstGeom prst="rect">
            <a:avLst/>
          </a:prstGeom>
          <a:noFill/>
        </p:spPr>
        <p:txBody>
          <a:bodyPr wrap="square">
            <a:spAutoFit/>
          </a:bodyPr>
          <a:lstStyle/>
          <a:p>
            <a:pPr algn="l"/>
            <a:r>
              <a:rPr sz="1600" b="0" i="0">
                <a:solidFill>
                  <a:srgbClr val="737373"/>
                </a:solidFill>
                <a:latin typeface="Arial"/>
              </a:rPr>
              <a:t>ProperFix is live. The agents are running. The clients are paying.
This is what we build for every organization we work with.</a:t>
            </a:r>
          </a:p>
        </p:txBody>
      </p:sp>
      <p:sp>
        <p:nvSpPr>
          <p:cNvPr id="5" name="TextBox 4"/>
          <p:cNvSpPr txBox="1"/>
          <p:nvPr/>
        </p:nvSpPr>
        <p:spPr>
          <a:xfrm>
            <a:off x="731520" y="4069080"/>
            <a:ext cx="10515600" cy="411480"/>
          </a:xfrm>
          <a:prstGeom prst="rect">
            <a:avLst/>
          </a:prstGeom>
          <a:noFill/>
        </p:spPr>
        <p:txBody>
          <a:bodyPr wrap="square">
            <a:spAutoFit/>
          </a:bodyPr>
          <a:lstStyle/>
          <a:p>
            <a:pPr algn="l"/>
            <a:r>
              <a:rPr sz="1500" b="1" i="0">
                <a:solidFill>
                  <a:srgbClr val="FFFFFF"/>
                </a:solidFill>
                <a:latin typeface="Arial"/>
              </a:rPr>
              <a:t>Want to see it live before you commit to anything?</a:t>
            </a:r>
          </a:p>
        </p:txBody>
      </p:sp>
      <p:sp>
        <p:nvSpPr>
          <p:cNvPr id="6" name="Rectangle 5"/>
          <p:cNvSpPr/>
          <p:nvPr/>
        </p:nvSpPr>
        <p:spPr>
          <a:xfrm>
            <a:off x="731520" y="4663440"/>
            <a:ext cx="5029200" cy="146304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0"/>
            <a:ext cx="4389120" cy="292608"/>
          </a:xfrm>
          <a:prstGeom prst="rect">
            <a:avLst/>
          </a:prstGeom>
          <a:noFill/>
        </p:spPr>
        <p:txBody>
          <a:bodyPr wrap="square">
            <a:spAutoFit/>
          </a:bodyPr>
          <a:lstStyle/>
          <a:p>
            <a:pPr algn="l"/>
            <a:r>
              <a:rPr sz="1200" b="1" i="0">
                <a:solidFill>
                  <a:srgbClr val="22D3EE"/>
                </a:solidFill>
                <a:latin typeface="Arial"/>
              </a:rPr>
              <a:t>To get started:</a:t>
            </a:r>
          </a:p>
        </p:txBody>
      </p:sp>
      <p:sp>
        <p:nvSpPr>
          <p:cNvPr id="8" name="TextBox 7"/>
          <p:cNvSpPr txBox="1"/>
          <p:nvPr/>
        </p:nvSpPr>
        <p:spPr>
          <a:xfrm>
            <a:off x="914400" y="5074920"/>
            <a:ext cx="4389120" cy="274320"/>
          </a:xfrm>
          <a:prstGeom prst="rect">
            <a:avLst/>
          </a:prstGeom>
          <a:noFill/>
        </p:spPr>
        <p:txBody>
          <a:bodyPr wrap="square">
            <a:spAutoFit/>
          </a:bodyPr>
          <a:lstStyle/>
          <a:p>
            <a:pPr algn="l"/>
            <a:r>
              <a:rPr sz="1200" b="0" i="0">
                <a:solidFill>
                  <a:srgbClr val="737373"/>
                </a:solidFill>
                <a:latin typeface="Arial"/>
              </a:rPr>
              <a:t>   An NDA</a:t>
            </a:r>
          </a:p>
        </p:txBody>
      </p:sp>
      <p:sp>
        <p:nvSpPr>
          <p:cNvPr id="9" name="TextBox 8"/>
          <p:cNvSpPr txBox="1"/>
          <p:nvPr/>
        </p:nvSpPr>
        <p:spPr>
          <a:xfrm>
            <a:off x="914400" y="5367528"/>
            <a:ext cx="4389120" cy="274320"/>
          </a:xfrm>
          <a:prstGeom prst="rect">
            <a:avLst/>
          </a:prstGeom>
          <a:noFill/>
        </p:spPr>
        <p:txBody>
          <a:bodyPr wrap="square">
            <a:spAutoFit/>
          </a:bodyPr>
          <a:lstStyle/>
          <a:p>
            <a:pPr algn="l"/>
            <a:r>
              <a:rPr sz="1200" b="0" i="0">
                <a:solidFill>
                  <a:srgbClr val="737373"/>
                </a:solidFill>
                <a:latin typeface="Arial"/>
              </a:rPr>
              <a:t>   2-3 hours of your leadership team's time</a:t>
            </a:r>
          </a:p>
        </p:txBody>
      </p:sp>
      <p:sp>
        <p:nvSpPr>
          <p:cNvPr id="10" name="TextBox 9"/>
          <p:cNvSpPr txBox="1"/>
          <p:nvPr/>
        </p:nvSpPr>
        <p:spPr>
          <a:xfrm>
            <a:off x="914400" y="5660136"/>
            <a:ext cx="4389120" cy="274320"/>
          </a:xfrm>
          <a:prstGeom prst="rect">
            <a:avLst/>
          </a:prstGeom>
          <a:noFill/>
        </p:spPr>
        <p:txBody>
          <a:bodyPr wrap="square">
            <a:spAutoFit/>
          </a:bodyPr>
          <a:lstStyle/>
          <a:p>
            <a:pPr algn="l"/>
            <a:r>
              <a:rPr sz="1200" b="0" i="0">
                <a:solidFill>
                  <a:srgbClr val="737373"/>
                </a:solidFill>
                <a:latin typeface="Arial"/>
              </a:rPr>
              <a:t>   A defined scope to pilot</a:t>
            </a:r>
          </a:p>
        </p:txBody>
      </p:sp>
      <p:sp>
        <p:nvSpPr>
          <p:cNvPr id="11" name="TextBox 10"/>
          <p:cNvSpPr txBox="1"/>
          <p:nvPr/>
        </p:nvSpPr>
        <p:spPr>
          <a:xfrm>
            <a:off x="6858000" y="47548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12" name="TextBox 11"/>
          <p:cNvSpPr txBox="1"/>
          <p:nvPr/>
        </p:nvSpPr>
        <p:spPr>
          <a:xfrm>
            <a:off x="6858000" y="521208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13" name="TextBox 12"/>
          <p:cNvSpPr txBox="1"/>
          <p:nvPr/>
        </p:nvSpPr>
        <p:spPr>
          <a:xfrm>
            <a:off x="6858000" y="5623560"/>
            <a:ext cx="4572000" cy="365760"/>
          </a:xfrm>
          <a:prstGeom prst="rect">
            <a:avLst/>
          </a:prstGeom>
          <a:noFill/>
        </p:spPr>
        <p:txBody>
          <a:bodyPr wrap="square">
            <a:spAutoFit/>
          </a:bodyPr>
          <a:lstStyle/>
          <a:p>
            <a:pPr algn="l"/>
            <a:r>
              <a:rPr sz="1300" b="0" i="1">
                <a:solidFill>
                  <a:srgbClr val="373737"/>
                </a:solidFill>
                <a:latin typeface="Arial"/>
              </a:rPr>
              <a:t>proper-fix.com  (see it live)</a:t>
            </a:r>
          </a:p>
        </p:txBody>
      </p:sp>
      <p:sp>
        <p:nvSpPr>
          <p:cNvPr id="14" name="TextBox 1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