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600" b="1">
                <a:solidFill>
                  <a:srgbClr val="FFFFFF"/>
                </a:solidFill>
                <a:latin typeface="Arial"/>
              </a:rPr>
              <a:t>The AI Workforce for</a:t>
            </a:r>
          </a:p>
          <a:p>
            <a:r>
              <a:rPr sz="5600" b="1">
                <a:solidFill>
                  <a:srgbClr val="22D3EE"/>
                </a:solidFill>
                <a:latin typeface="Arial"/>
              </a:rPr>
              <a:t>Geno's Steaks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Philadelphia Icon Since 1966  |  9th and Passyunk  |  Open 24/7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GENO'S STEAKS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Nearly 60 years feeding Philadelphia.</a:t>
            </a:r>
          </a:p>
          <a:p>
            <a:r>
              <a:rPr sz="3800" b="1">
                <a:solidFill>
                  <a:srgbClr val="22D3EE"/>
                </a:solidFill>
                <a:latin typeface="Arial"/>
              </a:rPr>
              <a:t>One of the most iconic restaurants in America.</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280160"/>
          </a:xfrm>
          <a:prstGeom prst="rect">
            <a:avLst/>
          </a:prstGeom>
          <a:noFill/>
        </p:spPr>
        <p:txBody>
          <a:bodyPr wrap="square">
            <a:spAutoFit/>
          </a:bodyPr>
          <a:lstStyle/>
          <a:p>
            <a:pPr algn="l"/>
            <a:r>
              <a:rPr sz="1400" b="0" i="0">
                <a:solidFill>
                  <a:srgbClr val="737373"/>
                </a:solidFill>
                <a:latin typeface="Arial"/>
              </a:rPr>
              <a:t>Since 1966, Geno's Steaks has operated at the corner of 9th and Passyunk in South Philadelphia — one of the most famous restaurant locations in the United States. Open 24 hours a day, 7 days a week, Geno's serves thousands of customers per day ranging from local regulars to tourists, celebrities, and visiting dignitaries. It is one of the most photographed and visited food destinations in the country.</a:t>
            </a:r>
          </a:p>
        </p:txBody>
      </p:sp>
      <p:sp>
        <p:nvSpPr>
          <p:cNvPr id="6" name="Rectangle 5"/>
          <p:cNvSpPr/>
          <p:nvPr/>
        </p:nvSpPr>
        <p:spPr>
          <a:xfrm>
            <a:off x="73152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79392"/>
            <a:ext cx="2377440" cy="685800"/>
          </a:xfrm>
          <a:prstGeom prst="rect">
            <a:avLst/>
          </a:prstGeom>
          <a:noFill/>
        </p:spPr>
        <p:txBody>
          <a:bodyPr wrap="square">
            <a:spAutoFit/>
          </a:bodyPr>
          <a:lstStyle/>
          <a:p>
            <a:pPr algn="l"/>
            <a:r>
              <a:rPr sz="2800" b="1" i="0">
                <a:solidFill>
                  <a:srgbClr val="22D3EE"/>
                </a:solidFill>
                <a:latin typeface="Arial"/>
              </a:rPr>
              <a:t>60 Years</a:t>
            </a:r>
          </a:p>
        </p:txBody>
      </p:sp>
      <p:sp>
        <p:nvSpPr>
          <p:cNvPr id="8" name="TextBox 7"/>
          <p:cNvSpPr txBox="1"/>
          <p:nvPr/>
        </p:nvSpPr>
        <p:spPr>
          <a:xfrm>
            <a:off x="868680" y="4992624"/>
            <a:ext cx="2377440" cy="320040"/>
          </a:xfrm>
          <a:prstGeom prst="rect">
            <a:avLst/>
          </a:prstGeom>
          <a:noFill/>
        </p:spPr>
        <p:txBody>
          <a:bodyPr wrap="square">
            <a:spAutoFit/>
          </a:bodyPr>
          <a:lstStyle/>
          <a:p>
            <a:pPr algn="l"/>
            <a:r>
              <a:rPr sz="1300" b="1" i="0">
                <a:solidFill>
                  <a:srgbClr val="FFFFFF"/>
                </a:solidFill>
                <a:latin typeface="Arial"/>
              </a:rPr>
              <a:t>In Operation</a:t>
            </a:r>
          </a:p>
        </p:txBody>
      </p:sp>
      <p:sp>
        <p:nvSpPr>
          <p:cNvPr id="9" name="TextBox 8"/>
          <p:cNvSpPr txBox="1"/>
          <p:nvPr/>
        </p:nvSpPr>
        <p:spPr>
          <a:xfrm>
            <a:off x="868680" y="5340096"/>
            <a:ext cx="2377440" cy="502920"/>
          </a:xfrm>
          <a:prstGeom prst="rect">
            <a:avLst/>
          </a:prstGeom>
          <a:noFill/>
        </p:spPr>
        <p:txBody>
          <a:bodyPr wrap="square">
            <a:spAutoFit/>
          </a:bodyPr>
          <a:lstStyle/>
          <a:p>
            <a:pPr algn="l"/>
            <a:r>
              <a:rPr sz="1100" b="0" i="0">
                <a:solidFill>
                  <a:srgbClr val="737373"/>
                </a:solidFill>
                <a:latin typeface="Arial"/>
              </a:rPr>
              <a:t>South Philly institution since 1966</a:t>
            </a:r>
          </a:p>
        </p:txBody>
      </p:sp>
      <p:sp>
        <p:nvSpPr>
          <p:cNvPr id="10" name="Rectangle 9"/>
          <p:cNvSpPr/>
          <p:nvPr/>
        </p:nvSpPr>
        <p:spPr>
          <a:xfrm>
            <a:off x="356616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279392"/>
            <a:ext cx="2377440" cy="685800"/>
          </a:xfrm>
          <a:prstGeom prst="rect">
            <a:avLst/>
          </a:prstGeom>
          <a:noFill/>
        </p:spPr>
        <p:txBody>
          <a:bodyPr wrap="square">
            <a:spAutoFit/>
          </a:bodyPr>
          <a:lstStyle/>
          <a:p>
            <a:pPr algn="l"/>
            <a:r>
              <a:rPr sz="2800" b="1" i="0">
                <a:solidFill>
                  <a:srgbClr val="22D3EE"/>
                </a:solidFill>
                <a:latin typeface="Arial"/>
              </a:rPr>
              <a:t>24/7</a:t>
            </a:r>
          </a:p>
        </p:txBody>
      </p:sp>
      <p:sp>
        <p:nvSpPr>
          <p:cNvPr id="12" name="TextBox 11"/>
          <p:cNvSpPr txBox="1"/>
          <p:nvPr/>
        </p:nvSpPr>
        <p:spPr>
          <a:xfrm>
            <a:off x="3703320" y="4992624"/>
            <a:ext cx="2377440" cy="320040"/>
          </a:xfrm>
          <a:prstGeom prst="rect">
            <a:avLst/>
          </a:prstGeom>
          <a:noFill/>
        </p:spPr>
        <p:txBody>
          <a:bodyPr wrap="square">
            <a:spAutoFit/>
          </a:bodyPr>
          <a:lstStyle/>
          <a:p>
            <a:pPr algn="l"/>
            <a:r>
              <a:rPr sz="1300" b="1" i="0">
                <a:solidFill>
                  <a:srgbClr val="FFFFFF"/>
                </a:solidFill>
                <a:latin typeface="Arial"/>
              </a:rPr>
              <a:t>Open Always</a:t>
            </a:r>
          </a:p>
        </p:txBody>
      </p:sp>
      <p:sp>
        <p:nvSpPr>
          <p:cNvPr id="13" name="TextBox 12"/>
          <p:cNvSpPr txBox="1"/>
          <p:nvPr/>
        </p:nvSpPr>
        <p:spPr>
          <a:xfrm>
            <a:off x="3703320" y="5340096"/>
            <a:ext cx="2377440" cy="502920"/>
          </a:xfrm>
          <a:prstGeom prst="rect">
            <a:avLst/>
          </a:prstGeom>
          <a:noFill/>
        </p:spPr>
        <p:txBody>
          <a:bodyPr wrap="square">
            <a:spAutoFit/>
          </a:bodyPr>
          <a:lstStyle/>
          <a:p>
            <a:pPr algn="l"/>
            <a:r>
              <a:rPr sz="1100" b="0" i="0">
                <a:solidFill>
                  <a:srgbClr val="737373"/>
                </a:solidFill>
                <a:latin typeface="Arial"/>
              </a:rPr>
              <a:t>Never closes, never stops serving</a:t>
            </a:r>
          </a:p>
        </p:txBody>
      </p:sp>
      <p:sp>
        <p:nvSpPr>
          <p:cNvPr id="14" name="Rectangle 13"/>
          <p:cNvSpPr/>
          <p:nvPr/>
        </p:nvSpPr>
        <p:spPr>
          <a:xfrm>
            <a:off x="640080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79392"/>
            <a:ext cx="2377440" cy="685800"/>
          </a:xfrm>
          <a:prstGeom prst="rect">
            <a:avLst/>
          </a:prstGeom>
          <a:noFill/>
        </p:spPr>
        <p:txBody>
          <a:bodyPr wrap="square">
            <a:spAutoFit/>
          </a:bodyPr>
          <a:lstStyle/>
          <a:p>
            <a:pPr algn="l"/>
            <a:r>
              <a:rPr sz="2800" b="1" i="0">
                <a:solidFill>
                  <a:srgbClr val="22D3EE"/>
                </a:solidFill>
                <a:latin typeface="Arial"/>
              </a:rPr>
              <a:t>Thousands</a:t>
            </a:r>
          </a:p>
        </p:txBody>
      </p:sp>
      <p:sp>
        <p:nvSpPr>
          <p:cNvPr id="16" name="TextBox 15"/>
          <p:cNvSpPr txBox="1"/>
          <p:nvPr/>
        </p:nvSpPr>
        <p:spPr>
          <a:xfrm>
            <a:off x="6537960" y="4992624"/>
            <a:ext cx="2377440" cy="320040"/>
          </a:xfrm>
          <a:prstGeom prst="rect">
            <a:avLst/>
          </a:prstGeom>
          <a:noFill/>
        </p:spPr>
        <p:txBody>
          <a:bodyPr wrap="square">
            <a:spAutoFit/>
          </a:bodyPr>
          <a:lstStyle/>
          <a:p>
            <a:pPr algn="l"/>
            <a:r>
              <a:rPr sz="1300" b="1" i="0">
                <a:solidFill>
                  <a:srgbClr val="FFFFFF"/>
                </a:solidFill>
                <a:latin typeface="Arial"/>
              </a:rPr>
              <a:t>Daily Customers</a:t>
            </a:r>
          </a:p>
        </p:txBody>
      </p:sp>
      <p:sp>
        <p:nvSpPr>
          <p:cNvPr id="17" name="TextBox 16"/>
          <p:cNvSpPr txBox="1"/>
          <p:nvPr/>
        </p:nvSpPr>
        <p:spPr>
          <a:xfrm>
            <a:off x="6537960" y="5340096"/>
            <a:ext cx="2377440" cy="502920"/>
          </a:xfrm>
          <a:prstGeom prst="rect">
            <a:avLst/>
          </a:prstGeom>
          <a:noFill/>
        </p:spPr>
        <p:txBody>
          <a:bodyPr wrap="square">
            <a:spAutoFit/>
          </a:bodyPr>
          <a:lstStyle/>
          <a:p>
            <a:pPr algn="l"/>
            <a:r>
              <a:rPr sz="1100" b="0" i="0">
                <a:solidFill>
                  <a:srgbClr val="737373"/>
                </a:solidFill>
                <a:latin typeface="Arial"/>
              </a:rPr>
              <a:t>Tourists and locals every single day</a:t>
            </a:r>
          </a:p>
        </p:txBody>
      </p:sp>
      <p:sp>
        <p:nvSpPr>
          <p:cNvPr id="18" name="Rectangle 17"/>
          <p:cNvSpPr/>
          <p:nvPr/>
        </p:nvSpPr>
        <p:spPr>
          <a:xfrm>
            <a:off x="923544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4279392"/>
            <a:ext cx="2377440" cy="685800"/>
          </a:xfrm>
          <a:prstGeom prst="rect">
            <a:avLst/>
          </a:prstGeom>
          <a:noFill/>
        </p:spPr>
        <p:txBody>
          <a:bodyPr wrap="square">
            <a:spAutoFit/>
          </a:bodyPr>
          <a:lstStyle/>
          <a:p>
            <a:pPr algn="l"/>
            <a:r>
              <a:rPr sz="2800" b="1" i="0">
                <a:solidFill>
                  <a:srgbClr val="22D3EE"/>
                </a:solidFill>
                <a:latin typeface="Arial"/>
              </a:rPr>
              <a:t>Iconic</a:t>
            </a:r>
          </a:p>
        </p:txBody>
      </p:sp>
      <p:sp>
        <p:nvSpPr>
          <p:cNvPr id="20" name="TextBox 19"/>
          <p:cNvSpPr txBox="1"/>
          <p:nvPr/>
        </p:nvSpPr>
        <p:spPr>
          <a:xfrm>
            <a:off x="9372600" y="4992624"/>
            <a:ext cx="2377440" cy="320040"/>
          </a:xfrm>
          <a:prstGeom prst="rect">
            <a:avLst/>
          </a:prstGeom>
          <a:noFill/>
        </p:spPr>
        <p:txBody>
          <a:bodyPr wrap="square">
            <a:spAutoFit/>
          </a:bodyPr>
          <a:lstStyle/>
          <a:p>
            <a:pPr algn="l"/>
            <a:r>
              <a:rPr sz="1300" b="1" i="0">
                <a:solidFill>
                  <a:srgbClr val="FFFFFF"/>
                </a:solidFill>
                <a:latin typeface="Arial"/>
              </a:rPr>
              <a:t>Brand Recognition</a:t>
            </a:r>
          </a:p>
        </p:txBody>
      </p:sp>
      <p:sp>
        <p:nvSpPr>
          <p:cNvPr id="21" name="TextBox 20"/>
          <p:cNvSpPr txBox="1"/>
          <p:nvPr/>
        </p:nvSpPr>
        <p:spPr>
          <a:xfrm>
            <a:off x="9372600" y="5340096"/>
            <a:ext cx="2377440" cy="502920"/>
          </a:xfrm>
          <a:prstGeom prst="rect">
            <a:avLst/>
          </a:prstGeom>
          <a:noFill/>
        </p:spPr>
        <p:txBody>
          <a:bodyPr wrap="square">
            <a:spAutoFit/>
          </a:bodyPr>
          <a:lstStyle/>
          <a:p>
            <a:pPr algn="l"/>
            <a:r>
              <a:rPr sz="1100" b="0" i="0">
                <a:solidFill>
                  <a:srgbClr val="737373"/>
                </a:solidFill>
                <a:latin typeface="Arial"/>
              </a:rPr>
              <a:t>One of America's most famous restaurants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Geno's is running at full capacity.</a:t>
            </a:r>
          </a:p>
          <a:p>
            <a:r>
              <a:rPr sz="3800" b="1">
                <a:solidFill>
                  <a:srgbClr val="22D3EE"/>
                </a:solidFill>
                <a:latin typeface="Arial"/>
              </a:rPr>
              <a:t>The back-office is running manually.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371600"/>
          </a:xfrm>
          <a:prstGeom prst="rect">
            <a:avLst/>
          </a:prstGeom>
          <a:noFill/>
        </p:spPr>
        <p:txBody>
          <a:bodyPr wrap="square">
            <a:spAutoFit/>
          </a:bodyPr>
          <a:lstStyle/>
          <a:p>
            <a:pPr algn="l"/>
            <a:r>
              <a:rPr sz="1400" b="0" i="0">
                <a:solidFill>
                  <a:srgbClr val="737373"/>
                </a:solidFill>
                <a:latin typeface="Arial"/>
              </a:rPr>
              <a:t>Geno's has built one of the strongest brands in American food culture. The front of house is legendary. The product is irreplaceable. But behind the counter, thousands of daily transactions, delivery platform coordination, customer inquiries, vendor orders, scheduling, and payroll are being managed the way they were managed in 1980. Every hour of manual coordination is an hour not spent on the product, the brand, or the next location.</a:t>
            </a:r>
          </a:p>
        </p:txBody>
      </p:sp>
      <p:sp>
        <p:nvSpPr>
          <p:cNvPr id="6" name="TextBox 5"/>
          <p:cNvSpPr txBox="1"/>
          <p:nvPr/>
        </p:nvSpPr>
        <p:spPr>
          <a:xfrm>
            <a:off x="731520" y="4297680"/>
            <a:ext cx="10515600" cy="502920"/>
          </a:xfrm>
          <a:prstGeom prst="rect">
            <a:avLst/>
          </a:prstGeom>
          <a:noFill/>
        </p:spPr>
        <p:txBody>
          <a:bodyPr wrap="square">
            <a:spAutoFit/>
          </a:bodyPr>
          <a:lstStyle/>
          <a:p>
            <a:pPr algn="l"/>
            <a:r>
              <a:rPr sz="1500" b="1" i="0">
                <a:solidFill>
                  <a:srgbClr val="FFFFFF"/>
                </a:solidFill>
                <a:latin typeface="Arial"/>
              </a:rPr>
              <a:t>Devolution Lab builds the AI workforce that handles all of it automatically.</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FOR GENO'S STEAKS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Eight agents.</a:t>
            </a:r>
          </a:p>
          <a:p>
            <a:r>
              <a:rPr sz="3600" b="1">
                <a:solidFill>
                  <a:srgbClr val="22D3EE"/>
                </a:solidFill>
                <a:latin typeface="Arial"/>
              </a:rPr>
              <a:t>Every back-office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CUSTOMER SERVICE</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Order and Inquiry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Handles all inbound customer messages across UberEats, DoorDash, GrubHub, email, and Google reviews. Responds instantly, resolves order issues, and escalates only what requires human judgment.</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REPUTATION MANAGEMENT</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Review Response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Monitors and responds to every Google, Yelp, and TripAdvisor review within minutes. Positive reviews get a thank you. Negative reviews get a measured, on-brand response that protects the reputation.</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DELIVERY COORDINATION</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Platform Management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Monitors order volume, wait times, and platform performance across all three delivery apps. Flags anomalies, tracks revenue by platform, and generates weekly performance reports automatically.</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VENDOR AND SUPPLY</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Procurement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Tracks inventory levels for ribeye, rolls, cheese, and packaging. Flags reorder thresholds and coordinates with suppliers before stock runs short. No manual inventory counting required.</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FINANCE</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Billing and Reporting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Reconciles daily sales across all channels, generates weekly revenue reports for ownership, and flags discrepancies between POS data and delivery platform payouts.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MARKETING</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Content and Promo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Generates and schedules social media content across Instagram and Facebook. Manages promotional campaigns tied to Philly events, game days, and tourist seasons. Keeps Geno's visible 365 days a year.</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DEPLOYMENT</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The numbers for Geno's Steaks.</a:t>
            </a:r>
          </a:p>
          <a:p>
            <a:r>
              <a:rPr sz="3400" b="1">
                <a:solidFill>
                  <a:srgbClr val="22D3EE"/>
                </a:solidFill>
                <a:latin typeface="Arial"/>
              </a:rPr>
              <a:t>8 agents. $380K-$620K over 6 months.</a:t>
            </a:r>
          </a:p>
        </p:txBody>
      </p:sp>
      <p:sp>
        <p:nvSpPr>
          <p:cNvPr id="4" name="Rectangle 3"/>
          <p:cNvSpPr/>
          <p:nvPr/>
        </p:nvSpPr>
        <p:spPr>
          <a:xfrm>
            <a:off x="731520" y="2487168"/>
            <a:ext cx="3749039"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3749039" cy="256032"/>
          </a:xfrm>
          <a:prstGeom prst="rect">
            <a:avLst/>
          </a:prstGeom>
          <a:noFill/>
        </p:spPr>
        <p:txBody>
          <a:bodyPr wrap="square">
            <a:spAutoFit/>
          </a:bodyPr>
          <a:lstStyle/>
          <a:p>
            <a:pPr algn="l"/>
            <a:r>
              <a:rPr sz="1000" b="1" i="0">
                <a:solidFill>
                  <a:srgbClr val="373737"/>
                </a:solidFill>
                <a:latin typeface="Arial"/>
              </a:rPr>
              <a:t>Agent</a:t>
            </a:r>
          </a:p>
        </p:txBody>
      </p:sp>
      <p:sp>
        <p:nvSpPr>
          <p:cNvPr id="6" name="Rectangle 5"/>
          <p:cNvSpPr/>
          <p:nvPr/>
        </p:nvSpPr>
        <p:spPr>
          <a:xfrm>
            <a:off x="4663440" y="2487168"/>
            <a:ext cx="420624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505456"/>
            <a:ext cx="4206240" cy="256032"/>
          </a:xfrm>
          <a:prstGeom prst="rect">
            <a:avLst/>
          </a:prstGeom>
          <a:noFill/>
        </p:spPr>
        <p:txBody>
          <a:bodyPr wrap="square">
            <a:spAutoFit/>
          </a:bodyPr>
          <a:lstStyle/>
          <a:p>
            <a:pPr algn="l"/>
            <a:r>
              <a:rPr sz="1000" b="1" i="0">
                <a:solidFill>
                  <a:srgbClr val="373737"/>
                </a:solidFill>
                <a:latin typeface="Arial"/>
              </a:rPr>
              <a:t>What It Replaces / Generates</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10" name="Rectangle 9"/>
          <p:cNvSpPr/>
          <p:nvPr/>
        </p:nvSpPr>
        <p:spPr>
          <a:xfrm>
            <a:off x="731520" y="2816352"/>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62072"/>
            <a:ext cx="3657599" cy="210312"/>
          </a:xfrm>
          <a:prstGeom prst="rect">
            <a:avLst/>
          </a:prstGeom>
          <a:noFill/>
        </p:spPr>
        <p:txBody>
          <a:bodyPr wrap="square">
            <a:spAutoFit/>
          </a:bodyPr>
          <a:lstStyle/>
          <a:p>
            <a:pPr algn="l"/>
            <a:r>
              <a:rPr sz="1000" b="0" i="0">
                <a:solidFill>
                  <a:srgbClr val="FFFFFF"/>
                </a:solidFill>
                <a:latin typeface="Arial"/>
              </a:rPr>
              <a:t>Order and Inquiry Agent</a:t>
            </a:r>
          </a:p>
        </p:txBody>
      </p:sp>
      <p:sp>
        <p:nvSpPr>
          <p:cNvPr id="12" name="Rectangle 11"/>
          <p:cNvSpPr/>
          <p:nvPr/>
        </p:nvSpPr>
        <p:spPr>
          <a:xfrm>
            <a:off x="4663440" y="2816352"/>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2862072"/>
            <a:ext cx="4114800" cy="210312"/>
          </a:xfrm>
          <a:prstGeom prst="rect">
            <a:avLst/>
          </a:prstGeom>
          <a:noFill/>
        </p:spPr>
        <p:txBody>
          <a:bodyPr wrap="square">
            <a:spAutoFit/>
          </a:bodyPr>
          <a:lstStyle/>
          <a:p>
            <a:pPr algn="l"/>
            <a:r>
              <a:rPr sz="1000" b="0" i="0">
                <a:solidFill>
                  <a:srgbClr val="737373"/>
                </a:solidFill>
                <a:latin typeface="Arial"/>
              </a:rPr>
              <a:t>Replaces 1-2 customer service reps</a:t>
            </a:r>
          </a:p>
        </p:txBody>
      </p:sp>
      <p:sp>
        <p:nvSpPr>
          <p:cNvPr id="14" name="Rectangle 13"/>
          <p:cNvSpPr/>
          <p:nvPr/>
        </p:nvSpPr>
        <p:spPr>
          <a:xfrm>
            <a:off x="9052560" y="2816352"/>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62072"/>
            <a:ext cx="2834640" cy="210312"/>
          </a:xfrm>
          <a:prstGeom prst="rect">
            <a:avLst/>
          </a:prstGeom>
          <a:noFill/>
        </p:spPr>
        <p:txBody>
          <a:bodyPr wrap="square">
            <a:spAutoFit/>
          </a:bodyPr>
          <a:lstStyle/>
          <a:p>
            <a:pPr algn="l"/>
            <a:r>
              <a:rPr sz="1000" b="0" i="0">
                <a:solidFill>
                  <a:srgbClr val="737373"/>
                </a:solidFill>
                <a:latin typeface="Arial"/>
              </a:rPr>
              <a:t>$35K-$55K</a:t>
            </a:r>
          </a:p>
        </p:txBody>
      </p:sp>
      <p:sp>
        <p:nvSpPr>
          <p:cNvPr id="16" name="Rectangle 15"/>
          <p:cNvSpPr/>
          <p:nvPr/>
        </p:nvSpPr>
        <p:spPr>
          <a:xfrm>
            <a:off x="731520" y="3118104"/>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163824"/>
            <a:ext cx="3657599" cy="210312"/>
          </a:xfrm>
          <a:prstGeom prst="rect">
            <a:avLst/>
          </a:prstGeom>
          <a:noFill/>
        </p:spPr>
        <p:txBody>
          <a:bodyPr wrap="square">
            <a:spAutoFit/>
          </a:bodyPr>
          <a:lstStyle/>
          <a:p>
            <a:pPr algn="l"/>
            <a:r>
              <a:rPr sz="1000" b="0" i="0">
                <a:solidFill>
                  <a:srgbClr val="FFFFFF"/>
                </a:solidFill>
                <a:latin typeface="Arial"/>
              </a:rPr>
              <a:t>Review Response Agent</a:t>
            </a:r>
          </a:p>
        </p:txBody>
      </p:sp>
      <p:sp>
        <p:nvSpPr>
          <p:cNvPr id="18" name="Rectangle 17"/>
          <p:cNvSpPr/>
          <p:nvPr/>
        </p:nvSpPr>
        <p:spPr>
          <a:xfrm>
            <a:off x="4663440" y="3118104"/>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36592" y="3163824"/>
            <a:ext cx="4114800" cy="210312"/>
          </a:xfrm>
          <a:prstGeom prst="rect">
            <a:avLst/>
          </a:prstGeom>
          <a:noFill/>
        </p:spPr>
        <p:txBody>
          <a:bodyPr wrap="square">
            <a:spAutoFit/>
          </a:bodyPr>
          <a:lstStyle/>
          <a:p>
            <a:pPr algn="l"/>
            <a:r>
              <a:rPr sz="1000" b="0" i="0">
                <a:solidFill>
                  <a:srgbClr val="737373"/>
                </a:solidFill>
                <a:latin typeface="Arial"/>
              </a:rPr>
              <a:t>Reputation protection + review volume uplift</a:t>
            </a:r>
          </a:p>
        </p:txBody>
      </p:sp>
      <p:sp>
        <p:nvSpPr>
          <p:cNvPr id="20" name="Rectangle 19"/>
          <p:cNvSpPr/>
          <p:nvPr/>
        </p:nvSpPr>
        <p:spPr>
          <a:xfrm>
            <a:off x="9052560" y="3118104"/>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163824"/>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22" name="Rectangle 21"/>
          <p:cNvSpPr/>
          <p:nvPr/>
        </p:nvSpPr>
        <p:spPr>
          <a:xfrm>
            <a:off x="731520" y="3419856"/>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465576"/>
            <a:ext cx="3657599" cy="210312"/>
          </a:xfrm>
          <a:prstGeom prst="rect">
            <a:avLst/>
          </a:prstGeom>
          <a:noFill/>
        </p:spPr>
        <p:txBody>
          <a:bodyPr wrap="square">
            <a:spAutoFit/>
          </a:bodyPr>
          <a:lstStyle/>
          <a:p>
            <a:pPr algn="l"/>
            <a:r>
              <a:rPr sz="1000" b="0" i="0">
                <a:solidFill>
                  <a:srgbClr val="FFFFFF"/>
                </a:solidFill>
                <a:latin typeface="Arial"/>
              </a:rPr>
              <a:t>Platform Management Agent</a:t>
            </a:r>
          </a:p>
        </p:txBody>
      </p:sp>
      <p:sp>
        <p:nvSpPr>
          <p:cNvPr id="24" name="Rectangle 23"/>
          <p:cNvSpPr/>
          <p:nvPr/>
        </p:nvSpPr>
        <p:spPr>
          <a:xfrm>
            <a:off x="4663440" y="3419856"/>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3465576"/>
            <a:ext cx="4114800" cy="210312"/>
          </a:xfrm>
          <a:prstGeom prst="rect">
            <a:avLst/>
          </a:prstGeom>
          <a:noFill/>
        </p:spPr>
        <p:txBody>
          <a:bodyPr wrap="square">
            <a:spAutoFit/>
          </a:bodyPr>
          <a:lstStyle/>
          <a:p>
            <a:pPr algn="l"/>
            <a:r>
              <a:rPr sz="1000" b="0" i="0">
                <a:solidFill>
                  <a:srgbClr val="737373"/>
                </a:solidFill>
                <a:latin typeface="Arial"/>
              </a:rPr>
              <a:t>Delivery revenue optimization</a:t>
            </a:r>
          </a:p>
        </p:txBody>
      </p:sp>
      <p:sp>
        <p:nvSpPr>
          <p:cNvPr id="26" name="Rectangle 25"/>
          <p:cNvSpPr/>
          <p:nvPr/>
        </p:nvSpPr>
        <p:spPr>
          <a:xfrm>
            <a:off x="9052560" y="3419856"/>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465576"/>
            <a:ext cx="2834640" cy="210312"/>
          </a:xfrm>
          <a:prstGeom prst="rect">
            <a:avLst/>
          </a:prstGeom>
          <a:noFill/>
        </p:spPr>
        <p:txBody>
          <a:bodyPr wrap="square">
            <a:spAutoFit/>
          </a:bodyPr>
          <a:lstStyle/>
          <a:p>
            <a:pPr algn="l"/>
            <a:r>
              <a:rPr sz="1000" b="0" i="0">
                <a:solidFill>
                  <a:srgbClr val="737373"/>
                </a:solidFill>
                <a:latin typeface="Arial"/>
              </a:rPr>
              <a:t>$40K-$70K</a:t>
            </a:r>
          </a:p>
        </p:txBody>
      </p:sp>
      <p:sp>
        <p:nvSpPr>
          <p:cNvPr id="28" name="Rectangle 27"/>
          <p:cNvSpPr/>
          <p:nvPr/>
        </p:nvSpPr>
        <p:spPr>
          <a:xfrm>
            <a:off x="731520" y="3721608"/>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767328"/>
            <a:ext cx="3657599" cy="210312"/>
          </a:xfrm>
          <a:prstGeom prst="rect">
            <a:avLst/>
          </a:prstGeom>
          <a:noFill/>
        </p:spPr>
        <p:txBody>
          <a:bodyPr wrap="square">
            <a:spAutoFit/>
          </a:bodyPr>
          <a:lstStyle/>
          <a:p>
            <a:pPr algn="l"/>
            <a:r>
              <a:rPr sz="1000" b="0" i="0">
                <a:solidFill>
                  <a:srgbClr val="FFFFFF"/>
                </a:solidFill>
                <a:latin typeface="Arial"/>
              </a:rPr>
              <a:t>Procurement Agent</a:t>
            </a:r>
          </a:p>
        </p:txBody>
      </p:sp>
      <p:sp>
        <p:nvSpPr>
          <p:cNvPr id="30" name="Rectangle 29"/>
          <p:cNvSpPr/>
          <p:nvPr/>
        </p:nvSpPr>
        <p:spPr>
          <a:xfrm>
            <a:off x="4663440" y="3721608"/>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36592" y="3767328"/>
            <a:ext cx="4114800" cy="210312"/>
          </a:xfrm>
          <a:prstGeom prst="rect">
            <a:avLst/>
          </a:prstGeom>
          <a:noFill/>
        </p:spPr>
        <p:txBody>
          <a:bodyPr wrap="square">
            <a:spAutoFit/>
          </a:bodyPr>
          <a:lstStyle/>
          <a:p>
            <a:pPr algn="l"/>
            <a:r>
              <a:rPr sz="1000" b="0" i="0">
                <a:solidFill>
                  <a:srgbClr val="737373"/>
                </a:solidFill>
                <a:latin typeface="Arial"/>
              </a:rPr>
              <a:t>Reduces waste, prevents stockouts</a:t>
            </a:r>
          </a:p>
        </p:txBody>
      </p:sp>
      <p:sp>
        <p:nvSpPr>
          <p:cNvPr id="32" name="Rectangle 31"/>
          <p:cNvSpPr/>
          <p:nvPr/>
        </p:nvSpPr>
        <p:spPr>
          <a:xfrm>
            <a:off x="9052560" y="3721608"/>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3767328"/>
            <a:ext cx="2834640" cy="210312"/>
          </a:xfrm>
          <a:prstGeom prst="rect">
            <a:avLst/>
          </a:prstGeom>
          <a:noFill/>
        </p:spPr>
        <p:txBody>
          <a:bodyPr wrap="square">
            <a:spAutoFit/>
          </a:bodyPr>
          <a:lstStyle/>
          <a:p>
            <a:pPr algn="l"/>
            <a:r>
              <a:rPr sz="1000" b="0" i="0">
                <a:solidFill>
                  <a:srgbClr val="737373"/>
                </a:solidFill>
                <a:latin typeface="Arial"/>
              </a:rPr>
              <a:t>$25K-$40K</a:t>
            </a:r>
          </a:p>
        </p:txBody>
      </p:sp>
      <p:sp>
        <p:nvSpPr>
          <p:cNvPr id="34" name="Rectangle 33"/>
          <p:cNvSpPr/>
          <p:nvPr/>
        </p:nvSpPr>
        <p:spPr>
          <a:xfrm>
            <a:off x="731520" y="4023360"/>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069080"/>
            <a:ext cx="3657599" cy="210312"/>
          </a:xfrm>
          <a:prstGeom prst="rect">
            <a:avLst/>
          </a:prstGeom>
          <a:noFill/>
        </p:spPr>
        <p:txBody>
          <a:bodyPr wrap="square">
            <a:spAutoFit/>
          </a:bodyPr>
          <a:lstStyle/>
          <a:p>
            <a:pPr algn="l"/>
            <a:r>
              <a:rPr sz="1000" b="0" i="0">
                <a:solidFill>
                  <a:srgbClr val="FFFFFF"/>
                </a:solidFill>
                <a:latin typeface="Arial"/>
              </a:rPr>
              <a:t>Billing and Reporting Agent</a:t>
            </a:r>
          </a:p>
        </p:txBody>
      </p:sp>
      <p:sp>
        <p:nvSpPr>
          <p:cNvPr id="36" name="Rectangle 35"/>
          <p:cNvSpPr/>
          <p:nvPr/>
        </p:nvSpPr>
        <p:spPr>
          <a:xfrm>
            <a:off x="4663440" y="4023360"/>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36592" y="4069080"/>
            <a:ext cx="4114800" cy="210312"/>
          </a:xfrm>
          <a:prstGeom prst="rect">
            <a:avLst/>
          </a:prstGeom>
          <a:noFill/>
        </p:spPr>
        <p:txBody>
          <a:bodyPr wrap="square">
            <a:spAutoFit/>
          </a:bodyPr>
          <a:lstStyle/>
          <a:p>
            <a:pPr algn="l"/>
            <a:r>
              <a:rPr sz="1000" b="0" i="0">
                <a:solidFill>
                  <a:srgbClr val="737373"/>
                </a:solidFill>
                <a:latin typeface="Arial"/>
              </a:rPr>
              <a:t>Replaces bookkeeping hours</a:t>
            </a:r>
          </a:p>
        </p:txBody>
      </p:sp>
      <p:sp>
        <p:nvSpPr>
          <p:cNvPr id="38" name="Rectangle 37"/>
          <p:cNvSpPr/>
          <p:nvPr/>
        </p:nvSpPr>
        <p:spPr>
          <a:xfrm>
            <a:off x="9052560" y="4023360"/>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069080"/>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40" name="Rectangle 39"/>
          <p:cNvSpPr/>
          <p:nvPr/>
        </p:nvSpPr>
        <p:spPr>
          <a:xfrm>
            <a:off x="731520" y="4325112"/>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370832"/>
            <a:ext cx="3657599" cy="210312"/>
          </a:xfrm>
          <a:prstGeom prst="rect">
            <a:avLst/>
          </a:prstGeom>
          <a:noFill/>
        </p:spPr>
        <p:txBody>
          <a:bodyPr wrap="square">
            <a:spAutoFit/>
          </a:bodyPr>
          <a:lstStyle/>
          <a:p>
            <a:pPr algn="l"/>
            <a:r>
              <a:rPr sz="1000" b="0" i="0">
                <a:solidFill>
                  <a:srgbClr val="FFFFFF"/>
                </a:solidFill>
                <a:latin typeface="Arial"/>
              </a:rPr>
              <a:t>Content and Promo Agent</a:t>
            </a:r>
          </a:p>
        </p:txBody>
      </p:sp>
      <p:sp>
        <p:nvSpPr>
          <p:cNvPr id="42" name="Rectangle 41"/>
          <p:cNvSpPr/>
          <p:nvPr/>
        </p:nvSpPr>
        <p:spPr>
          <a:xfrm>
            <a:off x="4663440" y="4325112"/>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370832"/>
            <a:ext cx="4114800" cy="210312"/>
          </a:xfrm>
          <a:prstGeom prst="rect">
            <a:avLst/>
          </a:prstGeom>
          <a:noFill/>
        </p:spPr>
        <p:txBody>
          <a:bodyPr wrap="square">
            <a:spAutoFit/>
          </a:bodyPr>
          <a:lstStyle/>
          <a:p>
            <a:pPr algn="l"/>
            <a:r>
              <a:rPr sz="1000" b="0" i="0">
                <a:solidFill>
                  <a:srgbClr val="737373"/>
                </a:solidFill>
                <a:latin typeface="Arial"/>
              </a:rPr>
              <a:t>Replaces social media manager</a:t>
            </a:r>
          </a:p>
        </p:txBody>
      </p:sp>
      <p:sp>
        <p:nvSpPr>
          <p:cNvPr id="44" name="Rectangle 43"/>
          <p:cNvSpPr/>
          <p:nvPr/>
        </p:nvSpPr>
        <p:spPr>
          <a:xfrm>
            <a:off x="9052560" y="4325112"/>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370832"/>
            <a:ext cx="2834640" cy="210312"/>
          </a:xfrm>
          <a:prstGeom prst="rect">
            <a:avLst/>
          </a:prstGeom>
          <a:noFill/>
        </p:spPr>
        <p:txBody>
          <a:bodyPr wrap="square">
            <a:spAutoFit/>
          </a:bodyPr>
          <a:lstStyle/>
          <a:p>
            <a:pPr algn="l"/>
            <a:r>
              <a:rPr sz="1000" b="0" i="0">
                <a:solidFill>
                  <a:srgbClr val="737373"/>
                </a:solidFill>
                <a:latin typeface="Arial"/>
              </a:rPr>
              <a:t>$25K-$45K</a:t>
            </a:r>
          </a:p>
        </p:txBody>
      </p:sp>
      <p:sp>
        <p:nvSpPr>
          <p:cNvPr id="46" name="Rectangle 45"/>
          <p:cNvSpPr/>
          <p:nvPr/>
        </p:nvSpPr>
        <p:spPr>
          <a:xfrm>
            <a:off x="731520" y="4626864"/>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4672584"/>
            <a:ext cx="3657599" cy="210312"/>
          </a:xfrm>
          <a:prstGeom prst="rect">
            <a:avLst/>
          </a:prstGeom>
          <a:noFill/>
        </p:spPr>
        <p:txBody>
          <a:bodyPr wrap="square">
            <a:spAutoFit/>
          </a:bodyPr>
          <a:lstStyle/>
          <a:p>
            <a:pPr algn="l"/>
            <a:r>
              <a:rPr sz="1000" b="0" i="0">
                <a:solidFill>
                  <a:srgbClr val="FFFFFF"/>
                </a:solidFill>
                <a:latin typeface="Arial"/>
              </a:rPr>
              <a:t>Staff Scheduling Agent</a:t>
            </a:r>
          </a:p>
        </p:txBody>
      </p:sp>
      <p:sp>
        <p:nvSpPr>
          <p:cNvPr id="48" name="Rectangle 47"/>
          <p:cNvSpPr/>
          <p:nvPr/>
        </p:nvSpPr>
        <p:spPr>
          <a:xfrm>
            <a:off x="4663440" y="4626864"/>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36592" y="4672584"/>
            <a:ext cx="4114800" cy="210312"/>
          </a:xfrm>
          <a:prstGeom prst="rect">
            <a:avLst/>
          </a:prstGeom>
          <a:noFill/>
        </p:spPr>
        <p:txBody>
          <a:bodyPr wrap="square">
            <a:spAutoFit/>
          </a:bodyPr>
          <a:lstStyle/>
          <a:p>
            <a:pPr algn="l"/>
            <a:r>
              <a:rPr sz="1000" b="0" i="0">
                <a:solidFill>
                  <a:srgbClr val="737373"/>
                </a:solidFill>
                <a:latin typeface="Arial"/>
              </a:rPr>
              <a:t>Reduces manager admin time</a:t>
            </a:r>
          </a:p>
        </p:txBody>
      </p:sp>
      <p:sp>
        <p:nvSpPr>
          <p:cNvPr id="50" name="Rectangle 49"/>
          <p:cNvSpPr/>
          <p:nvPr/>
        </p:nvSpPr>
        <p:spPr>
          <a:xfrm>
            <a:off x="9052560" y="4626864"/>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4672584"/>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52" name="Rectangle 51"/>
          <p:cNvSpPr/>
          <p:nvPr/>
        </p:nvSpPr>
        <p:spPr>
          <a:xfrm>
            <a:off x="731520" y="4928616"/>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4974336"/>
            <a:ext cx="3657599" cy="210312"/>
          </a:xfrm>
          <a:prstGeom prst="rect">
            <a:avLst/>
          </a:prstGeom>
          <a:noFill/>
        </p:spPr>
        <p:txBody>
          <a:bodyPr wrap="square">
            <a:spAutoFit/>
          </a:bodyPr>
          <a:lstStyle/>
          <a:p>
            <a:pPr algn="l"/>
            <a:r>
              <a:rPr sz="1000" b="0" i="0">
                <a:solidFill>
                  <a:srgbClr val="FFFFFF"/>
                </a:solidFill>
                <a:latin typeface="Arial"/>
              </a:rPr>
              <a:t>Loyalty and Outreach Agent</a:t>
            </a:r>
          </a:p>
        </p:txBody>
      </p:sp>
      <p:sp>
        <p:nvSpPr>
          <p:cNvPr id="54" name="Rectangle 53"/>
          <p:cNvSpPr/>
          <p:nvPr/>
        </p:nvSpPr>
        <p:spPr>
          <a:xfrm>
            <a:off x="4663440" y="4928616"/>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36592" y="4974336"/>
            <a:ext cx="4114800" cy="210312"/>
          </a:xfrm>
          <a:prstGeom prst="rect">
            <a:avLst/>
          </a:prstGeom>
          <a:noFill/>
        </p:spPr>
        <p:txBody>
          <a:bodyPr wrap="square">
            <a:spAutoFit/>
          </a:bodyPr>
          <a:lstStyle/>
          <a:p>
            <a:pPr algn="l"/>
            <a:r>
              <a:rPr sz="1000" b="0" i="0">
                <a:solidFill>
                  <a:srgbClr val="737373"/>
                </a:solidFill>
                <a:latin typeface="Arial"/>
              </a:rPr>
              <a:t>Catering leads + repeat customer revenue</a:t>
            </a:r>
          </a:p>
        </p:txBody>
      </p:sp>
      <p:sp>
        <p:nvSpPr>
          <p:cNvPr id="56" name="Rectangle 55"/>
          <p:cNvSpPr/>
          <p:nvPr/>
        </p:nvSpPr>
        <p:spPr>
          <a:xfrm>
            <a:off x="9052560" y="4928616"/>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25712" y="4974336"/>
            <a:ext cx="2834640" cy="210312"/>
          </a:xfrm>
          <a:prstGeom prst="rect">
            <a:avLst/>
          </a:prstGeom>
          <a:noFill/>
        </p:spPr>
        <p:txBody>
          <a:bodyPr wrap="square">
            <a:spAutoFit/>
          </a:bodyPr>
          <a:lstStyle/>
          <a:p>
            <a:pPr algn="l"/>
            <a:r>
              <a:rPr sz="1000" b="0" i="0">
                <a:solidFill>
                  <a:srgbClr val="737373"/>
                </a:solidFill>
                <a:latin typeface="Arial"/>
              </a:rPr>
              <a:t>$50K-$85K</a:t>
            </a:r>
          </a:p>
        </p:txBody>
      </p:sp>
      <p:sp>
        <p:nvSpPr>
          <p:cNvPr id="58" name="Rectangle 57"/>
          <p:cNvSpPr/>
          <p:nvPr/>
        </p:nvSpPr>
        <p:spPr>
          <a:xfrm>
            <a:off x="731520" y="5230368"/>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672" y="5276088"/>
            <a:ext cx="3657599" cy="210312"/>
          </a:xfrm>
          <a:prstGeom prst="rect">
            <a:avLst/>
          </a:prstGeom>
          <a:noFill/>
        </p:spPr>
        <p:txBody>
          <a:bodyPr wrap="square">
            <a:spAutoFit/>
          </a:bodyPr>
          <a:lstStyle/>
          <a:p>
            <a:pPr algn="l"/>
            <a:r>
              <a:rPr sz="1000" b="0" i="0">
                <a:solidFill>
                  <a:srgbClr val="FFFFFF"/>
                </a:solidFill>
                <a:latin typeface="Arial"/>
              </a:rPr>
              <a:t>Catering Coordination Agent</a:t>
            </a:r>
          </a:p>
        </p:txBody>
      </p:sp>
      <p:sp>
        <p:nvSpPr>
          <p:cNvPr id="60" name="Rectangle 59"/>
          <p:cNvSpPr/>
          <p:nvPr/>
        </p:nvSpPr>
        <p:spPr>
          <a:xfrm>
            <a:off x="4663440" y="5230368"/>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36592" y="5276088"/>
            <a:ext cx="4114800" cy="210312"/>
          </a:xfrm>
          <a:prstGeom prst="rect">
            <a:avLst/>
          </a:prstGeom>
          <a:noFill/>
        </p:spPr>
        <p:txBody>
          <a:bodyPr wrap="square">
            <a:spAutoFit/>
          </a:bodyPr>
          <a:lstStyle/>
          <a:p>
            <a:pPr algn="l"/>
            <a:r>
              <a:rPr sz="1000" b="0" i="0">
                <a:solidFill>
                  <a:srgbClr val="737373"/>
                </a:solidFill>
                <a:latin typeface="Arial"/>
              </a:rPr>
              <a:t>New revenue channel fully automated</a:t>
            </a:r>
          </a:p>
        </p:txBody>
      </p:sp>
      <p:sp>
        <p:nvSpPr>
          <p:cNvPr id="62" name="Rectangle 61"/>
          <p:cNvSpPr/>
          <p:nvPr/>
        </p:nvSpPr>
        <p:spPr>
          <a:xfrm>
            <a:off x="9052560" y="5230368"/>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25712" y="5276088"/>
            <a:ext cx="2834640" cy="210312"/>
          </a:xfrm>
          <a:prstGeom prst="rect">
            <a:avLst/>
          </a:prstGeom>
          <a:noFill/>
        </p:spPr>
        <p:txBody>
          <a:bodyPr wrap="square">
            <a:spAutoFit/>
          </a:bodyPr>
          <a:lstStyle/>
          <a:p>
            <a:pPr algn="l"/>
            <a:r>
              <a:rPr sz="1000" b="0" i="0">
                <a:solidFill>
                  <a:srgbClr val="737373"/>
                </a:solidFill>
                <a:latin typeface="Arial"/>
              </a:rPr>
              <a:t>$60K-$100K</a:t>
            </a:r>
          </a:p>
        </p:txBody>
      </p:sp>
      <p:sp>
        <p:nvSpPr>
          <p:cNvPr id="64" name="Rectangle 63"/>
          <p:cNvSpPr/>
          <p:nvPr/>
        </p:nvSpPr>
        <p:spPr>
          <a:xfrm>
            <a:off x="731520" y="5532120"/>
            <a:ext cx="3749039"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4672" y="5577840"/>
            <a:ext cx="3657599" cy="210312"/>
          </a:xfrm>
          <a:prstGeom prst="rect">
            <a:avLst/>
          </a:prstGeom>
          <a:noFill/>
        </p:spPr>
        <p:txBody>
          <a:bodyPr wrap="square">
            <a:spAutoFit/>
          </a:bodyPr>
          <a:lstStyle/>
          <a:p>
            <a:pPr algn="l"/>
            <a:r>
              <a:rPr sz="1100" b="1" i="0">
                <a:solidFill>
                  <a:srgbClr val="FFFFFF"/>
                </a:solidFill>
                <a:latin typeface="Arial"/>
              </a:rPr>
              <a:t>TOTAL (8 AGENTS)</a:t>
            </a:r>
          </a:p>
        </p:txBody>
      </p:sp>
      <p:sp>
        <p:nvSpPr>
          <p:cNvPr id="66" name="Rectangle 65"/>
          <p:cNvSpPr/>
          <p:nvPr/>
        </p:nvSpPr>
        <p:spPr>
          <a:xfrm>
            <a:off x="4663440" y="5532120"/>
            <a:ext cx="4206240"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36592" y="5577840"/>
            <a:ext cx="4114800" cy="210312"/>
          </a:xfrm>
          <a:prstGeom prst="rect">
            <a:avLst/>
          </a:prstGeom>
          <a:noFill/>
        </p:spPr>
        <p:txBody>
          <a:bodyPr wrap="square">
            <a:spAutoFit/>
          </a:bodyPr>
          <a:lstStyle/>
          <a:p>
            <a:pPr algn="l"/>
            <a:r>
              <a:rPr sz="1100" b="1" i="0">
                <a:solidFill>
                  <a:srgbClr val="FFFFFF"/>
                </a:solidFill>
                <a:latin typeface="Arial"/>
              </a:rPr>
              <a:t>3-4 roles replaced + revenue uplift</a:t>
            </a:r>
          </a:p>
        </p:txBody>
      </p:sp>
      <p:sp>
        <p:nvSpPr>
          <p:cNvPr id="68" name="Rectangle 67"/>
          <p:cNvSpPr/>
          <p:nvPr/>
        </p:nvSpPr>
        <p:spPr>
          <a:xfrm>
            <a:off x="9052560" y="5532120"/>
            <a:ext cx="2926080"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25712" y="5577840"/>
            <a:ext cx="2834640" cy="210312"/>
          </a:xfrm>
          <a:prstGeom prst="rect">
            <a:avLst/>
          </a:prstGeom>
          <a:noFill/>
        </p:spPr>
        <p:txBody>
          <a:bodyPr wrap="square">
            <a:spAutoFit/>
          </a:bodyPr>
          <a:lstStyle/>
          <a:p>
            <a:pPr algn="l"/>
            <a:r>
              <a:rPr sz="1100" b="1" i="0">
                <a:solidFill>
                  <a:srgbClr val="22D3EE"/>
                </a:solidFill>
                <a:latin typeface="Arial"/>
              </a:rPr>
              <a:t>$295K-$500K</a:t>
            </a:r>
          </a:p>
        </p:txBody>
      </p:sp>
      <p:sp>
        <p:nvSpPr>
          <p:cNvPr id="70" name="TextBox 69"/>
          <p:cNvSpPr txBox="1"/>
          <p:nvPr/>
        </p:nvSpPr>
        <p:spPr>
          <a:xfrm>
            <a:off x="731520" y="6400800"/>
            <a:ext cx="10515600" cy="320040"/>
          </a:xfrm>
          <a:prstGeom prst="rect">
            <a:avLst/>
          </a:prstGeom>
          <a:noFill/>
        </p:spPr>
        <p:txBody>
          <a:bodyPr wrap="square">
            <a:spAutoFit/>
          </a:bodyPr>
          <a:lstStyle/>
          <a:p>
            <a:pPr algn="l"/>
            <a:r>
              <a:rPr sz="1100" b="0" i="0">
                <a:solidFill>
                  <a:srgbClr val="373737"/>
                </a:solidFill>
                <a:latin typeface="Arial"/>
              </a:rPr>
              <a:t>Deployment cost (6 months): $40K-$60K   |   Net value: $235K-$440K   |   Payback: 45-60 days</a:t>
            </a:r>
          </a:p>
        </p:txBody>
      </p:sp>
      <p:sp>
        <p:nvSpPr>
          <p:cNvPr id="71" name="TextBox 7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Revenue in 30 days.</a:t>
            </a:r>
          </a:p>
          <a:p>
            <a:r>
              <a:rPr sz="3800" b="1">
                <a:solidFill>
                  <a:srgbClr val="22D3EE"/>
                </a:solidFill>
                <a:latin typeface="Arial"/>
              </a:rPr>
              <a:t>Full coverage in 90.</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Customer Service + Reviews</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Order inquiry agent and review response agent go live. Every customer message and review handled automatically. Immediate impact on reputation and response time.</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800" b="1" i="0">
                <a:solidFill>
                  <a:srgbClr val="22D3EE"/>
                </a:solidFill>
                <a:latin typeface="Arial"/>
              </a:rPr>
              <a:t>Revenue in 30 days</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2-3</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Operations + Finance</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Platform management, procurement, billing, and scheduling agents deployed. Operations run without manual coordination. Ownership gets clean weekly reports automatically.</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800" b="1" i="0">
                <a:solidFill>
                  <a:srgbClr val="22D3EE"/>
                </a:solidFill>
                <a:latin typeface="Arial"/>
              </a:rPr>
              <a:t>$120K-$220K by month 3</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4-6</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Marketing + Catering</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Content agent, loyalty outreach, and catering coordination go live. Social presence grows consistently. Catering revenue becomes a fully automated channel.</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800" b="1" i="0">
                <a:solidFill>
                  <a:srgbClr val="22D3EE"/>
                </a:solidFill>
                <a:latin typeface="Arial"/>
              </a:rPr>
              <a:t>$295K-$500K by month 6</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WHY DEVOLUTION LAB</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Not software you manage.</a:t>
            </a:r>
          </a:p>
          <a:p>
            <a:r>
              <a:rPr sz="3800" b="1">
                <a:solidFill>
                  <a:srgbClr val="22D3EE"/>
                </a:solidFill>
                <a:latin typeface="Arial"/>
              </a:rPr>
              <a:t>A workforce we operate for you.</a:t>
            </a:r>
          </a:p>
        </p:txBody>
      </p:sp>
      <p:sp>
        <p:nvSpPr>
          <p:cNvPr id="4" name="Rectangle 3"/>
          <p:cNvSpPr/>
          <p:nvPr/>
        </p:nvSpPr>
        <p:spPr>
          <a:xfrm>
            <a:off x="73152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4937760" cy="365760"/>
          </a:xfrm>
          <a:prstGeom prst="rect">
            <a:avLst/>
          </a:prstGeom>
          <a:noFill/>
        </p:spPr>
        <p:txBody>
          <a:bodyPr wrap="square">
            <a:spAutoFit/>
          </a:bodyPr>
          <a:lstStyle/>
          <a:p>
            <a:pPr algn="l"/>
            <a:r>
              <a:rPr sz="1500" b="1" i="0">
                <a:solidFill>
                  <a:srgbClr val="FFFFFF"/>
                </a:solidFill>
                <a:latin typeface="Arial"/>
              </a:rPr>
              <a:t>No IT team required</a:t>
            </a:r>
          </a:p>
        </p:txBody>
      </p:sp>
      <p:sp>
        <p:nvSpPr>
          <p:cNvPr id="7" name="TextBox 6"/>
          <p:cNvSpPr txBox="1"/>
          <p:nvPr/>
        </p:nvSpPr>
        <p:spPr>
          <a:xfrm>
            <a:off x="914400" y="3291840"/>
            <a:ext cx="4937760" cy="914400"/>
          </a:xfrm>
          <a:prstGeom prst="rect">
            <a:avLst/>
          </a:prstGeom>
          <a:noFill/>
        </p:spPr>
        <p:txBody>
          <a:bodyPr wrap="square">
            <a:spAutoFit/>
          </a:bodyPr>
          <a:lstStyle/>
          <a:p>
            <a:pPr algn="l"/>
            <a:r>
              <a:rPr sz="1200" b="0" i="0">
                <a:solidFill>
                  <a:srgbClr val="737373"/>
                </a:solidFill>
                <a:latin typeface="Arial"/>
              </a:rPr>
              <a:t>Devolution Lab handles full deployment and ongoing operations. Geno's team stays focused on making the best cheesesteak in Philadelphia.</a:t>
            </a:r>
          </a:p>
        </p:txBody>
      </p:sp>
      <p:sp>
        <p:nvSpPr>
          <p:cNvPr id="8" name="Rectangle 7"/>
          <p:cNvSpPr/>
          <p:nvPr/>
        </p:nvSpPr>
        <p:spPr>
          <a:xfrm>
            <a:off x="640080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834640"/>
            <a:ext cx="4937760" cy="365760"/>
          </a:xfrm>
          <a:prstGeom prst="rect">
            <a:avLst/>
          </a:prstGeom>
          <a:noFill/>
        </p:spPr>
        <p:txBody>
          <a:bodyPr wrap="square">
            <a:spAutoFit/>
          </a:bodyPr>
          <a:lstStyle/>
          <a:p>
            <a:pPr algn="l"/>
            <a:r>
              <a:rPr sz="1500" b="1" i="0">
                <a:solidFill>
                  <a:srgbClr val="FFFFFF"/>
                </a:solidFill>
                <a:latin typeface="Arial"/>
              </a:rPr>
              <a:t>Your data stays private</a:t>
            </a:r>
          </a:p>
        </p:txBody>
      </p:sp>
      <p:sp>
        <p:nvSpPr>
          <p:cNvPr id="11" name="TextBox 10"/>
          <p:cNvSpPr txBox="1"/>
          <p:nvPr/>
        </p:nvSpPr>
        <p:spPr>
          <a:xfrm>
            <a:off x="6583680" y="3291840"/>
            <a:ext cx="4937760" cy="914400"/>
          </a:xfrm>
          <a:prstGeom prst="rect">
            <a:avLst/>
          </a:prstGeom>
          <a:noFill/>
        </p:spPr>
        <p:txBody>
          <a:bodyPr wrap="square">
            <a:spAutoFit/>
          </a:bodyPr>
          <a:lstStyle/>
          <a:p>
            <a:pPr algn="l"/>
            <a:r>
              <a:rPr sz="1200" b="0" i="0">
                <a:solidFill>
                  <a:srgbClr val="737373"/>
                </a:solidFill>
                <a:latin typeface="Arial"/>
              </a:rPr>
              <a:t>Customer records, sales data, and operational information stay inside Geno's systems. Zero third-party exposure.</a:t>
            </a:r>
          </a:p>
        </p:txBody>
      </p:sp>
      <p:sp>
        <p:nvSpPr>
          <p:cNvPr id="12" name="Rectangle 11"/>
          <p:cNvSpPr/>
          <p:nvPr/>
        </p:nvSpPr>
        <p:spPr>
          <a:xfrm>
            <a:off x="73152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54880"/>
            <a:ext cx="4937760" cy="365760"/>
          </a:xfrm>
          <a:prstGeom prst="rect">
            <a:avLst/>
          </a:prstGeom>
          <a:noFill/>
        </p:spPr>
        <p:txBody>
          <a:bodyPr wrap="square">
            <a:spAutoFit/>
          </a:bodyPr>
          <a:lstStyle/>
          <a:p>
            <a:pPr algn="l"/>
            <a:r>
              <a:rPr sz="1500" b="1" i="0">
                <a:solidFill>
                  <a:srgbClr val="FFFFFF"/>
                </a:solidFill>
                <a:latin typeface="Arial"/>
              </a:rPr>
              <a:t>Built for hospitality</a:t>
            </a:r>
          </a:p>
        </p:txBody>
      </p:sp>
      <p:sp>
        <p:nvSpPr>
          <p:cNvPr id="15" name="TextBox 14"/>
          <p:cNvSpPr txBox="1"/>
          <p:nvPr/>
        </p:nvSpPr>
        <p:spPr>
          <a:xfrm>
            <a:off x="914400" y="5212080"/>
            <a:ext cx="4937760" cy="914400"/>
          </a:xfrm>
          <a:prstGeom prst="rect">
            <a:avLst/>
          </a:prstGeom>
          <a:noFill/>
        </p:spPr>
        <p:txBody>
          <a:bodyPr wrap="square">
            <a:spAutoFit/>
          </a:bodyPr>
          <a:lstStyle/>
          <a:p>
            <a:pPr algn="l"/>
            <a:r>
              <a:rPr sz="1200" b="0" i="0">
                <a:solidFill>
                  <a:srgbClr val="737373"/>
                </a:solidFill>
                <a:latin typeface="Arial"/>
              </a:rPr>
              <a:t>Each agent is configured for the specific workflows of a high-volume food operation. Not generic AI tools that need months of setup.</a:t>
            </a:r>
          </a:p>
        </p:txBody>
      </p:sp>
      <p:sp>
        <p:nvSpPr>
          <p:cNvPr id="16" name="Rectangle 15"/>
          <p:cNvSpPr/>
          <p:nvPr/>
        </p:nvSpPr>
        <p:spPr>
          <a:xfrm>
            <a:off x="640080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754880"/>
            <a:ext cx="4937760" cy="365760"/>
          </a:xfrm>
          <a:prstGeom prst="rect">
            <a:avLst/>
          </a:prstGeom>
          <a:noFill/>
        </p:spPr>
        <p:txBody>
          <a:bodyPr wrap="square">
            <a:spAutoFit/>
          </a:bodyPr>
          <a:lstStyle/>
          <a:p>
            <a:pPr algn="l"/>
            <a:r>
              <a:rPr sz="1500" b="1" i="0">
                <a:solidFill>
                  <a:srgbClr val="FFFFFF"/>
                </a:solidFill>
                <a:latin typeface="Arial"/>
              </a:rPr>
              <a:t>Own it outright anytime</a:t>
            </a:r>
          </a:p>
        </p:txBody>
      </p:sp>
      <p:sp>
        <p:nvSpPr>
          <p:cNvPr id="19" name="TextBox 18"/>
          <p:cNvSpPr txBox="1"/>
          <p:nvPr/>
        </p:nvSpPr>
        <p:spPr>
          <a:xfrm>
            <a:off x="6583680" y="5212080"/>
            <a:ext cx="4937760" cy="914400"/>
          </a:xfrm>
          <a:prstGeom prst="rect">
            <a:avLst/>
          </a:prstGeom>
          <a:noFill/>
        </p:spPr>
        <p:txBody>
          <a:bodyPr wrap="square">
            <a:spAutoFit/>
          </a:bodyPr>
          <a:lstStyle/>
          <a:p>
            <a:pPr algn="l"/>
            <a:r>
              <a:rPr sz="1200" b="0" i="0">
                <a:solidFill>
                  <a:srgbClr val="737373"/>
                </a:solidFill>
                <a:latin typeface="Arial"/>
              </a:rPr>
              <a:t>Monthly fee for up to 6 months. Full platform ownership at any time with ongoing support. No long-term commitment to start.</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5000" b="1">
                <a:solidFill>
                  <a:srgbClr val="22D3EE"/>
                </a:solidFill>
                <a:latin typeface="Arial"/>
              </a:rPr>
              <a:t>$295K-$500K in 6 months.</a:t>
            </a:r>
          </a:p>
          <a:p>
            <a:r>
              <a:rPr sz="5000" b="1">
                <a:solidFill>
                  <a:srgbClr val="FFFFFF"/>
                </a:solidFill>
                <a:latin typeface="Arial"/>
              </a:rPr>
              <a:t>8 agents. 45-day payback.</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team keeps making the best cheesesteak in Philadelphia.
The AI workforce handles every order, every review, every vendor, every report — automatically.</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lgn="l"/>
            <a:r>
              <a:rPr sz="900" b="1">
                <a:solidFill>
                  <a:srgbClr val="22D3EE"/>
                </a:solidFill>
                <a:latin typeface="Arial"/>
              </a:rPr>
              <a:t>ANNUAL SAVINGS PROJECTION</a:t>
            </a:r>
          </a:p>
        </p:txBody>
      </p:sp>
      <p:sp>
        <p:nvSpPr>
          <p:cNvPr id="3" name="TextBox 2"/>
          <p:cNvSpPr txBox="1"/>
          <p:nvPr/>
        </p:nvSpPr>
        <p:spPr>
          <a:xfrm>
            <a:off x="731520" y="731520"/>
            <a:ext cx="10515600" cy="1280160"/>
          </a:xfrm>
          <a:prstGeom prst="rect">
            <a:avLst/>
          </a:prstGeom>
          <a:noFill/>
        </p:spPr>
        <p:txBody>
          <a:bodyPr wrap="square">
            <a:spAutoFit/>
          </a:bodyPr>
          <a:lstStyle/>
          <a:p>
            <a:r>
              <a:rPr sz="4000" b="1">
                <a:solidFill>
                  <a:srgbClr val="FFFFFF"/>
                </a:solidFill>
                <a:latin typeface="Arial"/>
              </a:rPr>
              <a:t>Geno's Steaks</a:t>
            </a:r>
          </a:p>
          <a:p>
            <a:r>
              <a:rPr sz="4000" b="1">
                <a:solidFill>
                  <a:srgbClr val="22D3EE"/>
                </a:solidFill>
                <a:latin typeface="Arial"/>
              </a:rPr>
              <a:t>$590K-$1M annually</a:t>
            </a:r>
          </a:p>
        </p:txBody>
      </p:sp>
      <p:sp>
        <p:nvSpPr>
          <p:cNvPr id="4" name="Rectangle 3"/>
          <p:cNvSpPr/>
          <p:nvPr/>
        </p:nvSpPr>
        <p:spPr>
          <a:xfrm>
            <a:off x="731520" y="2331720"/>
            <a:ext cx="43891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50008"/>
            <a:ext cx="4389120" cy="256032"/>
          </a:xfrm>
          <a:prstGeom prst="rect">
            <a:avLst/>
          </a:prstGeom>
          <a:noFill/>
        </p:spPr>
        <p:txBody>
          <a:bodyPr wrap="square">
            <a:spAutoFit/>
          </a:bodyPr>
          <a:lstStyle/>
          <a:p>
            <a:pPr algn="l"/>
            <a:r>
              <a:rPr sz="1000" b="1">
                <a:solidFill>
                  <a:srgbClr val="373737"/>
                </a:solidFill>
                <a:latin typeface="Arial"/>
              </a:rPr>
              <a:t>Agent Group</a:t>
            </a:r>
          </a:p>
        </p:txBody>
      </p:sp>
      <p:sp>
        <p:nvSpPr>
          <p:cNvPr id="6" name="Rectangle 5"/>
          <p:cNvSpPr/>
          <p:nvPr/>
        </p:nvSpPr>
        <p:spPr>
          <a:xfrm>
            <a:off x="5303520" y="2331720"/>
            <a:ext cx="34747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2350008"/>
            <a:ext cx="3474720" cy="256032"/>
          </a:xfrm>
          <a:prstGeom prst="rect">
            <a:avLst/>
          </a:prstGeom>
          <a:noFill/>
        </p:spPr>
        <p:txBody>
          <a:bodyPr wrap="square">
            <a:spAutoFit/>
          </a:bodyPr>
          <a:lstStyle/>
          <a:p>
            <a:pPr algn="l"/>
            <a:r>
              <a:rPr sz="1000" b="1">
                <a:solidFill>
                  <a:srgbClr val="373737"/>
                </a:solidFill>
                <a:latin typeface="Arial"/>
              </a:rPr>
              <a:t>6-Month Value</a:t>
            </a:r>
          </a:p>
        </p:txBody>
      </p:sp>
      <p:sp>
        <p:nvSpPr>
          <p:cNvPr id="8" name="Rectangle 7"/>
          <p:cNvSpPr/>
          <p:nvPr/>
        </p:nvSpPr>
        <p:spPr>
          <a:xfrm>
            <a:off x="8961120" y="2331720"/>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0" y="2350008"/>
            <a:ext cx="2926080" cy="256032"/>
          </a:xfrm>
          <a:prstGeom prst="rect">
            <a:avLst/>
          </a:prstGeom>
          <a:noFill/>
        </p:spPr>
        <p:txBody>
          <a:bodyPr wrap="square">
            <a:spAutoFit/>
          </a:bodyPr>
          <a:lstStyle/>
          <a:p>
            <a:pPr algn="l"/>
            <a:r>
              <a:rPr sz="1000" b="1">
                <a:solidFill>
                  <a:srgbClr val="373737"/>
                </a:solidFill>
                <a:latin typeface="Arial"/>
              </a:rPr>
              <a:t>Annual Value (x2)</a:t>
            </a:r>
          </a:p>
        </p:txBody>
      </p:sp>
      <p:sp>
        <p:nvSpPr>
          <p:cNvPr id="10" name="Rectangle 9"/>
          <p:cNvSpPr/>
          <p:nvPr/>
        </p:nvSpPr>
        <p:spPr>
          <a:xfrm>
            <a:off x="731520" y="2670048"/>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715768"/>
            <a:ext cx="4297680" cy="237744"/>
          </a:xfrm>
          <a:prstGeom prst="rect">
            <a:avLst/>
          </a:prstGeom>
          <a:noFill/>
        </p:spPr>
        <p:txBody>
          <a:bodyPr wrap="square">
            <a:spAutoFit/>
          </a:bodyPr>
          <a:lstStyle/>
          <a:p>
            <a:pPr algn="l"/>
            <a:r>
              <a:rPr sz="1000" b="0">
                <a:solidFill>
                  <a:srgbClr val="FFFFFF"/>
                </a:solidFill>
                <a:latin typeface="Arial"/>
              </a:rPr>
              <a:t>Order and Inquiry Agent</a:t>
            </a:r>
          </a:p>
        </p:txBody>
      </p:sp>
      <p:sp>
        <p:nvSpPr>
          <p:cNvPr id="12" name="Rectangle 11"/>
          <p:cNvSpPr/>
          <p:nvPr/>
        </p:nvSpPr>
        <p:spPr>
          <a:xfrm>
            <a:off x="5303520" y="2670048"/>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76672" y="2715768"/>
            <a:ext cx="3383280" cy="237744"/>
          </a:xfrm>
          <a:prstGeom prst="rect">
            <a:avLst/>
          </a:prstGeom>
          <a:noFill/>
        </p:spPr>
        <p:txBody>
          <a:bodyPr wrap="square">
            <a:spAutoFit/>
          </a:bodyPr>
          <a:lstStyle/>
          <a:p>
            <a:pPr algn="l"/>
            <a:r>
              <a:rPr sz="1000" b="0">
                <a:solidFill>
                  <a:srgbClr val="737373"/>
                </a:solidFill>
                <a:latin typeface="Arial"/>
              </a:rPr>
              <a:t>$35K-$55K</a:t>
            </a:r>
          </a:p>
        </p:txBody>
      </p:sp>
      <p:sp>
        <p:nvSpPr>
          <p:cNvPr id="14" name="Rectangle 13"/>
          <p:cNvSpPr/>
          <p:nvPr/>
        </p:nvSpPr>
        <p:spPr>
          <a:xfrm>
            <a:off x="8961120" y="2670048"/>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2715768"/>
            <a:ext cx="2834640" cy="237744"/>
          </a:xfrm>
          <a:prstGeom prst="rect">
            <a:avLst/>
          </a:prstGeom>
          <a:noFill/>
        </p:spPr>
        <p:txBody>
          <a:bodyPr wrap="square">
            <a:spAutoFit/>
          </a:bodyPr>
          <a:lstStyle/>
          <a:p>
            <a:pPr algn="l"/>
            <a:r>
              <a:rPr sz="1000" b="0">
                <a:solidFill>
                  <a:srgbClr val="737373"/>
                </a:solidFill>
                <a:latin typeface="Arial"/>
              </a:rPr>
              <a:t>$70K-$110K</a:t>
            </a:r>
          </a:p>
        </p:txBody>
      </p:sp>
      <p:sp>
        <p:nvSpPr>
          <p:cNvPr id="16" name="Rectangle 15"/>
          <p:cNvSpPr/>
          <p:nvPr/>
        </p:nvSpPr>
        <p:spPr>
          <a:xfrm>
            <a:off x="731520" y="3008376"/>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54096"/>
            <a:ext cx="4297680" cy="237744"/>
          </a:xfrm>
          <a:prstGeom prst="rect">
            <a:avLst/>
          </a:prstGeom>
          <a:noFill/>
        </p:spPr>
        <p:txBody>
          <a:bodyPr wrap="square">
            <a:spAutoFit/>
          </a:bodyPr>
          <a:lstStyle/>
          <a:p>
            <a:pPr algn="l"/>
            <a:r>
              <a:rPr sz="1000" b="0">
                <a:solidFill>
                  <a:srgbClr val="FFFFFF"/>
                </a:solidFill>
                <a:latin typeface="Arial"/>
              </a:rPr>
              <a:t>Review Response Agent</a:t>
            </a:r>
          </a:p>
        </p:txBody>
      </p:sp>
      <p:sp>
        <p:nvSpPr>
          <p:cNvPr id="18" name="Rectangle 17"/>
          <p:cNvSpPr/>
          <p:nvPr/>
        </p:nvSpPr>
        <p:spPr>
          <a:xfrm>
            <a:off x="5303520" y="3008376"/>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6672" y="3054096"/>
            <a:ext cx="3383280" cy="237744"/>
          </a:xfrm>
          <a:prstGeom prst="rect">
            <a:avLst/>
          </a:prstGeom>
          <a:noFill/>
        </p:spPr>
        <p:txBody>
          <a:bodyPr wrap="square">
            <a:spAutoFit/>
          </a:bodyPr>
          <a:lstStyle/>
          <a:p>
            <a:pPr algn="l"/>
            <a:r>
              <a:rPr sz="1000" b="0">
                <a:solidFill>
                  <a:srgbClr val="737373"/>
                </a:solidFill>
                <a:latin typeface="Arial"/>
              </a:rPr>
              <a:t>$20K-$35K</a:t>
            </a:r>
          </a:p>
        </p:txBody>
      </p:sp>
      <p:sp>
        <p:nvSpPr>
          <p:cNvPr id="20" name="Rectangle 19"/>
          <p:cNvSpPr/>
          <p:nvPr/>
        </p:nvSpPr>
        <p:spPr>
          <a:xfrm>
            <a:off x="8961120" y="3008376"/>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4272" y="3054096"/>
            <a:ext cx="2834640" cy="237744"/>
          </a:xfrm>
          <a:prstGeom prst="rect">
            <a:avLst/>
          </a:prstGeom>
          <a:noFill/>
        </p:spPr>
        <p:txBody>
          <a:bodyPr wrap="square">
            <a:spAutoFit/>
          </a:bodyPr>
          <a:lstStyle/>
          <a:p>
            <a:pPr algn="l"/>
            <a:r>
              <a:rPr sz="1000" b="0">
                <a:solidFill>
                  <a:srgbClr val="737373"/>
                </a:solidFill>
                <a:latin typeface="Arial"/>
              </a:rPr>
              <a:t>$40K-$70K</a:t>
            </a:r>
          </a:p>
        </p:txBody>
      </p:sp>
      <p:sp>
        <p:nvSpPr>
          <p:cNvPr id="22" name="Rectangle 21"/>
          <p:cNvSpPr/>
          <p:nvPr/>
        </p:nvSpPr>
        <p:spPr>
          <a:xfrm>
            <a:off x="731520" y="3346704"/>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392424"/>
            <a:ext cx="4297680" cy="237744"/>
          </a:xfrm>
          <a:prstGeom prst="rect">
            <a:avLst/>
          </a:prstGeom>
          <a:noFill/>
        </p:spPr>
        <p:txBody>
          <a:bodyPr wrap="square">
            <a:spAutoFit/>
          </a:bodyPr>
          <a:lstStyle/>
          <a:p>
            <a:pPr algn="l"/>
            <a:r>
              <a:rPr sz="1000" b="0">
                <a:solidFill>
                  <a:srgbClr val="FFFFFF"/>
                </a:solidFill>
                <a:latin typeface="Arial"/>
              </a:rPr>
              <a:t>Platform Management Agent</a:t>
            </a:r>
          </a:p>
        </p:txBody>
      </p:sp>
      <p:sp>
        <p:nvSpPr>
          <p:cNvPr id="24" name="Rectangle 23"/>
          <p:cNvSpPr/>
          <p:nvPr/>
        </p:nvSpPr>
        <p:spPr>
          <a:xfrm>
            <a:off x="5303520" y="3346704"/>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6672" y="3392424"/>
            <a:ext cx="3383280" cy="237744"/>
          </a:xfrm>
          <a:prstGeom prst="rect">
            <a:avLst/>
          </a:prstGeom>
          <a:noFill/>
        </p:spPr>
        <p:txBody>
          <a:bodyPr wrap="square">
            <a:spAutoFit/>
          </a:bodyPr>
          <a:lstStyle/>
          <a:p>
            <a:pPr algn="l"/>
            <a:r>
              <a:rPr sz="1000" b="0">
                <a:solidFill>
                  <a:srgbClr val="737373"/>
                </a:solidFill>
                <a:latin typeface="Arial"/>
              </a:rPr>
              <a:t>$40K-$70K</a:t>
            </a:r>
          </a:p>
        </p:txBody>
      </p:sp>
      <p:sp>
        <p:nvSpPr>
          <p:cNvPr id="26" name="Rectangle 25"/>
          <p:cNvSpPr/>
          <p:nvPr/>
        </p:nvSpPr>
        <p:spPr>
          <a:xfrm>
            <a:off x="8961120" y="3346704"/>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3392424"/>
            <a:ext cx="2834640" cy="237744"/>
          </a:xfrm>
          <a:prstGeom prst="rect">
            <a:avLst/>
          </a:prstGeom>
          <a:noFill/>
        </p:spPr>
        <p:txBody>
          <a:bodyPr wrap="square">
            <a:spAutoFit/>
          </a:bodyPr>
          <a:lstStyle/>
          <a:p>
            <a:pPr algn="l"/>
            <a:r>
              <a:rPr sz="1000" b="0">
                <a:solidFill>
                  <a:srgbClr val="737373"/>
                </a:solidFill>
                <a:latin typeface="Arial"/>
              </a:rPr>
              <a:t>$80K-$140K</a:t>
            </a:r>
          </a:p>
        </p:txBody>
      </p:sp>
      <p:sp>
        <p:nvSpPr>
          <p:cNvPr id="28" name="Rectangle 27"/>
          <p:cNvSpPr/>
          <p:nvPr/>
        </p:nvSpPr>
        <p:spPr>
          <a:xfrm>
            <a:off x="731520" y="3685031"/>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730751"/>
            <a:ext cx="4297680" cy="237744"/>
          </a:xfrm>
          <a:prstGeom prst="rect">
            <a:avLst/>
          </a:prstGeom>
          <a:noFill/>
        </p:spPr>
        <p:txBody>
          <a:bodyPr wrap="square">
            <a:spAutoFit/>
          </a:bodyPr>
          <a:lstStyle/>
          <a:p>
            <a:pPr algn="l"/>
            <a:r>
              <a:rPr sz="1000" b="0">
                <a:solidFill>
                  <a:srgbClr val="FFFFFF"/>
                </a:solidFill>
                <a:latin typeface="Arial"/>
              </a:rPr>
              <a:t>Procurement Agent</a:t>
            </a:r>
          </a:p>
        </p:txBody>
      </p:sp>
      <p:sp>
        <p:nvSpPr>
          <p:cNvPr id="30" name="Rectangle 29"/>
          <p:cNvSpPr/>
          <p:nvPr/>
        </p:nvSpPr>
        <p:spPr>
          <a:xfrm>
            <a:off x="5303520" y="3685031"/>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672" y="3730751"/>
            <a:ext cx="3383280" cy="237744"/>
          </a:xfrm>
          <a:prstGeom prst="rect">
            <a:avLst/>
          </a:prstGeom>
          <a:noFill/>
        </p:spPr>
        <p:txBody>
          <a:bodyPr wrap="square">
            <a:spAutoFit/>
          </a:bodyPr>
          <a:lstStyle/>
          <a:p>
            <a:pPr algn="l"/>
            <a:r>
              <a:rPr sz="1000" b="0">
                <a:solidFill>
                  <a:srgbClr val="737373"/>
                </a:solidFill>
                <a:latin typeface="Arial"/>
              </a:rPr>
              <a:t>$25K-$40K</a:t>
            </a:r>
          </a:p>
        </p:txBody>
      </p:sp>
      <p:sp>
        <p:nvSpPr>
          <p:cNvPr id="32" name="Rectangle 31"/>
          <p:cNvSpPr/>
          <p:nvPr/>
        </p:nvSpPr>
        <p:spPr>
          <a:xfrm>
            <a:off x="8961120" y="3685031"/>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34272" y="3730751"/>
            <a:ext cx="2834640" cy="237744"/>
          </a:xfrm>
          <a:prstGeom prst="rect">
            <a:avLst/>
          </a:prstGeom>
          <a:noFill/>
        </p:spPr>
        <p:txBody>
          <a:bodyPr wrap="square">
            <a:spAutoFit/>
          </a:bodyPr>
          <a:lstStyle/>
          <a:p>
            <a:pPr algn="l"/>
            <a:r>
              <a:rPr sz="1000" b="0">
                <a:solidFill>
                  <a:srgbClr val="737373"/>
                </a:solidFill>
                <a:latin typeface="Arial"/>
              </a:rPr>
              <a:t>$50K-$80K</a:t>
            </a:r>
          </a:p>
        </p:txBody>
      </p:sp>
      <p:sp>
        <p:nvSpPr>
          <p:cNvPr id="34" name="Rectangle 33"/>
          <p:cNvSpPr/>
          <p:nvPr/>
        </p:nvSpPr>
        <p:spPr>
          <a:xfrm>
            <a:off x="731520" y="4023360"/>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069080"/>
            <a:ext cx="4297680" cy="237744"/>
          </a:xfrm>
          <a:prstGeom prst="rect">
            <a:avLst/>
          </a:prstGeom>
          <a:noFill/>
        </p:spPr>
        <p:txBody>
          <a:bodyPr wrap="square">
            <a:spAutoFit/>
          </a:bodyPr>
          <a:lstStyle/>
          <a:p>
            <a:pPr algn="l"/>
            <a:r>
              <a:rPr sz="1000" b="0">
                <a:solidFill>
                  <a:srgbClr val="FFFFFF"/>
                </a:solidFill>
                <a:latin typeface="Arial"/>
              </a:rPr>
              <a:t>Billing and Reporting Agent</a:t>
            </a:r>
          </a:p>
        </p:txBody>
      </p:sp>
      <p:sp>
        <p:nvSpPr>
          <p:cNvPr id="36" name="Rectangle 35"/>
          <p:cNvSpPr/>
          <p:nvPr/>
        </p:nvSpPr>
        <p:spPr>
          <a:xfrm>
            <a:off x="5303520" y="4023360"/>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76672" y="4069080"/>
            <a:ext cx="3383280" cy="237744"/>
          </a:xfrm>
          <a:prstGeom prst="rect">
            <a:avLst/>
          </a:prstGeom>
          <a:noFill/>
        </p:spPr>
        <p:txBody>
          <a:bodyPr wrap="square">
            <a:spAutoFit/>
          </a:bodyPr>
          <a:lstStyle/>
          <a:p>
            <a:pPr algn="l"/>
            <a:r>
              <a:rPr sz="1000" b="0">
                <a:solidFill>
                  <a:srgbClr val="737373"/>
                </a:solidFill>
                <a:latin typeface="Arial"/>
              </a:rPr>
              <a:t>$20K-$35K</a:t>
            </a:r>
          </a:p>
        </p:txBody>
      </p:sp>
      <p:sp>
        <p:nvSpPr>
          <p:cNvPr id="38" name="Rectangle 37"/>
          <p:cNvSpPr/>
          <p:nvPr/>
        </p:nvSpPr>
        <p:spPr>
          <a:xfrm>
            <a:off x="8961120" y="4023360"/>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34272" y="4069080"/>
            <a:ext cx="2834640" cy="237744"/>
          </a:xfrm>
          <a:prstGeom prst="rect">
            <a:avLst/>
          </a:prstGeom>
          <a:noFill/>
        </p:spPr>
        <p:txBody>
          <a:bodyPr wrap="square">
            <a:spAutoFit/>
          </a:bodyPr>
          <a:lstStyle/>
          <a:p>
            <a:pPr algn="l"/>
            <a:r>
              <a:rPr sz="1000" b="0">
                <a:solidFill>
                  <a:srgbClr val="737373"/>
                </a:solidFill>
                <a:latin typeface="Arial"/>
              </a:rPr>
              <a:t>$40K-$70K</a:t>
            </a:r>
          </a:p>
        </p:txBody>
      </p:sp>
      <p:sp>
        <p:nvSpPr>
          <p:cNvPr id="40" name="Rectangle 39"/>
          <p:cNvSpPr/>
          <p:nvPr/>
        </p:nvSpPr>
        <p:spPr>
          <a:xfrm>
            <a:off x="731520" y="4361688"/>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407408"/>
            <a:ext cx="4297680" cy="237744"/>
          </a:xfrm>
          <a:prstGeom prst="rect">
            <a:avLst/>
          </a:prstGeom>
          <a:noFill/>
        </p:spPr>
        <p:txBody>
          <a:bodyPr wrap="square">
            <a:spAutoFit/>
          </a:bodyPr>
          <a:lstStyle/>
          <a:p>
            <a:pPr algn="l"/>
            <a:r>
              <a:rPr sz="1000" b="0">
                <a:solidFill>
                  <a:srgbClr val="FFFFFF"/>
                </a:solidFill>
                <a:latin typeface="Arial"/>
              </a:rPr>
              <a:t>Content and Promo Agent</a:t>
            </a:r>
          </a:p>
        </p:txBody>
      </p:sp>
      <p:sp>
        <p:nvSpPr>
          <p:cNvPr id="42" name="Rectangle 41"/>
          <p:cNvSpPr/>
          <p:nvPr/>
        </p:nvSpPr>
        <p:spPr>
          <a:xfrm>
            <a:off x="5303520" y="4361688"/>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76672" y="4407408"/>
            <a:ext cx="3383280" cy="237744"/>
          </a:xfrm>
          <a:prstGeom prst="rect">
            <a:avLst/>
          </a:prstGeom>
          <a:noFill/>
        </p:spPr>
        <p:txBody>
          <a:bodyPr wrap="square">
            <a:spAutoFit/>
          </a:bodyPr>
          <a:lstStyle/>
          <a:p>
            <a:pPr algn="l"/>
            <a:r>
              <a:rPr sz="1000" b="0">
                <a:solidFill>
                  <a:srgbClr val="737373"/>
                </a:solidFill>
                <a:latin typeface="Arial"/>
              </a:rPr>
              <a:t>$25K-$45K</a:t>
            </a:r>
          </a:p>
        </p:txBody>
      </p:sp>
      <p:sp>
        <p:nvSpPr>
          <p:cNvPr id="44" name="Rectangle 43"/>
          <p:cNvSpPr/>
          <p:nvPr/>
        </p:nvSpPr>
        <p:spPr>
          <a:xfrm>
            <a:off x="8961120" y="4361688"/>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34272" y="4407408"/>
            <a:ext cx="2834640" cy="237744"/>
          </a:xfrm>
          <a:prstGeom prst="rect">
            <a:avLst/>
          </a:prstGeom>
          <a:noFill/>
        </p:spPr>
        <p:txBody>
          <a:bodyPr wrap="square">
            <a:spAutoFit/>
          </a:bodyPr>
          <a:lstStyle/>
          <a:p>
            <a:pPr algn="l"/>
            <a:r>
              <a:rPr sz="1000" b="0">
                <a:solidFill>
                  <a:srgbClr val="737373"/>
                </a:solidFill>
                <a:latin typeface="Arial"/>
              </a:rPr>
              <a:t>$50K-$90K</a:t>
            </a:r>
          </a:p>
        </p:txBody>
      </p:sp>
      <p:sp>
        <p:nvSpPr>
          <p:cNvPr id="46" name="Rectangle 45"/>
          <p:cNvSpPr/>
          <p:nvPr/>
        </p:nvSpPr>
        <p:spPr>
          <a:xfrm>
            <a:off x="731520" y="4700016"/>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4745736"/>
            <a:ext cx="4297680" cy="237744"/>
          </a:xfrm>
          <a:prstGeom prst="rect">
            <a:avLst/>
          </a:prstGeom>
          <a:noFill/>
        </p:spPr>
        <p:txBody>
          <a:bodyPr wrap="square">
            <a:spAutoFit/>
          </a:bodyPr>
          <a:lstStyle/>
          <a:p>
            <a:pPr algn="l"/>
            <a:r>
              <a:rPr sz="1000" b="0">
                <a:solidFill>
                  <a:srgbClr val="FFFFFF"/>
                </a:solidFill>
                <a:latin typeface="Arial"/>
              </a:rPr>
              <a:t>Staff Scheduling Agent</a:t>
            </a:r>
          </a:p>
        </p:txBody>
      </p:sp>
      <p:sp>
        <p:nvSpPr>
          <p:cNvPr id="48" name="Rectangle 47"/>
          <p:cNvSpPr/>
          <p:nvPr/>
        </p:nvSpPr>
        <p:spPr>
          <a:xfrm>
            <a:off x="5303520" y="4700016"/>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76672" y="4745736"/>
            <a:ext cx="3383280" cy="237744"/>
          </a:xfrm>
          <a:prstGeom prst="rect">
            <a:avLst/>
          </a:prstGeom>
          <a:noFill/>
        </p:spPr>
        <p:txBody>
          <a:bodyPr wrap="square">
            <a:spAutoFit/>
          </a:bodyPr>
          <a:lstStyle/>
          <a:p>
            <a:pPr algn="l"/>
            <a:r>
              <a:rPr sz="1000" b="0">
                <a:solidFill>
                  <a:srgbClr val="737373"/>
                </a:solidFill>
                <a:latin typeface="Arial"/>
              </a:rPr>
              <a:t>$20K-$35K</a:t>
            </a:r>
          </a:p>
        </p:txBody>
      </p:sp>
      <p:sp>
        <p:nvSpPr>
          <p:cNvPr id="50" name="Rectangle 49"/>
          <p:cNvSpPr/>
          <p:nvPr/>
        </p:nvSpPr>
        <p:spPr>
          <a:xfrm>
            <a:off x="8961120" y="4700016"/>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34272" y="4745736"/>
            <a:ext cx="2834640" cy="237744"/>
          </a:xfrm>
          <a:prstGeom prst="rect">
            <a:avLst/>
          </a:prstGeom>
          <a:noFill/>
        </p:spPr>
        <p:txBody>
          <a:bodyPr wrap="square">
            <a:spAutoFit/>
          </a:bodyPr>
          <a:lstStyle/>
          <a:p>
            <a:pPr algn="l"/>
            <a:r>
              <a:rPr sz="1000" b="0">
                <a:solidFill>
                  <a:srgbClr val="737373"/>
                </a:solidFill>
                <a:latin typeface="Arial"/>
              </a:rPr>
              <a:t>$40K-$70K</a:t>
            </a:r>
          </a:p>
        </p:txBody>
      </p:sp>
      <p:sp>
        <p:nvSpPr>
          <p:cNvPr id="52" name="Rectangle 51"/>
          <p:cNvSpPr/>
          <p:nvPr/>
        </p:nvSpPr>
        <p:spPr>
          <a:xfrm>
            <a:off x="731520" y="5038344"/>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5084064"/>
            <a:ext cx="4297680" cy="237744"/>
          </a:xfrm>
          <a:prstGeom prst="rect">
            <a:avLst/>
          </a:prstGeom>
          <a:noFill/>
        </p:spPr>
        <p:txBody>
          <a:bodyPr wrap="square">
            <a:spAutoFit/>
          </a:bodyPr>
          <a:lstStyle/>
          <a:p>
            <a:pPr algn="l"/>
            <a:r>
              <a:rPr sz="1000" b="0">
                <a:solidFill>
                  <a:srgbClr val="FFFFFF"/>
                </a:solidFill>
                <a:latin typeface="Arial"/>
              </a:rPr>
              <a:t>Loyalty and Outreach Agent</a:t>
            </a:r>
          </a:p>
        </p:txBody>
      </p:sp>
      <p:sp>
        <p:nvSpPr>
          <p:cNvPr id="54" name="Rectangle 53"/>
          <p:cNvSpPr/>
          <p:nvPr/>
        </p:nvSpPr>
        <p:spPr>
          <a:xfrm>
            <a:off x="5303520" y="5038344"/>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76672" y="5084064"/>
            <a:ext cx="3383280" cy="237744"/>
          </a:xfrm>
          <a:prstGeom prst="rect">
            <a:avLst/>
          </a:prstGeom>
          <a:noFill/>
        </p:spPr>
        <p:txBody>
          <a:bodyPr wrap="square">
            <a:spAutoFit/>
          </a:bodyPr>
          <a:lstStyle/>
          <a:p>
            <a:pPr algn="l"/>
            <a:r>
              <a:rPr sz="1000" b="0">
                <a:solidFill>
                  <a:srgbClr val="737373"/>
                </a:solidFill>
                <a:latin typeface="Arial"/>
              </a:rPr>
              <a:t>$50K-$85K</a:t>
            </a:r>
          </a:p>
        </p:txBody>
      </p:sp>
      <p:sp>
        <p:nvSpPr>
          <p:cNvPr id="56" name="Rectangle 55"/>
          <p:cNvSpPr/>
          <p:nvPr/>
        </p:nvSpPr>
        <p:spPr>
          <a:xfrm>
            <a:off x="8961120" y="5038344"/>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34272" y="5084064"/>
            <a:ext cx="2834640" cy="237744"/>
          </a:xfrm>
          <a:prstGeom prst="rect">
            <a:avLst/>
          </a:prstGeom>
          <a:noFill/>
        </p:spPr>
        <p:txBody>
          <a:bodyPr wrap="square">
            <a:spAutoFit/>
          </a:bodyPr>
          <a:lstStyle/>
          <a:p>
            <a:pPr algn="l"/>
            <a:r>
              <a:rPr sz="1000" b="0">
                <a:solidFill>
                  <a:srgbClr val="737373"/>
                </a:solidFill>
                <a:latin typeface="Arial"/>
              </a:rPr>
              <a:t>$100K-$170K</a:t>
            </a:r>
          </a:p>
        </p:txBody>
      </p:sp>
      <p:sp>
        <p:nvSpPr>
          <p:cNvPr id="58" name="Rectangle 57"/>
          <p:cNvSpPr/>
          <p:nvPr/>
        </p:nvSpPr>
        <p:spPr>
          <a:xfrm>
            <a:off x="731520" y="5376672"/>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672" y="5422392"/>
            <a:ext cx="4297680" cy="237744"/>
          </a:xfrm>
          <a:prstGeom prst="rect">
            <a:avLst/>
          </a:prstGeom>
          <a:noFill/>
        </p:spPr>
        <p:txBody>
          <a:bodyPr wrap="square">
            <a:spAutoFit/>
          </a:bodyPr>
          <a:lstStyle/>
          <a:p>
            <a:pPr algn="l"/>
            <a:r>
              <a:rPr sz="1000" b="0">
                <a:solidFill>
                  <a:srgbClr val="FFFFFF"/>
                </a:solidFill>
                <a:latin typeface="Arial"/>
              </a:rPr>
              <a:t>Catering Coordination Agent</a:t>
            </a:r>
          </a:p>
        </p:txBody>
      </p:sp>
      <p:sp>
        <p:nvSpPr>
          <p:cNvPr id="60" name="Rectangle 59"/>
          <p:cNvSpPr/>
          <p:nvPr/>
        </p:nvSpPr>
        <p:spPr>
          <a:xfrm>
            <a:off x="5303520" y="5376672"/>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76672" y="5422392"/>
            <a:ext cx="3383280" cy="237744"/>
          </a:xfrm>
          <a:prstGeom prst="rect">
            <a:avLst/>
          </a:prstGeom>
          <a:noFill/>
        </p:spPr>
        <p:txBody>
          <a:bodyPr wrap="square">
            <a:spAutoFit/>
          </a:bodyPr>
          <a:lstStyle/>
          <a:p>
            <a:pPr algn="l"/>
            <a:r>
              <a:rPr sz="1000" b="0">
                <a:solidFill>
                  <a:srgbClr val="737373"/>
                </a:solidFill>
                <a:latin typeface="Arial"/>
              </a:rPr>
              <a:t>$60K-$100K</a:t>
            </a:r>
          </a:p>
        </p:txBody>
      </p:sp>
      <p:sp>
        <p:nvSpPr>
          <p:cNvPr id="62" name="Rectangle 61"/>
          <p:cNvSpPr/>
          <p:nvPr/>
        </p:nvSpPr>
        <p:spPr>
          <a:xfrm>
            <a:off x="8961120" y="5376672"/>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34272" y="5422392"/>
            <a:ext cx="2834640" cy="237744"/>
          </a:xfrm>
          <a:prstGeom prst="rect">
            <a:avLst/>
          </a:prstGeom>
          <a:noFill/>
        </p:spPr>
        <p:txBody>
          <a:bodyPr wrap="square">
            <a:spAutoFit/>
          </a:bodyPr>
          <a:lstStyle/>
          <a:p>
            <a:pPr algn="l"/>
            <a:r>
              <a:rPr sz="1000" b="0">
                <a:solidFill>
                  <a:srgbClr val="737373"/>
                </a:solidFill>
                <a:latin typeface="Arial"/>
              </a:rPr>
              <a:t>$120K-$200K</a:t>
            </a:r>
          </a:p>
        </p:txBody>
      </p:sp>
      <p:sp>
        <p:nvSpPr>
          <p:cNvPr id="64" name="Rectangle 63"/>
          <p:cNvSpPr/>
          <p:nvPr/>
        </p:nvSpPr>
        <p:spPr>
          <a:xfrm>
            <a:off x="731520" y="5715000"/>
            <a:ext cx="438912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4672" y="5760720"/>
            <a:ext cx="4297680" cy="237744"/>
          </a:xfrm>
          <a:prstGeom prst="rect">
            <a:avLst/>
          </a:prstGeom>
          <a:noFill/>
        </p:spPr>
        <p:txBody>
          <a:bodyPr wrap="square">
            <a:spAutoFit/>
          </a:bodyPr>
          <a:lstStyle/>
          <a:p>
            <a:pPr algn="l"/>
            <a:r>
              <a:rPr sz="1200" b="1">
                <a:solidFill>
                  <a:srgbClr val="FFFFFF"/>
                </a:solidFill>
                <a:latin typeface="Arial"/>
              </a:rPr>
              <a:t>TOTAL (8 AGENTS)</a:t>
            </a:r>
          </a:p>
        </p:txBody>
      </p:sp>
      <p:sp>
        <p:nvSpPr>
          <p:cNvPr id="66" name="Rectangle 65"/>
          <p:cNvSpPr/>
          <p:nvPr/>
        </p:nvSpPr>
        <p:spPr>
          <a:xfrm>
            <a:off x="5303520" y="5715000"/>
            <a:ext cx="347472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76672" y="5760720"/>
            <a:ext cx="3383280" cy="237744"/>
          </a:xfrm>
          <a:prstGeom prst="rect">
            <a:avLst/>
          </a:prstGeom>
          <a:noFill/>
        </p:spPr>
        <p:txBody>
          <a:bodyPr wrap="square">
            <a:spAutoFit/>
          </a:bodyPr>
          <a:lstStyle/>
          <a:p>
            <a:pPr algn="l"/>
            <a:r>
              <a:rPr sz="1200" b="1">
                <a:solidFill>
                  <a:srgbClr val="FFFFFF"/>
                </a:solidFill>
                <a:latin typeface="Arial"/>
              </a:rPr>
              <a:t>$295K-$500K</a:t>
            </a:r>
          </a:p>
        </p:txBody>
      </p:sp>
      <p:sp>
        <p:nvSpPr>
          <p:cNvPr id="68" name="Rectangle 67"/>
          <p:cNvSpPr/>
          <p:nvPr/>
        </p:nvSpPr>
        <p:spPr>
          <a:xfrm>
            <a:off x="8961120" y="5715000"/>
            <a:ext cx="292608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034272" y="5760720"/>
            <a:ext cx="2834640" cy="237744"/>
          </a:xfrm>
          <a:prstGeom prst="rect">
            <a:avLst/>
          </a:prstGeom>
          <a:noFill/>
        </p:spPr>
        <p:txBody>
          <a:bodyPr wrap="square">
            <a:spAutoFit/>
          </a:bodyPr>
          <a:lstStyle/>
          <a:p>
            <a:pPr algn="l"/>
            <a:r>
              <a:rPr sz="1200" b="1">
                <a:solidFill>
                  <a:srgbClr val="22D3EE"/>
                </a:solidFill>
                <a:latin typeface="Arial"/>
              </a:rPr>
              <a:t>$590K-$1M per year</a:t>
            </a:r>
          </a:p>
        </p:txBody>
      </p:sp>
      <p:sp>
        <p:nvSpPr>
          <p:cNvPr id="70" name="Rectangle 69"/>
          <p:cNvSpPr/>
          <p:nvPr/>
        </p:nvSpPr>
        <p:spPr>
          <a:xfrm>
            <a:off x="731520" y="5349240"/>
            <a:ext cx="5303520" cy="100584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5440680"/>
            <a:ext cx="2743200" cy="274320"/>
          </a:xfrm>
          <a:prstGeom prst="rect">
            <a:avLst/>
          </a:prstGeom>
          <a:noFill/>
        </p:spPr>
        <p:txBody>
          <a:bodyPr wrap="square">
            <a:spAutoFit/>
          </a:bodyPr>
          <a:lstStyle/>
          <a:p>
            <a:pPr algn="l"/>
            <a:r>
              <a:rPr sz="1100" b="1">
                <a:solidFill>
                  <a:srgbClr val="22D3EE"/>
                </a:solidFill>
                <a:latin typeface="Arial"/>
              </a:rPr>
              <a:t>ANNUAL SAVINGS</a:t>
            </a:r>
          </a:p>
        </p:txBody>
      </p:sp>
      <p:sp>
        <p:nvSpPr>
          <p:cNvPr id="72" name="TextBox 71"/>
          <p:cNvSpPr txBox="1"/>
          <p:nvPr/>
        </p:nvSpPr>
        <p:spPr>
          <a:xfrm>
            <a:off x="914400" y="5715000"/>
            <a:ext cx="4937760" cy="457200"/>
          </a:xfrm>
          <a:prstGeom prst="rect">
            <a:avLst/>
          </a:prstGeom>
          <a:noFill/>
        </p:spPr>
        <p:txBody>
          <a:bodyPr wrap="square">
            <a:spAutoFit/>
          </a:bodyPr>
          <a:lstStyle/>
          <a:p>
            <a:pPr algn="l"/>
            <a:r>
              <a:rPr sz="2800" b="1">
                <a:solidFill>
                  <a:srgbClr val="22D3EE"/>
                </a:solidFill>
                <a:latin typeface="Arial"/>
              </a:rPr>
              <a:t>$590K-$1M per year</a:t>
            </a:r>
          </a:p>
        </p:txBody>
      </p:sp>
      <p:sp>
        <p:nvSpPr>
          <p:cNvPr id="73" name="Rectangle 72"/>
          <p:cNvSpPr/>
          <p:nvPr/>
        </p:nvSpPr>
        <p:spPr>
          <a:xfrm>
            <a:off x="6400800" y="5349240"/>
            <a:ext cx="5303520" cy="10058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83680" y="5440680"/>
            <a:ext cx="3657600" cy="274320"/>
          </a:xfrm>
          <a:prstGeom prst="rect">
            <a:avLst/>
          </a:prstGeom>
          <a:noFill/>
        </p:spPr>
        <p:txBody>
          <a:bodyPr wrap="square">
            <a:spAutoFit/>
          </a:bodyPr>
          <a:lstStyle/>
          <a:p>
            <a:pPr algn="l"/>
            <a:r>
              <a:rPr sz="1100" b="1">
                <a:solidFill>
                  <a:srgbClr val="737373"/>
                </a:solidFill>
                <a:latin typeface="Arial"/>
              </a:rPr>
              <a:t>DEPLOYMENT COST (6 MO)</a:t>
            </a:r>
          </a:p>
        </p:txBody>
      </p:sp>
      <p:sp>
        <p:nvSpPr>
          <p:cNvPr id="75" name="TextBox 74"/>
          <p:cNvSpPr txBox="1"/>
          <p:nvPr/>
        </p:nvSpPr>
        <p:spPr>
          <a:xfrm>
            <a:off x="6583680" y="5715000"/>
            <a:ext cx="4937760" cy="457200"/>
          </a:xfrm>
          <a:prstGeom prst="rect">
            <a:avLst/>
          </a:prstGeom>
          <a:noFill/>
        </p:spPr>
        <p:txBody>
          <a:bodyPr wrap="square">
            <a:spAutoFit/>
          </a:bodyPr>
          <a:lstStyle/>
          <a:p>
            <a:pPr algn="l"/>
            <a:r>
              <a:rPr sz="2200" b="1">
                <a:solidFill>
                  <a:srgbClr val="FFFFFF"/>
                </a:solidFill>
                <a:latin typeface="Arial"/>
              </a:rPr>
              <a:t>$40K-$60K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