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286000"/>
          </a:xfrm>
          <a:prstGeom prst="rect">
            <a:avLst/>
          </a:prstGeom>
          <a:noFill/>
        </p:spPr>
        <p:txBody>
          <a:bodyPr wrap="square">
            <a:spAutoFit/>
          </a:bodyPr>
          <a:lstStyle/>
          <a:p>
            <a:r>
              <a:rPr sz="5200" b="1">
                <a:solidFill>
                  <a:srgbClr val="FFFFFF"/>
                </a:solidFill>
                <a:latin typeface="Arial"/>
              </a:rPr>
              <a:t>How We Build Your AI Workforce.</a:t>
            </a:r>
          </a:p>
          <a:p>
            <a:r>
              <a:rPr sz="1600">
                <a:solidFill>
                  <a:srgbClr val="373737"/>
                </a:solidFill>
                <a:latin typeface="Arial"/>
              </a:rPr>
              <a:t>Organizational Design  |  Infrastructure  |  Data  |  Engagement</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WHAT WE BUILD</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Not software you configure.</a:t>
            </a:r>
          </a:p>
          <a:p>
            <a:r>
              <a:rPr sz="3800" b="1">
                <a:solidFill>
                  <a:srgbClr val="22D3EE"/>
                </a:solidFill>
                <a:latin typeface="Arial"/>
              </a:rPr>
              <a:t>An operating structure we deploy.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914400"/>
          </a:xfrm>
          <a:prstGeom prst="rect">
            <a:avLst/>
          </a:prstGeom>
          <a:noFill/>
        </p:spPr>
        <p:txBody>
          <a:bodyPr wrap="square">
            <a:spAutoFit/>
          </a:bodyPr>
          <a:lstStyle/>
          <a:p>
            <a:pPr algn="l"/>
            <a:r>
              <a:rPr sz="1400" b="0" i="0">
                <a:solidFill>
                  <a:srgbClr val="737373"/>
                </a:solidFill>
                <a:latin typeface="Arial"/>
              </a:rPr>
              <a:t>Devolution Labs does not sell a product. We design, build, and operate a complete AI workforce structured around your organization. The result is a functioning hierarchy of AI agents — each with a role, a mandate, a reporting line, and a budget — running inside your own infrastructure.</a:t>
            </a:r>
          </a:p>
        </p:txBody>
      </p:sp>
      <p:sp>
        <p:nvSpPr>
          <p:cNvPr id="6" name="Rectangle 5"/>
          <p:cNvSpPr/>
          <p:nvPr/>
        </p:nvSpPr>
        <p:spPr>
          <a:xfrm>
            <a:off x="731520" y="3794760"/>
            <a:ext cx="5303520" cy="1188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79476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04488"/>
            <a:ext cx="4937760" cy="320040"/>
          </a:xfrm>
          <a:prstGeom prst="rect">
            <a:avLst/>
          </a:prstGeom>
          <a:noFill/>
        </p:spPr>
        <p:txBody>
          <a:bodyPr wrap="square">
            <a:spAutoFit/>
          </a:bodyPr>
          <a:lstStyle/>
          <a:p>
            <a:pPr algn="l"/>
            <a:r>
              <a:rPr sz="1400" b="1" i="0">
                <a:solidFill>
                  <a:srgbClr val="FFFFFF"/>
                </a:solidFill>
                <a:latin typeface="Arial"/>
              </a:rPr>
              <a:t>Organizational Design</a:t>
            </a:r>
          </a:p>
        </p:txBody>
      </p:sp>
      <p:sp>
        <p:nvSpPr>
          <p:cNvPr id="9" name="TextBox 8"/>
          <p:cNvSpPr txBox="1"/>
          <p:nvPr/>
        </p:nvSpPr>
        <p:spPr>
          <a:xfrm>
            <a:off x="914400" y="4297680"/>
            <a:ext cx="4937760" cy="594360"/>
          </a:xfrm>
          <a:prstGeom prst="rect">
            <a:avLst/>
          </a:prstGeom>
          <a:noFill/>
        </p:spPr>
        <p:txBody>
          <a:bodyPr wrap="square">
            <a:spAutoFit/>
          </a:bodyPr>
          <a:lstStyle/>
          <a:p>
            <a:pPr algn="l"/>
            <a:r>
              <a:rPr sz="1200" b="0" i="0">
                <a:solidFill>
                  <a:srgbClr val="737373"/>
                </a:solidFill>
                <a:latin typeface="Arial"/>
              </a:rPr>
              <a:t>We map your company structure and build an AI org chart that mirrors it exactly. CEO-level agent at the top. Departments in the middle. Specialists at the base.</a:t>
            </a:r>
          </a:p>
        </p:txBody>
      </p:sp>
      <p:sp>
        <p:nvSpPr>
          <p:cNvPr id="10" name="Rectangle 9"/>
          <p:cNvSpPr/>
          <p:nvPr/>
        </p:nvSpPr>
        <p:spPr>
          <a:xfrm>
            <a:off x="6400800" y="3794760"/>
            <a:ext cx="5303520" cy="1188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794760"/>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904488"/>
            <a:ext cx="4937760" cy="320040"/>
          </a:xfrm>
          <a:prstGeom prst="rect">
            <a:avLst/>
          </a:prstGeom>
          <a:noFill/>
        </p:spPr>
        <p:txBody>
          <a:bodyPr wrap="square">
            <a:spAutoFit/>
          </a:bodyPr>
          <a:lstStyle/>
          <a:p>
            <a:pPr algn="l"/>
            <a:r>
              <a:rPr sz="1400" b="1" i="0">
                <a:solidFill>
                  <a:srgbClr val="FFFFFF"/>
                </a:solidFill>
                <a:latin typeface="Arial"/>
              </a:rPr>
              <a:t>Infrastructure</a:t>
            </a:r>
          </a:p>
        </p:txBody>
      </p:sp>
      <p:sp>
        <p:nvSpPr>
          <p:cNvPr id="13" name="TextBox 12"/>
          <p:cNvSpPr txBox="1"/>
          <p:nvPr/>
        </p:nvSpPr>
        <p:spPr>
          <a:xfrm>
            <a:off x="6583680" y="4297680"/>
            <a:ext cx="4937760" cy="594360"/>
          </a:xfrm>
          <a:prstGeom prst="rect">
            <a:avLst/>
          </a:prstGeom>
          <a:noFill/>
        </p:spPr>
        <p:txBody>
          <a:bodyPr wrap="square">
            <a:spAutoFit/>
          </a:bodyPr>
          <a:lstStyle/>
          <a:p>
            <a:pPr algn="l"/>
            <a:r>
              <a:rPr sz="1200" b="0" i="0">
                <a:solidFill>
                  <a:srgbClr val="737373"/>
                </a:solidFill>
                <a:latin typeface="Arial"/>
              </a:rPr>
              <a:t>We deploy and configure the platform on your servers or private cloud. Your data never leaves your environment. We own the full technical build.</a:t>
            </a:r>
          </a:p>
        </p:txBody>
      </p:sp>
      <p:sp>
        <p:nvSpPr>
          <p:cNvPr id="14" name="Rectangle 13"/>
          <p:cNvSpPr/>
          <p:nvPr/>
        </p:nvSpPr>
        <p:spPr>
          <a:xfrm>
            <a:off x="731520" y="5166360"/>
            <a:ext cx="5303520" cy="1188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166360"/>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276088"/>
            <a:ext cx="4937760" cy="320040"/>
          </a:xfrm>
          <a:prstGeom prst="rect">
            <a:avLst/>
          </a:prstGeom>
          <a:noFill/>
        </p:spPr>
        <p:txBody>
          <a:bodyPr wrap="square">
            <a:spAutoFit/>
          </a:bodyPr>
          <a:lstStyle/>
          <a:p>
            <a:pPr algn="l"/>
            <a:r>
              <a:rPr sz="1400" b="1" i="0">
                <a:solidFill>
                  <a:srgbClr val="FFFFFF"/>
                </a:solidFill>
                <a:latin typeface="Arial"/>
              </a:rPr>
              <a:t>Data Integration</a:t>
            </a:r>
          </a:p>
        </p:txBody>
      </p:sp>
      <p:sp>
        <p:nvSpPr>
          <p:cNvPr id="17" name="TextBox 16"/>
          <p:cNvSpPr txBox="1"/>
          <p:nvPr/>
        </p:nvSpPr>
        <p:spPr>
          <a:xfrm>
            <a:off x="914400" y="5669280"/>
            <a:ext cx="4937760" cy="594360"/>
          </a:xfrm>
          <a:prstGeom prst="rect">
            <a:avLst/>
          </a:prstGeom>
          <a:noFill/>
        </p:spPr>
        <p:txBody>
          <a:bodyPr wrap="square">
            <a:spAutoFit/>
          </a:bodyPr>
          <a:lstStyle/>
          <a:p>
            <a:pPr algn="l"/>
            <a:r>
              <a:rPr sz="1200" b="0" i="0">
                <a:solidFill>
                  <a:srgbClr val="737373"/>
                </a:solidFill>
                <a:latin typeface="Arial"/>
              </a:rPr>
              <a:t>We ingest your existing data sources — CRMs, ERPs, databases, documents, APIs — and make them available to every agent in the workforce.</a:t>
            </a:r>
          </a:p>
        </p:txBody>
      </p:sp>
      <p:sp>
        <p:nvSpPr>
          <p:cNvPr id="18" name="Rectangle 17"/>
          <p:cNvSpPr/>
          <p:nvPr/>
        </p:nvSpPr>
        <p:spPr>
          <a:xfrm>
            <a:off x="6400800" y="5166360"/>
            <a:ext cx="5303520" cy="1188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5166360"/>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276088"/>
            <a:ext cx="4937760" cy="320040"/>
          </a:xfrm>
          <a:prstGeom prst="rect">
            <a:avLst/>
          </a:prstGeom>
          <a:noFill/>
        </p:spPr>
        <p:txBody>
          <a:bodyPr wrap="square">
            <a:spAutoFit/>
          </a:bodyPr>
          <a:lstStyle/>
          <a:p>
            <a:pPr algn="l"/>
            <a:r>
              <a:rPr sz="1400" b="1" i="0">
                <a:solidFill>
                  <a:srgbClr val="FFFFFF"/>
                </a:solidFill>
                <a:latin typeface="Arial"/>
              </a:rPr>
              <a:t>Managed Operations</a:t>
            </a:r>
          </a:p>
        </p:txBody>
      </p:sp>
      <p:sp>
        <p:nvSpPr>
          <p:cNvPr id="21" name="TextBox 20"/>
          <p:cNvSpPr txBox="1"/>
          <p:nvPr/>
        </p:nvSpPr>
        <p:spPr>
          <a:xfrm>
            <a:off x="6583680" y="5669280"/>
            <a:ext cx="4937760" cy="594360"/>
          </a:xfrm>
          <a:prstGeom prst="rect">
            <a:avLst/>
          </a:prstGeom>
          <a:noFill/>
        </p:spPr>
        <p:txBody>
          <a:bodyPr wrap="square">
            <a:spAutoFit/>
          </a:bodyPr>
          <a:lstStyle/>
          <a:p>
            <a:pPr algn="l"/>
            <a:r>
              <a:rPr sz="1200" b="0" i="0">
                <a:solidFill>
                  <a:srgbClr val="737373"/>
                </a:solidFill>
                <a:latin typeface="Arial"/>
              </a:rPr>
              <a:t>Once live, we operate the workforce on your behalf. Monthly reporting, performance tuning, and agent updates included. You manage outcomes, not technology.</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ORGANIZATIONAL DESIGN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build the org chart</a:t>
            </a:r>
          </a:p>
          <a:p>
            <a:r>
              <a:rPr sz="3800" b="1">
                <a:solidFill>
                  <a:srgbClr val="22D3EE"/>
                </a:solidFill>
                <a:latin typeface="Arial"/>
              </a:rPr>
              <a:t>before we write a line of code.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Before any technical work begins, we map your organization. Every AI agent is designed around a real business function, not a generic template. The structure is built to reflect how your company actually operates.</a:t>
            </a:r>
          </a:p>
        </p:txBody>
      </p:sp>
      <p:sp>
        <p:nvSpPr>
          <p:cNvPr id="5" name="Rectangle 4"/>
          <p:cNvSpPr/>
          <p:nvPr/>
        </p:nvSpPr>
        <p:spPr>
          <a:xfrm>
            <a:off x="731520" y="3547872"/>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47872"/>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639312"/>
            <a:ext cx="4937760" cy="320040"/>
          </a:xfrm>
          <a:prstGeom prst="rect">
            <a:avLst/>
          </a:prstGeom>
          <a:noFill/>
        </p:spPr>
        <p:txBody>
          <a:bodyPr wrap="square">
            <a:spAutoFit/>
          </a:bodyPr>
          <a:lstStyle/>
          <a:p>
            <a:pPr algn="l"/>
            <a:r>
              <a:rPr sz="1300" b="1" i="0">
                <a:solidFill>
                  <a:srgbClr val="FFFFFF"/>
                </a:solidFill>
                <a:latin typeface="Arial"/>
              </a:rPr>
              <a:t>Step 1  |  Business Mapping</a:t>
            </a:r>
          </a:p>
        </p:txBody>
      </p:sp>
      <p:sp>
        <p:nvSpPr>
          <p:cNvPr id="8" name="TextBox 7"/>
          <p:cNvSpPr txBox="1"/>
          <p:nvPr/>
        </p:nvSpPr>
        <p:spPr>
          <a:xfrm>
            <a:off x="914400" y="4050792"/>
            <a:ext cx="4937760" cy="749808"/>
          </a:xfrm>
          <a:prstGeom prst="rect">
            <a:avLst/>
          </a:prstGeom>
          <a:noFill/>
        </p:spPr>
        <p:txBody>
          <a:bodyPr wrap="square">
            <a:spAutoFit/>
          </a:bodyPr>
          <a:lstStyle/>
          <a:p>
            <a:pPr algn="l"/>
            <a:r>
              <a:rPr sz="1100" b="0" i="0">
                <a:solidFill>
                  <a:srgbClr val="737373"/>
                </a:solidFill>
                <a:latin typeface="Arial"/>
              </a:rPr>
              <a:t>We interview your leadership team and document every operational function that consumes structured, repeatable human effort. Sales, finance, operations, HR, compliance, customer success, marketing — every workflow is catalogued.</a:t>
            </a:r>
          </a:p>
        </p:txBody>
      </p:sp>
      <p:sp>
        <p:nvSpPr>
          <p:cNvPr id="9" name="Rectangle 8"/>
          <p:cNvSpPr/>
          <p:nvPr/>
        </p:nvSpPr>
        <p:spPr>
          <a:xfrm>
            <a:off x="6400800" y="3547872"/>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3547872"/>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3639312"/>
            <a:ext cx="4937760" cy="320040"/>
          </a:xfrm>
          <a:prstGeom prst="rect">
            <a:avLst/>
          </a:prstGeom>
          <a:noFill/>
        </p:spPr>
        <p:txBody>
          <a:bodyPr wrap="square">
            <a:spAutoFit/>
          </a:bodyPr>
          <a:lstStyle/>
          <a:p>
            <a:pPr algn="l"/>
            <a:r>
              <a:rPr sz="1300" b="1" i="0">
                <a:solidFill>
                  <a:srgbClr val="FFFFFF"/>
                </a:solidFill>
                <a:latin typeface="Arial"/>
              </a:rPr>
              <a:t>Step 2  |  Role Definition</a:t>
            </a:r>
          </a:p>
        </p:txBody>
      </p:sp>
      <p:sp>
        <p:nvSpPr>
          <p:cNvPr id="12" name="TextBox 11"/>
          <p:cNvSpPr txBox="1"/>
          <p:nvPr/>
        </p:nvSpPr>
        <p:spPr>
          <a:xfrm>
            <a:off x="6583680" y="4050792"/>
            <a:ext cx="4937760" cy="749808"/>
          </a:xfrm>
          <a:prstGeom prst="rect">
            <a:avLst/>
          </a:prstGeom>
          <a:noFill/>
        </p:spPr>
        <p:txBody>
          <a:bodyPr wrap="square">
            <a:spAutoFit/>
          </a:bodyPr>
          <a:lstStyle/>
          <a:p>
            <a:pPr algn="l"/>
            <a:r>
              <a:rPr sz="1100" b="0" i="0">
                <a:solidFill>
                  <a:srgbClr val="737373"/>
                </a:solidFill>
                <a:latin typeface="Arial"/>
              </a:rPr>
              <a:t>Each workflow becomes an agent role. We define the agent's mandate, its inputs and outputs, its escalation rules, its budget authority, and its reporting line within the hierarchy.</a:t>
            </a:r>
          </a:p>
        </p:txBody>
      </p:sp>
      <p:sp>
        <p:nvSpPr>
          <p:cNvPr id="13" name="Rectangle 12"/>
          <p:cNvSpPr/>
          <p:nvPr/>
        </p:nvSpPr>
        <p:spPr>
          <a:xfrm>
            <a:off x="731520" y="5029200"/>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029200"/>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20640"/>
            <a:ext cx="4937760" cy="320040"/>
          </a:xfrm>
          <a:prstGeom prst="rect">
            <a:avLst/>
          </a:prstGeom>
          <a:noFill/>
        </p:spPr>
        <p:txBody>
          <a:bodyPr wrap="square">
            <a:spAutoFit/>
          </a:bodyPr>
          <a:lstStyle/>
          <a:p>
            <a:pPr algn="l"/>
            <a:r>
              <a:rPr sz="1300" b="1" i="0">
                <a:solidFill>
                  <a:srgbClr val="FFFFFF"/>
                </a:solidFill>
                <a:latin typeface="Arial"/>
              </a:rPr>
              <a:t>Step 3  |  Hierarchy Design</a:t>
            </a:r>
          </a:p>
        </p:txBody>
      </p:sp>
      <p:sp>
        <p:nvSpPr>
          <p:cNvPr id="16" name="TextBox 15"/>
          <p:cNvSpPr txBox="1"/>
          <p:nvPr/>
        </p:nvSpPr>
        <p:spPr>
          <a:xfrm>
            <a:off x="914400" y="5532120"/>
            <a:ext cx="4937760" cy="749808"/>
          </a:xfrm>
          <a:prstGeom prst="rect">
            <a:avLst/>
          </a:prstGeom>
          <a:noFill/>
        </p:spPr>
        <p:txBody>
          <a:bodyPr wrap="square">
            <a:spAutoFit/>
          </a:bodyPr>
          <a:lstStyle/>
          <a:p>
            <a:pPr algn="l"/>
            <a:r>
              <a:rPr sz="1100" b="0" i="0">
                <a:solidFill>
                  <a:srgbClr val="737373"/>
                </a:solidFill>
                <a:latin typeface="Arial"/>
              </a:rPr>
              <a:t>Agents are organized into departments. Departments report to an executive layer. The executive layer surfaces summaries and blockers to your human leadership team. The structure mirrors your existing org chart — or improves on it.</a:t>
            </a:r>
          </a:p>
        </p:txBody>
      </p:sp>
      <p:sp>
        <p:nvSpPr>
          <p:cNvPr id="17" name="Rectangle 16"/>
          <p:cNvSpPr/>
          <p:nvPr/>
        </p:nvSpPr>
        <p:spPr>
          <a:xfrm>
            <a:off x="6400800" y="5029200"/>
            <a:ext cx="5303520" cy="135331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5029200"/>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5120640"/>
            <a:ext cx="4937760" cy="320040"/>
          </a:xfrm>
          <a:prstGeom prst="rect">
            <a:avLst/>
          </a:prstGeom>
          <a:noFill/>
        </p:spPr>
        <p:txBody>
          <a:bodyPr wrap="square">
            <a:spAutoFit/>
          </a:bodyPr>
          <a:lstStyle/>
          <a:p>
            <a:pPr algn="l"/>
            <a:r>
              <a:rPr sz="1300" b="1" i="0">
                <a:solidFill>
                  <a:srgbClr val="FFFFFF"/>
                </a:solidFill>
                <a:latin typeface="Arial"/>
              </a:rPr>
              <a:t>Step 4  |  Governance Model</a:t>
            </a:r>
          </a:p>
        </p:txBody>
      </p:sp>
      <p:sp>
        <p:nvSpPr>
          <p:cNvPr id="20" name="TextBox 19"/>
          <p:cNvSpPr txBox="1"/>
          <p:nvPr/>
        </p:nvSpPr>
        <p:spPr>
          <a:xfrm>
            <a:off x="6583680" y="5532120"/>
            <a:ext cx="4937760" cy="749808"/>
          </a:xfrm>
          <a:prstGeom prst="rect">
            <a:avLst/>
          </a:prstGeom>
          <a:noFill/>
        </p:spPr>
        <p:txBody>
          <a:bodyPr wrap="square">
            <a:spAutoFit/>
          </a:bodyPr>
          <a:lstStyle/>
          <a:p>
            <a:pPr algn="l"/>
            <a:r>
              <a:rPr sz="1100" b="0" i="0">
                <a:solidFill>
                  <a:srgbClr val="737373"/>
                </a:solidFill>
                <a:latin typeface="Arial"/>
              </a:rPr>
              <a:t>We define what requires human approval before execution, what agents can action autonomously, and what triggers escalation. Your leadership remains in full control at every level of the hierarchy.</a:t>
            </a:r>
          </a:p>
        </p:txBody>
      </p:sp>
      <p:sp>
        <p:nvSpPr>
          <p:cNvPr id="21" name="TextBox 2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INFRASTRUCTURE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Runs on your hardware.</a:t>
            </a:r>
          </a:p>
          <a:p>
            <a:r>
              <a:rPr sz="3800" b="1">
                <a:solidFill>
                  <a:srgbClr val="22D3EE"/>
                </a:solidFill>
                <a:latin typeface="Arial"/>
              </a:rPr>
              <a:t>Your data never leaves.</a:t>
            </a:r>
          </a:p>
        </p:txBody>
      </p:sp>
      <p:sp>
        <p:nvSpPr>
          <p:cNvPr id="4" name="TextBox 3"/>
          <p:cNvSpPr txBox="1"/>
          <p:nvPr/>
        </p:nvSpPr>
        <p:spPr>
          <a:xfrm>
            <a:off x="731520" y="2633472"/>
            <a:ext cx="10515600" cy="685800"/>
          </a:xfrm>
          <a:prstGeom prst="rect">
            <a:avLst/>
          </a:prstGeom>
          <a:noFill/>
        </p:spPr>
        <p:txBody>
          <a:bodyPr wrap="square">
            <a:spAutoFit/>
          </a:bodyPr>
          <a:lstStyle/>
          <a:p>
            <a:pPr algn="l"/>
            <a:r>
              <a:rPr sz="1300" b="0" i="0">
                <a:solidFill>
                  <a:srgbClr val="737373"/>
                </a:solidFill>
                <a:latin typeface="Arial"/>
              </a:rPr>
              <a:t>Devolution Labs deploys the AI workforce entirely within your existing infrastructure. No third-party cloud dependency. No data leaving your perimeter. The system is built to meet enterprise security and compliance requirements from day one.</a:t>
            </a:r>
          </a:p>
        </p:txBody>
      </p:sp>
      <p:sp>
        <p:nvSpPr>
          <p:cNvPr id="5" name="Rectangle 4"/>
          <p:cNvSpPr/>
          <p:nvPr/>
        </p:nvSpPr>
        <p:spPr>
          <a:xfrm>
            <a:off x="731520" y="3456432"/>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45643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547872"/>
            <a:ext cx="3474720" cy="228600"/>
          </a:xfrm>
          <a:prstGeom prst="rect">
            <a:avLst/>
          </a:prstGeom>
          <a:noFill/>
        </p:spPr>
        <p:txBody>
          <a:bodyPr wrap="square">
            <a:spAutoFit/>
          </a:bodyPr>
          <a:lstStyle/>
          <a:p>
            <a:pPr algn="l"/>
            <a:r>
              <a:rPr sz="900" b="1" i="0">
                <a:solidFill>
                  <a:srgbClr val="22D3EE"/>
                </a:solidFill>
                <a:latin typeface="Arial"/>
              </a:rPr>
              <a:t>INFRASTRUCTURE</a:t>
            </a:r>
          </a:p>
        </p:txBody>
      </p:sp>
      <p:sp>
        <p:nvSpPr>
          <p:cNvPr id="8" name="TextBox 7"/>
          <p:cNvSpPr txBox="1"/>
          <p:nvPr/>
        </p:nvSpPr>
        <p:spPr>
          <a:xfrm>
            <a:off x="868680" y="3803904"/>
            <a:ext cx="3474720" cy="347472"/>
          </a:xfrm>
          <a:prstGeom prst="rect">
            <a:avLst/>
          </a:prstGeom>
          <a:noFill/>
        </p:spPr>
        <p:txBody>
          <a:bodyPr wrap="square">
            <a:spAutoFit/>
          </a:bodyPr>
          <a:lstStyle/>
          <a:p>
            <a:pPr algn="l"/>
            <a:r>
              <a:rPr sz="1300" b="1" i="0">
                <a:solidFill>
                  <a:srgbClr val="FFFFFF"/>
                </a:solidFill>
                <a:latin typeface="Arial"/>
              </a:rPr>
              <a:t>Deployment Environment</a:t>
            </a:r>
          </a:p>
        </p:txBody>
      </p:sp>
      <p:sp>
        <p:nvSpPr>
          <p:cNvPr id="9" name="TextBox 8"/>
          <p:cNvSpPr txBox="1"/>
          <p:nvPr/>
        </p:nvSpPr>
        <p:spPr>
          <a:xfrm>
            <a:off x="868680" y="4206240"/>
            <a:ext cx="3474720" cy="530352"/>
          </a:xfrm>
          <a:prstGeom prst="rect">
            <a:avLst/>
          </a:prstGeom>
          <a:noFill/>
        </p:spPr>
        <p:txBody>
          <a:bodyPr wrap="square">
            <a:spAutoFit/>
          </a:bodyPr>
          <a:lstStyle/>
          <a:p>
            <a:pPr algn="l"/>
            <a:r>
              <a:rPr sz="1100" b="0" i="0">
                <a:solidFill>
                  <a:srgbClr val="737373"/>
                </a:solidFill>
                <a:latin typeface="Arial"/>
              </a:rPr>
              <a:t>Runs on your servers, your private cloud, or your on-premise data centers. Compatible with AWS, Azure, GCP, and bare-metal environments. We handle full configuration and deployment.</a:t>
            </a:r>
          </a:p>
        </p:txBody>
      </p:sp>
      <p:sp>
        <p:nvSpPr>
          <p:cNvPr id="10" name="Rectangle 9"/>
          <p:cNvSpPr/>
          <p:nvPr/>
        </p:nvSpPr>
        <p:spPr>
          <a:xfrm>
            <a:off x="4526280" y="3456432"/>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45643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547872"/>
            <a:ext cx="3474720" cy="228600"/>
          </a:xfrm>
          <a:prstGeom prst="rect">
            <a:avLst/>
          </a:prstGeom>
          <a:noFill/>
        </p:spPr>
        <p:txBody>
          <a:bodyPr wrap="square">
            <a:spAutoFit/>
          </a:bodyPr>
          <a:lstStyle/>
          <a:p>
            <a:pPr algn="l"/>
            <a:r>
              <a:rPr sz="900" b="1" i="0">
                <a:solidFill>
                  <a:srgbClr val="8B5CF6"/>
                </a:solidFill>
                <a:latin typeface="Arial"/>
              </a:rPr>
              <a:t>INFRASTRUCTURE</a:t>
            </a:r>
          </a:p>
        </p:txBody>
      </p:sp>
      <p:sp>
        <p:nvSpPr>
          <p:cNvPr id="13" name="TextBox 12"/>
          <p:cNvSpPr txBox="1"/>
          <p:nvPr/>
        </p:nvSpPr>
        <p:spPr>
          <a:xfrm>
            <a:off x="4663440" y="3803904"/>
            <a:ext cx="3474720" cy="347472"/>
          </a:xfrm>
          <a:prstGeom prst="rect">
            <a:avLst/>
          </a:prstGeom>
          <a:noFill/>
        </p:spPr>
        <p:txBody>
          <a:bodyPr wrap="square">
            <a:spAutoFit/>
          </a:bodyPr>
          <a:lstStyle/>
          <a:p>
            <a:pPr algn="l"/>
            <a:r>
              <a:rPr sz="1300" b="1" i="0">
                <a:solidFill>
                  <a:srgbClr val="FFFFFF"/>
                </a:solidFill>
                <a:latin typeface="Arial"/>
              </a:rPr>
              <a:t>AI Model Layer</a:t>
            </a:r>
          </a:p>
        </p:txBody>
      </p:sp>
      <p:sp>
        <p:nvSpPr>
          <p:cNvPr id="14" name="TextBox 13"/>
          <p:cNvSpPr txBox="1"/>
          <p:nvPr/>
        </p:nvSpPr>
        <p:spPr>
          <a:xfrm>
            <a:off x="4663440" y="4206240"/>
            <a:ext cx="3474720" cy="530352"/>
          </a:xfrm>
          <a:prstGeom prst="rect">
            <a:avLst/>
          </a:prstGeom>
          <a:noFill/>
        </p:spPr>
        <p:txBody>
          <a:bodyPr wrap="square">
            <a:spAutoFit/>
          </a:bodyPr>
          <a:lstStyle/>
          <a:p>
            <a:pPr algn="l"/>
            <a:r>
              <a:rPr sz="1100" b="0" i="0">
                <a:solidFill>
                  <a:srgbClr val="737373"/>
                </a:solidFill>
                <a:latin typeface="Arial"/>
              </a:rPr>
              <a:t>Agents are powered by the most capable AI models available — Claude, GPT-4, Gemini, and others. Each agent is matched to the right model for its role based on reasoning requirements, speed, and cost.</a:t>
            </a:r>
          </a:p>
        </p:txBody>
      </p:sp>
      <p:sp>
        <p:nvSpPr>
          <p:cNvPr id="15" name="Rectangle 14"/>
          <p:cNvSpPr/>
          <p:nvPr/>
        </p:nvSpPr>
        <p:spPr>
          <a:xfrm>
            <a:off x="8321040" y="3456432"/>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45643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547872"/>
            <a:ext cx="3474720" cy="228600"/>
          </a:xfrm>
          <a:prstGeom prst="rect">
            <a:avLst/>
          </a:prstGeom>
          <a:noFill/>
        </p:spPr>
        <p:txBody>
          <a:bodyPr wrap="square">
            <a:spAutoFit/>
          </a:bodyPr>
          <a:lstStyle/>
          <a:p>
            <a:pPr algn="l"/>
            <a:r>
              <a:rPr sz="900" b="1" i="0">
                <a:solidFill>
                  <a:srgbClr val="3B82F6"/>
                </a:solidFill>
                <a:latin typeface="Arial"/>
              </a:rPr>
              <a:t>INFRASTRUCTURE</a:t>
            </a:r>
          </a:p>
        </p:txBody>
      </p:sp>
      <p:sp>
        <p:nvSpPr>
          <p:cNvPr id="18" name="TextBox 17"/>
          <p:cNvSpPr txBox="1"/>
          <p:nvPr/>
        </p:nvSpPr>
        <p:spPr>
          <a:xfrm>
            <a:off x="8458200" y="3803904"/>
            <a:ext cx="3474720" cy="347472"/>
          </a:xfrm>
          <a:prstGeom prst="rect">
            <a:avLst/>
          </a:prstGeom>
          <a:noFill/>
        </p:spPr>
        <p:txBody>
          <a:bodyPr wrap="square">
            <a:spAutoFit/>
          </a:bodyPr>
          <a:lstStyle/>
          <a:p>
            <a:pPr algn="l"/>
            <a:r>
              <a:rPr sz="1300" b="1" i="0">
                <a:solidFill>
                  <a:srgbClr val="FFFFFF"/>
                </a:solidFill>
                <a:latin typeface="Arial"/>
              </a:rPr>
              <a:t>Integration Layer</a:t>
            </a:r>
          </a:p>
        </p:txBody>
      </p:sp>
      <p:sp>
        <p:nvSpPr>
          <p:cNvPr id="19" name="TextBox 18"/>
          <p:cNvSpPr txBox="1"/>
          <p:nvPr/>
        </p:nvSpPr>
        <p:spPr>
          <a:xfrm>
            <a:off x="8458200" y="4206240"/>
            <a:ext cx="3474720" cy="530352"/>
          </a:xfrm>
          <a:prstGeom prst="rect">
            <a:avLst/>
          </a:prstGeom>
          <a:noFill/>
        </p:spPr>
        <p:txBody>
          <a:bodyPr wrap="square">
            <a:spAutoFit/>
          </a:bodyPr>
          <a:lstStyle/>
          <a:p>
            <a:pPr algn="l"/>
            <a:r>
              <a:rPr sz="1100" b="0" i="0">
                <a:solidFill>
                  <a:srgbClr val="737373"/>
                </a:solidFill>
                <a:latin typeface="Arial"/>
              </a:rPr>
              <a:t>We build direct integrations to your existing systems — ERP, CRM, HRIS, databases, document stores, APIs, and communication platforms. Agents read from and write to your live data in real time.</a:t>
            </a:r>
          </a:p>
        </p:txBody>
      </p:sp>
      <p:sp>
        <p:nvSpPr>
          <p:cNvPr id="20" name="Rectangle 19"/>
          <p:cNvSpPr/>
          <p:nvPr/>
        </p:nvSpPr>
        <p:spPr>
          <a:xfrm>
            <a:off x="731520" y="4937760"/>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93776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029200"/>
            <a:ext cx="3474720" cy="228600"/>
          </a:xfrm>
          <a:prstGeom prst="rect">
            <a:avLst/>
          </a:prstGeom>
          <a:noFill/>
        </p:spPr>
        <p:txBody>
          <a:bodyPr wrap="square">
            <a:spAutoFit/>
          </a:bodyPr>
          <a:lstStyle/>
          <a:p>
            <a:pPr algn="l"/>
            <a:r>
              <a:rPr sz="900" b="1" i="0">
                <a:solidFill>
                  <a:srgbClr val="10B981"/>
                </a:solidFill>
                <a:latin typeface="Arial"/>
              </a:rPr>
              <a:t>INFRASTRUCTURE</a:t>
            </a:r>
          </a:p>
        </p:txBody>
      </p:sp>
      <p:sp>
        <p:nvSpPr>
          <p:cNvPr id="23" name="TextBox 22"/>
          <p:cNvSpPr txBox="1"/>
          <p:nvPr/>
        </p:nvSpPr>
        <p:spPr>
          <a:xfrm>
            <a:off x="868680" y="5285232"/>
            <a:ext cx="3474720" cy="347472"/>
          </a:xfrm>
          <a:prstGeom prst="rect">
            <a:avLst/>
          </a:prstGeom>
          <a:noFill/>
        </p:spPr>
        <p:txBody>
          <a:bodyPr wrap="square">
            <a:spAutoFit/>
          </a:bodyPr>
          <a:lstStyle/>
          <a:p>
            <a:pPr algn="l"/>
            <a:r>
              <a:rPr sz="1300" b="1" i="0">
                <a:solidFill>
                  <a:srgbClr val="FFFFFF"/>
                </a:solidFill>
                <a:latin typeface="Arial"/>
              </a:rPr>
              <a:t>Command Dashboard</a:t>
            </a:r>
          </a:p>
        </p:txBody>
      </p:sp>
      <p:sp>
        <p:nvSpPr>
          <p:cNvPr id="24" name="TextBox 23"/>
          <p:cNvSpPr txBox="1"/>
          <p:nvPr/>
        </p:nvSpPr>
        <p:spPr>
          <a:xfrm>
            <a:off x="868680" y="5687568"/>
            <a:ext cx="3474720" cy="530352"/>
          </a:xfrm>
          <a:prstGeom prst="rect">
            <a:avLst/>
          </a:prstGeom>
          <a:noFill/>
        </p:spPr>
        <p:txBody>
          <a:bodyPr wrap="square">
            <a:spAutoFit/>
          </a:bodyPr>
          <a:lstStyle/>
          <a:p>
            <a:pPr algn="l"/>
            <a:r>
              <a:rPr sz="1100" b="0" i="0">
                <a:solidFill>
                  <a:srgbClr val="737373"/>
                </a:solidFill>
                <a:latin typeface="Arial"/>
              </a:rPr>
              <a:t>A live operational interface gives your leadership team full visibility into every agent, every active workflow, every pending approval, and every completed task. Accessible from any device.</a:t>
            </a:r>
          </a:p>
        </p:txBody>
      </p:sp>
      <p:sp>
        <p:nvSpPr>
          <p:cNvPr id="25" name="Rectangle 24"/>
          <p:cNvSpPr/>
          <p:nvPr/>
        </p:nvSpPr>
        <p:spPr>
          <a:xfrm>
            <a:off x="4526280" y="4937760"/>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493776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029200"/>
            <a:ext cx="3474720" cy="228600"/>
          </a:xfrm>
          <a:prstGeom prst="rect">
            <a:avLst/>
          </a:prstGeom>
          <a:noFill/>
        </p:spPr>
        <p:txBody>
          <a:bodyPr wrap="square">
            <a:spAutoFit/>
          </a:bodyPr>
          <a:lstStyle/>
          <a:p>
            <a:pPr algn="l"/>
            <a:r>
              <a:rPr sz="900" b="1" i="0">
                <a:solidFill>
                  <a:srgbClr val="F59E0B"/>
                </a:solidFill>
                <a:latin typeface="Arial"/>
              </a:rPr>
              <a:t>INFRASTRUCTURE</a:t>
            </a:r>
          </a:p>
        </p:txBody>
      </p:sp>
      <p:sp>
        <p:nvSpPr>
          <p:cNvPr id="28" name="TextBox 27"/>
          <p:cNvSpPr txBox="1"/>
          <p:nvPr/>
        </p:nvSpPr>
        <p:spPr>
          <a:xfrm>
            <a:off x="4663440" y="5285232"/>
            <a:ext cx="3474720" cy="347472"/>
          </a:xfrm>
          <a:prstGeom prst="rect">
            <a:avLst/>
          </a:prstGeom>
          <a:noFill/>
        </p:spPr>
        <p:txBody>
          <a:bodyPr wrap="square">
            <a:spAutoFit/>
          </a:bodyPr>
          <a:lstStyle/>
          <a:p>
            <a:pPr algn="l"/>
            <a:r>
              <a:rPr sz="1300" b="1" i="0">
                <a:solidFill>
                  <a:srgbClr val="FFFFFF"/>
                </a:solidFill>
                <a:latin typeface="Arial"/>
              </a:rPr>
              <a:t>Security Architecture</a:t>
            </a:r>
          </a:p>
        </p:txBody>
      </p:sp>
      <p:sp>
        <p:nvSpPr>
          <p:cNvPr id="29" name="TextBox 28"/>
          <p:cNvSpPr txBox="1"/>
          <p:nvPr/>
        </p:nvSpPr>
        <p:spPr>
          <a:xfrm>
            <a:off x="4663440" y="5687568"/>
            <a:ext cx="3474720" cy="530352"/>
          </a:xfrm>
          <a:prstGeom prst="rect">
            <a:avLst/>
          </a:prstGeom>
          <a:noFill/>
        </p:spPr>
        <p:txBody>
          <a:bodyPr wrap="square">
            <a:spAutoFit/>
          </a:bodyPr>
          <a:lstStyle/>
          <a:p>
            <a:pPr algn="l"/>
            <a:r>
              <a:rPr sz="1100" b="0" i="0">
                <a:solidFill>
                  <a:srgbClr val="737373"/>
                </a:solidFill>
                <a:latin typeface="Arial"/>
              </a:rPr>
              <a:t>Role-based access controls, encrypted data pipelines, immutable audit logs, and agent-level permission scoping. Built to meet SOC 2, HIPAA, GDPR, and sector-specific compliance frameworks.</a:t>
            </a:r>
          </a:p>
        </p:txBody>
      </p:sp>
      <p:sp>
        <p:nvSpPr>
          <p:cNvPr id="30" name="Rectangle 29"/>
          <p:cNvSpPr/>
          <p:nvPr/>
        </p:nvSpPr>
        <p:spPr>
          <a:xfrm>
            <a:off x="8321040" y="4937760"/>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493776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029200"/>
            <a:ext cx="3474720" cy="228600"/>
          </a:xfrm>
          <a:prstGeom prst="rect">
            <a:avLst/>
          </a:prstGeom>
          <a:noFill/>
        </p:spPr>
        <p:txBody>
          <a:bodyPr wrap="square">
            <a:spAutoFit/>
          </a:bodyPr>
          <a:lstStyle/>
          <a:p>
            <a:pPr algn="l"/>
            <a:r>
              <a:rPr sz="900" b="1" i="0">
                <a:solidFill>
                  <a:srgbClr val="EC4899"/>
                </a:solidFill>
                <a:latin typeface="Arial"/>
              </a:rPr>
              <a:t>INFRASTRUCTURE</a:t>
            </a:r>
          </a:p>
        </p:txBody>
      </p:sp>
      <p:sp>
        <p:nvSpPr>
          <p:cNvPr id="33" name="TextBox 32"/>
          <p:cNvSpPr txBox="1"/>
          <p:nvPr/>
        </p:nvSpPr>
        <p:spPr>
          <a:xfrm>
            <a:off x="8458200" y="5285232"/>
            <a:ext cx="3474720" cy="347472"/>
          </a:xfrm>
          <a:prstGeom prst="rect">
            <a:avLst/>
          </a:prstGeom>
          <a:noFill/>
        </p:spPr>
        <p:txBody>
          <a:bodyPr wrap="square">
            <a:spAutoFit/>
          </a:bodyPr>
          <a:lstStyle/>
          <a:p>
            <a:pPr algn="l"/>
            <a:r>
              <a:rPr sz="1300" b="1" i="0">
                <a:solidFill>
                  <a:srgbClr val="FFFFFF"/>
                </a:solidFill>
                <a:latin typeface="Arial"/>
              </a:rPr>
              <a:t>Redundancy and Uptime</a:t>
            </a:r>
          </a:p>
        </p:txBody>
      </p:sp>
      <p:sp>
        <p:nvSpPr>
          <p:cNvPr id="34" name="TextBox 33"/>
          <p:cNvSpPr txBox="1"/>
          <p:nvPr/>
        </p:nvSpPr>
        <p:spPr>
          <a:xfrm>
            <a:off x="8458200" y="5687568"/>
            <a:ext cx="3474720" cy="530352"/>
          </a:xfrm>
          <a:prstGeom prst="rect">
            <a:avLst/>
          </a:prstGeom>
          <a:noFill/>
        </p:spPr>
        <p:txBody>
          <a:bodyPr wrap="square">
            <a:spAutoFit/>
          </a:bodyPr>
          <a:lstStyle/>
          <a:p>
            <a:pPr algn="l"/>
            <a:r>
              <a:rPr sz="1100" b="0" i="0">
                <a:solidFill>
                  <a:srgbClr val="737373"/>
                </a:solidFill>
                <a:latin typeface="Arial"/>
              </a:rPr>
              <a:t>Active-active failover, RAID-mirrored storage, redundant networking, and automated recovery. Zero downtime deployments. 99.99% uptime SLA. The AI workforce does not stop when hardware does.</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DATA — WHAT WE NEED AND HOW WE USE IT</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Agents are only as good</a:t>
            </a:r>
          </a:p>
          <a:p>
            <a:r>
              <a:rPr sz="3800" b="1">
                <a:solidFill>
                  <a:srgbClr val="22D3EE"/>
                </a:solidFill>
                <a:latin typeface="Arial"/>
              </a:rPr>
              <a:t>as the data they have access to.</a:t>
            </a:r>
          </a:p>
        </p:txBody>
      </p:sp>
      <p:sp>
        <p:nvSpPr>
          <p:cNvPr id="4" name="TextBox 3"/>
          <p:cNvSpPr txBox="1"/>
          <p:nvPr/>
        </p:nvSpPr>
        <p:spPr>
          <a:xfrm>
            <a:off x="731520" y="2633472"/>
            <a:ext cx="10515600" cy="685800"/>
          </a:xfrm>
          <a:prstGeom prst="rect">
            <a:avLst/>
          </a:prstGeom>
          <a:noFill/>
        </p:spPr>
        <p:txBody>
          <a:bodyPr wrap="square">
            <a:spAutoFit/>
          </a:bodyPr>
          <a:lstStyle/>
          <a:p>
            <a:pPr algn="l"/>
            <a:r>
              <a:rPr sz="1300" b="0" i="0">
                <a:solidFill>
                  <a:srgbClr val="737373"/>
                </a:solidFill>
                <a:latin typeface="Arial"/>
              </a:rPr>
              <a:t>The quality and breadth of the data we ingest determines the quality and depth of what the AI workforce can do. We work with whatever you have. We do not require a clean data warehouse or a completed transformation project before deployment begins.</a:t>
            </a:r>
          </a:p>
        </p:txBody>
      </p:sp>
      <p:sp>
        <p:nvSpPr>
          <p:cNvPr id="5" name="Rectangle 4"/>
          <p:cNvSpPr/>
          <p:nvPr/>
        </p:nvSpPr>
        <p:spPr>
          <a:xfrm>
            <a:off x="731520" y="3456432"/>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45643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547872"/>
            <a:ext cx="3474720" cy="228600"/>
          </a:xfrm>
          <a:prstGeom prst="rect">
            <a:avLst/>
          </a:prstGeom>
          <a:noFill/>
        </p:spPr>
        <p:txBody>
          <a:bodyPr wrap="square">
            <a:spAutoFit/>
          </a:bodyPr>
          <a:lstStyle/>
          <a:p>
            <a:pPr algn="l"/>
            <a:r>
              <a:rPr sz="900" b="1" i="0">
                <a:solidFill>
                  <a:srgbClr val="22D3EE"/>
                </a:solidFill>
                <a:latin typeface="Arial"/>
              </a:rPr>
              <a:t>DATA</a:t>
            </a:r>
          </a:p>
        </p:txBody>
      </p:sp>
      <p:sp>
        <p:nvSpPr>
          <p:cNvPr id="8" name="TextBox 7"/>
          <p:cNvSpPr txBox="1"/>
          <p:nvPr/>
        </p:nvSpPr>
        <p:spPr>
          <a:xfrm>
            <a:off x="868680" y="3803904"/>
            <a:ext cx="3474720" cy="347472"/>
          </a:xfrm>
          <a:prstGeom prst="rect">
            <a:avLst/>
          </a:prstGeom>
          <a:noFill/>
        </p:spPr>
        <p:txBody>
          <a:bodyPr wrap="square">
            <a:spAutoFit/>
          </a:bodyPr>
          <a:lstStyle/>
          <a:p>
            <a:pPr algn="l"/>
            <a:r>
              <a:rPr sz="1300" b="1" i="0">
                <a:solidFill>
                  <a:srgbClr val="FFFFFF"/>
                </a:solidFill>
                <a:latin typeface="Arial"/>
              </a:rPr>
              <a:t>What We Ingest</a:t>
            </a:r>
          </a:p>
        </p:txBody>
      </p:sp>
      <p:sp>
        <p:nvSpPr>
          <p:cNvPr id="9" name="TextBox 8"/>
          <p:cNvSpPr txBox="1"/>
          <p:nvPr/>
        </p:nvSpPr>
        <p:spPr>
          <a:xfrm>
            <a:off x="868680" y="4206240"/>
            <a:ext cx="3474720" cy="530352"/>
          </a:xfrm>
          <a:prstGeom prst="rect">
            <a:avLst/>
          </a:prstGeom>
          <a:noFill/>
        </p:spPr>
        <p:txBody>
          <a:bodyPr wrap="square">
            <a:spAutoFit/>
          </a:bodyPr>
          <a:lstStyle/>
          <a:p>
            <a:pPr algn="l"/>
            <a:r>
              <a:rPr sz="1100" b="0" i="0">
                <a:solidFill>
                  <a:srgbClr val="737373"/>
                </a:solidFill>
                <a:latin typeface="Arial"/>
              </a:rPr>
              <a:t>CRM data, ERP records, HR databases, financial systems, email and communication archives, document libraries, product data, customer records, and any structured or semi-structured data source your organization maintains.</a:t>
            </a:r>
          </a:p>
        </p:txBody>
      </p:sp>
      <p:sp>
        <p:nvSpPr>
          <p:cNvPr id="10" name="Rectangle 9"/>
          <p:cNvSpPr/>
          <p:nvPr/>
        </p:nvSpPr>
        <p:spPr>
          <a:xfrm>
            <a:off x="4526280" y="3456432"/>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45643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547872"/>
            <a:ext cx="3474720" cy="228600"/>
          </a:xfrm>
          <a:prstGeom prst="rect">
            <a:avLst/>
          </a:prstGeom>
          <a:noFill/>
        </p:spPr>
        <p:txBody>
          <a:bodyPr wrap="square">
            <a:spAutoFit/>
          </a:bodyPr>
          <a:lstStyle/>
          <a:p>
            <a:pPr algn="l"/>
            <a:r>
              <a:rPr sz="900" b="1" i="0">
                <a:solidFill>
                  <a:srgbClr val="8B5CF6"/>
                </a:solidFill>
                <a:latin typeface="Arial"/>
              </a:rPr>
              <a:t>DATA</a:t>
            </a:r>
          </a:p>
        </p:txBody>
      </p:sp>
      <p:sp>
        <p:nvSpPr>
          <p:cNvPr id="13" name="TextBox 12"/>
          <p:cNvSpPr txBox="1"/>
          <p:nvPr/>
        </p:nvSpPr>
        <p:spPr>
          <a:xfrm>
            <a:off x="4663440" y="3803904"/>
            <a:ext cx="3474720" cy="347472"/>
          </a:xfrm>
          <a:prstGeom prst="rect">
            <a:avLst/>
          </a:prstGeom>
          <a:noFill/>
        </p:spPr>
        <p:txBody>
          <a:bodyPr wrap="square">
            <a:spAutoFit/>
          </a:bodyPr>
          <a:lstStyle/>
          <a:p>
            <a:pPr algn="l"/>
            <a:r>
              <a:rPr sz="1300" b="1" i="0">
                <a:solidFill>
                  <a:srgbClr val="FFFFFF"/>
                </a:solidFill>
                <a:latin typeface="Arial"/>
              </a:rPr>
              <a:t>How We Connect</a:t>
            </a:r>
          </a:p>
        </p:txBody>
      </p:sp>
      <p:sp>
        <p:nvSpPr>
          <p:cNvPr id="14" name="TextBox 13"/>
          <p:cNvSpPr txBox="1"/>
          <p:nvPr/>
        </p:nvSpPr>
        <p:spPr>
          <a:xfrm>
            <a:off x="4663440" y="4206240"/>
            <a:ext cx="3474720" cy="530352"/>
          </a:xfrm>
          <a:prstGeom prst="rect">
            <a:avLst/>
          </a:prstGeom>
          <a:noFill/>
        </p:spPr>
        <p:txBody>
          <a:bodyPr wrap="square">
            <a:spAutoFit/>
          </a:bodyPr>
          <a:lstStyle/>
          <a:p>
            <a:pPr algn="l"/>
            <a:r>
              <a:rPr sz="1100" b="0" i="0">
                <a:solidFill>
                  <a:srgbClr val="737373"/>
                </a:solidFill>
                <a:latin typeface="Arial"/>
              </a:rPr>
              <a:t>Direct database connections, API integrations, file-based ingestion, and real-time streaming. We build the connectors. Your team does not need to extract or prepare data before we can use it.</a:t>
            </a:r>
          </a:p>
        </p:txBody>
      </p:sp>
      <p:sp>
        <p:nvSpPr>
          <p:cNvPr id="15" name="Rectangle 14"/>
          <p:cNvSpPr/>
          <p:nvPr/>
        </p:nvSpPr>
        <p:spPr>
          <a:xfrm>
            <a:off x="8321040" y="3456432"/>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45643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547872"/>
            <a:ext cx="3474720" cy="228600"/>
          </a:xfrm>
          <a:prstGeom prst="rect">
            <a:avLst/>
          </a:prstGeom>
          <a:noFill/>
        </p:spPr>
        <p:txBody>
          <a:bodyPr wrap="square">
            <a:spAutoFit/>
          </a:bodyPr>
          <a:lstStyle/>
          <a:p>
            <a:pPr algn="l"/>
            <a:r>
              <a:rPr sz="900" b="1" i="0">
                <a:solidFill>
                  <a:srgbClr val="3B82F6"/>
                </a:solidFill>
                <a:latin typeface="Arial"/>
              </a:rPr>
              <a:t>DATA</a:t>
            </a:r>
          </a:p>
        </p:txBody>
      </p:sp>
      <p:sp>
        <p:nvSpPr>
          <p:cNvPr id="18" name="TextBox 17"/>
          <p:cNvSpPr txBox="1"/>
          <p:nvPr/>
        </p:nvSpPr>
        <p:spPr>
          <a:xfrm>
            <a:off x="8458200" y="3803904"/>
            <a:ext cx="3474720" cy="347472"/>
          </a:xfrm>
          <a:prstGeom prst="rect">
            <a:avLst/>
          </a:prstGeom>
          <a:noFill/>
        </p:spPr>
        <p:txBody>
          <a:bodyPr wrap="square">
            <a:spAutoFit/>
          </a:bodyPr>
          <a:lstStyle/>
          <a:p>
            <a:pPr algn="l"/>
            <a:r>
              <a:rPr sz="1300" b="1" i="0">
                <a:solidFill>
                  <a:srgbClr val="FFFFFF"/>
                </a:solidFill>
                <a:latin typeface="Arial"/>
              </a:rPr>
              <a:t>How Agents Use Data</a:t>
            </a:r>
          </a:p>
        </p:txBody>
      </p:sp>
      <p:sp>
        <p:nvSpPr>
          <p:cNvPr id="19" name="TextBox 18"/>
          <p:cNvSpPr txBox="1"/>
          <p:nvPr/>
        </p:nvSpPr>
        <p:spPr>
          <a:xfrm>
            <a:off x="8458200" y="4206240"/>
            <a:ext cx="3474720" cy="530352"/>
          </a:xfrm>
          <a:prstGeom prst="rect">
            <a:avLst/>
          </a:prstGeom>
          <a:noFill/>
        </p:spPr>
        <p:txBody>
          <a:bodyPr wrap="square">
            <a:spAutoFit/>
          </a:bodyPr>
          <a:lstStyle/>
          <a:p>
            <a:pPr algn="l"/>
            <a:r>
              <a:rPr sz="1100" b="0" i="0">
                <a:solidFill>
                  <a:srgbClr val="737373"/>
                </a:solidFill>
                <a:latin typeface="Arial"/>
              </a:rPr>
              <a:t>Agents read live data to make decisions, generate reports, identify anomalies, draft communications, and coordinate workflows. They write back to your systems when authorized — updating records, logging actions, and triggering downstream processes.</a:t>
            </a:r>
          </a:p>
        </p:txBody>
      </p:sp>
      <p:sp>
        <p:nvSpPr>
          <p:cNvPr id="20" name="Rectangle 19"/>
          <p:cNvSpPr/>
          <p:nvPr/>
        </p:nvSpPr>
        <p:spPr>
          <a:xfrm>
            <a:off x="731520" y="4937760"/>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93776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029200"/>
            <a:ext cx="3474720" cy="228600"/>
          </a:xfrm>
          <a:prstGeom prst="rect">
            <a:avLst/>
          </a:prstGeom>
          <a:noFill/>
        </p:spPr>
        <p:txBody>
          <a:bodyPr wrap="square">
            <a:spAutoFit/>
          </a:bodyPr>
          <a:lstStyle/>
          <a:p>
            <a:pPr algn="l"/>
            <a:r>
              <a:rPr sz="900" b="1" i="0">
                <a:solidFill>
                  <a:srgbClr val="10B981"/>
                </a:solidFill>
                <a:latin typeface="Arial"/>
              </a:rPr>
              <a:t>DATA</a:t>
            </a:r>
          </a:p>
        </p:txBody>
      </p:sp>
      <p:sp>
        <p:nvSpPr>
          <p:cNvPr id="23" name="TextBox 22"/>
          <p:cNvSpPr txBox="1"/>
          <p:nvPr/>
        </p:nvSpPr>
        <p:spPr>
          <a:xfrm>
            <a:off x="868680" y="5285232"/>
            <a:ext cx="3474720" cy="347472"/>
          </a:xfrm>
          <a:prstGeom prst="rect">
            <a:avLst/>
          </a:prstGeom>
          <a:noFill/>
        </p:spPr>
        <p:txBody>
          <a:bodyPr wrap="square">
            <a:spAutoFit/>
          </a:bodyPr>
          <a:lstStyle/>
          <a:p>
            <a:pPr algn="l"/>
            <a:r>
              <a:rPr sz="1300" b="1" i="0">
                <a:solidFill>
                  <a:srgbClr val="FFFFFF"/>
                </a:solidFill>
                <a:latin typeface="Arial"/>
              </a:rPr>
              <a:t>Data We Generate</a:t>
            </a:r>
          </a:p>
        </p:txBody>
      </p:sp>
      <p:sp>
        <p:nvSpPr>
          <p:cNvPr id="24" name="TextBox 23"/>
          <p:cNvSpPr txBox="1"/>
          <p:nvPr/>
        </p:nvSpPr>
        <p:spPr>
          <a:xfrm>
            <a:off x="868680" y="5687568"/>
            <a:ext cx="3474720" cy="530352"/>
          </a:xfrm>
          <a:prstGeom prst="rect">
            <a:avLst/>
          </a:prstGeom>
          <a:noFill/>
        </p:spPr>
        <p:txBody>
          <a:bodyPr wrap="square">
            <a:spAutoFit/>
          </a:bodyPr>
          <a:lstStyle/>
          <a:p>
            <a:pPr algn="l"/>
            <a:r>
              <a:rPr sz="1100" b="0" i="0">
                <a:solidFill>
                  <a:srgbClr val="737373"/>
                </a:solidFill>
                <a:latin typeface="Arial"/>
              </a:rPr>
              <a:t>Every agent action is logged. Every decision is documented. The AI workforce generates a growing body of operational intelligence — run histories, outcome data, performance metrics — that improves the quality of future decisions over time.</a:t>
            </a:r>
          </a:p>
        </p:txBody>
      </p:sp>
      <p:sp>
        <p:nvSpPr>
          <p:cNvPr id="25" name="Rectangle 24"/>
          <p:cNvSpPr/>
          <p:nvPr/>
        </p:nvSpPr>
        <p:spPr>
          <a:xfrm>
            <a:off x="4526280" y="4937760"/>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493776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029200"/>
            <a:ext cx="3474720" cy="228600"/>
          </a:xfrm>
          <a:prstGeom prst="rect">
            <a:avLst/>
          </a:prstGeom>
          <a:noFill/>
        </p:spPr>
        <p:txBody>
          <a:bodyPr wrap="square">
            <a:spAutoFit/>
          </a:bodyPr>
          <a:lstStyle/>
          <a:p>
            <a:pPr algn="l"/>
            <a:r>
              <a:rPr sz="900" b="1" i="0">
                <a:solidFill>
                  <a:srgbClr val="F59E0B"/>
                </a:solidFill>
                <a:latin typeface="Arial"/>
              </a:rPr>
              <a:t>DATA</a:t>
            </a:r>
          </a:p>
        </p:txBody>
      </p:sp>
      <p:sp>
        <p:nvSpPr>
          <p:cNvPr id="28" name="TextBox 27"/>
          <p:cNvSpPr txBox="1"/>
          <p:nvPr/>
        </p:nvSpPr>
        <p:spPr>
          <a:xfrm>
            <a:off x="4663440" y="5285232"/>
            <a:ext cx="3474720" cy="347472"/>
          </a:xfrm>
          <a:prstGeom prst="rect">
            <a:avLst/>
          </a:prstGeom>
          <a:noFill/>
        </p:spPr>
        <p:txBody>
          <a:bodyPr wrap="square">
            <a:spAutoFit/>
          </a:bodyPr>
          <a:lstStyle/>
          <a:p>
            <a:pPr algn="l"/>
            <a:r>
              <a:rPr sz="1300" b="1" i="0">
                <a:solidFill>
                  <a:srgbClr val="FFFFFF"/>
                </a:solidFill>
                <a:latin typeface="Arial"/>
              </a:rPr>
              <a:t>What We Do Not Need</a:t>
            </a:r>
          </a:p>
        </p:txBody>
      </p:sp>
      <p:sp>
        <p:nvSpPr>
          <p:cNvPr id="29" name="TextBox 28"/>
          <p:cNvSpPr txBox="1"/>
          <p:nvPr/>
        </p:nvSpPr>
        <p:spPr>
          <a:xfrm>
            <a:off x="4663440" y="5687568"/>
            <a:ext cx="3474720" cy="530352"/>
          </a:xfrm>
          <a:prstGeom prst="rect">
            <a:avLst/>
          </a:prstGeom>
          <a:noFill/>
        </p:spPr>
        <p:txBody>
          <a:bodyPr wrap="square">
            <a:spAutoFit/>
          </a:bodyPr>
          <a:lstStyle/>
          <a:p>
            <a:pPr algn="l"/>
            <a:r>
              <a:rPr sz="1100" b="0" i="0">
                <a:solidFill>
                  <a:srgbClr val="737373"/>
                </a:solidFill>
                <a:latin typeface="Arial"/>
              </a:rPr>
              <a:t>A completed data migration. A clean warehouse. A unified data model. Perfect data quality. We work with your data in its current state and improve what we can access over the course of the engagement.</a:t>
            </a:r>
          </a:p>
        </p:txBody>
      </p:sp>
      <p:sp>
        <p:nvSpPr>
          <p:cNvPr id="30" name="Rectangle 29"/>
          <p:cNvSpPr/>
          <p:nvPr/>
        </p:nvSpPr>
        <p:spPr>
          <a:xfrm>
            <a:off x="8321040" y="4937760"/>
            <a:ext cx="3657600" cy="1353312"/>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493776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029200"/>
            <a:ext cx="3474720" cy="228600"/>
          </a:xfrm>
          <a:prstGeom prst="rect">
            <a:avLst/>
          </a:prstGeom>
          <a:noFill/>
        </p:spPr>
        <p:txBody>
          <a:bodyPr wrap="square">
            <a:spAutoFit/>
          </a:bodyPr>
          <a:lstStyle/>
          <a:p>
            <a:pPr algn="l"/>
            <a:r>
              <a:rPr sz="900" b="1" i="0">
                <a:solidFill>
                  <a:srgbClr val="EC4899"/>
                </a:solidFill>
                <a:latin typeface="Arial"/>
              </a:rPr>
              <a:t>DATA</a:t>
            </a:r>
          </a:p>
        </p:txBody>
      </p:sp>
      <p:sp>
        <p:nvSpPr>
          <p:cNvPr id="33" name="TextBox 32"/>
          <p:cNvSpPr txBox="1"/>
          <p:nvPr/>
        </p:nvSpPr>
        <p:spPr>
          <a:xfrm>
            <a:off x="8458200" y="5285232"/>
            <a:ext cx="3474720" cy="347472"/>
          </a:xfrm>
          <a:prstGeom prst="rect">
            <a:avLst/>
          </a:prstGeom>
          <a:noFill/>
        </p:spPr>
        <p:txBody>
          <a:bodyPr wrap="square">
            <a:spAutoFit/>
          </a:bodyPr>
          <a:lstStyle/>
          <a:p>
            <a:pPr algn="l"/>
            <a:r>
              <a:rPr sz="1300" b="1" i="0">
                <a:solidFill>
                  <a:srgbClr val="FFFFFF"/>
                </a:solidFill>
                <a:latin typeface="Arial"/>
              </a:rPr>
              <a:t>Data Security</a:t>
            </a:r>
          </a:p>
        </p:txBody>
      </p:sp>
      <p:sp>
        <p:nvSpPr>
          <p:cNvPr id="34" name="TextBox 33"/>
          <p:cNvSpPr txBox="1"/>
          <p:nvPr/>
        </p:nvSpPr>
        <p:spPr>
          <a:xfrm>
            <a:off x="8458200" y="5687568"/>
            <a:ext cx="3474720" cy="530352"/>
          </a:xfrm>
          <a:prstGeom prst="rect">
            <a:avLst/>
          </a:prstGeom>
          <a:noFill/>
        </p:spPr>
        <p:txBody>
          <a:bodyPr wrap="square">
            <a:spAutoFit/>
          </a:bodyPr>
          <a:lstStyle/>
          <a:p>
            <a:pPr algn="l"/>
            <a:r>
              <a:rPr sz="1100" b="0" i="0">
                <a:solidFill>
                  <a:srgbClr val="737373"/>
                </a:solidFill>
                <a:latin typeface="Arial"/>
              </a:rPr>
              <a:t>All data accessed by agents is processed within your infrastructure boundary. No data is transmitted to external systems. All agent memory and logs are stored on your servers. Full audit trail of every data access.</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ENGAGEMENT MODEL — HOW WE WORK TOGETHER</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Discovery to deployment</a:t>
            </a:r>
          </a:p>
          <a:p>
            <a:r>
              <a:rPr sz="3800" b="1">
                <a:solidFill>
                  <a:srgbClr val="22D3EE"/>
                </a:solidFill>
                <a:latin typeface="Arial"/>
              </a:rPr>
              <a:t>in days, not months.</a:t>
            </a:r>
          </a:p>
        </p:txBody>
      </p:sp>
      <p:sp>
        <p:nvSpPr>
          <p:cNvPr id="4" name="Rectangle 3"/>
          <p:cNvSpPr/>
          <p:nvPr/>
        </p:nvSpPr>
        <p:spPr>
          <a:xfrm>
            <a:off x="731520" y="2651760"/>
            <a:ext cx="11155680" cy="86868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111556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43200"/>
            <a:ext cx="3200400" cy="292608"/>
          </a:xfrm>
          <a:prstGeom prst="rect">
            <a:avLst/>
          </a:prstGeom>
          <a:noFill/>
        </p:spPr>
        <p:txBody>
          <a:bodyPr wrap="square">
            <a:spAutoFit/>
          </a:bodyPr>
          <a:lstStyle/>
          <a:p>
            <a:pPr algn="l"/>
            <a:r>
              <a:rPr sz="1300" b="1" i="0">
                <a:solidFill>
                  <a:srgbClr val="FFFFFF"/>
                </a:solidFill>
                <a:latin typeface="Arial"/>
              </a:rPr>
              <a:t>Phase 1 — Discovery  |  Week 1-2</a:t>
            </a:r>
          </a:p>
        </p:txBody>
      </p:sp>
      <p:sp>
        <p:nvSpPr>
          <p:cNvPr id="7" name="TextBox 6"/>
          <p:cNvSpPr txBox="1"/>
          <p:nvPr/>
        </p:nvSpPr>
        <p:spPr>
          <a:xfrm>
            <a:off x="4389120" y="2743200"/>
            <a:ext cx="5029200" cy="685800"/>
          </a:xfrm>
          <a:prstGeom prst="rect">
            <a:avLst/>
          </a:prstGeom>
          <a:noFill/>
        </p:spPr>
        <p:txBody>
          <a:bodyPr wrap="square">
            <a:spAutoFit/>
          </a:bodyPr>
          <a:lstStyle/>
          <a:p>
            <a:pPr algn="l"/>
            <a:r>
              <a:rPr sz="1100" b="0" i="0">
                <a:solidFill>
                  <a:srgbClr val="737373"/>
                </a:solidFill>
                <a:latin typeface="Arial"/>
              </a:rPr>
              <a:t>Leadership interviews and workflow documentation. We map every function, every data source, and every integration target. We define the agent roster, the org hierarchy, and the governance model. Output: a full deployment blueprint signed off by your team.</a:t>
            </a:r>
          </a:p>
        </p:txBody>
      </p:sp>
      <p:sp>
        <p:nvSpPr>
          <p:cNvPr id="8" name="TextBox 7"/>
          <p:cNvSpPr txBox="1"/>
          <p:nvPr/>
        </p:nvSpPr>
        <p:spPr>
          <a:xfrm>
            <a:off x="9601200" y="2743200"/>
            <a:ext cx="2286000" cy="685800"/>
          </a:xfrm>
          <a:prstGeom prst="rect">
            <a:avLst/>
          </a:prstGeom>
          <a:noFill/>
        </p:spPr>
        <p:txBody>
          <a:bodyPr wrap="square">
            <a:spAutoFit/>
          </a:bodyPr>
          <a:lstStyle/>
          <a:p>
            <a:pPr algn="l"/>
            <a:r>
              <a:rPr sz="1000" b="0" i="1">
                <a:solidFill>
                  <a:srgbClr val="22D3EE"/>
                </a:solidFill>
                <a:latin typeface="Arial"/>
              </a:rPr>
              <a:t>From your side: 2-3 leadership hours per week</a:t>
            </a:r>
          </a:p>
        </p:txBody>
      </p:sp>
      <p:sp>
        <p:nvSpPr>
          <p:cNvPr id="9" name="Rectangle 8"/>
          <p:cNvSpPr/>
          <p:nvPr/>
        </p:nvSpPr>
        <p:spPr>
          <a:xfrm>
            <a:off x="731520" y="3611880"/>
            <a:ext cx="11155680" cy="86868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611880"/>
            <a:ext cx="1115568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03320"/>
            <a:ext cx="3200400" cy="292608"/>
          </a:xfrm>
          <a:prstGeom prst="rect">
            <a:avLst/>
          </a:prstGeom>
          <a:noFill/>
        </p:spPr>
        <p:txBody>
          <a:bodyPr wrap="square">
            <a:spAutoFit/>
          </a:bodyPr>
          <a:lstStyle/>
          <a:p>
            <a:pPr algn="l"/>
            <a:r>
              <a:rPr sz="1300" b="1" i="0">
                <a:solidFill>
                  <a:srgbClr val="FFFFFF"/>
                </a:solidFill>
                <a:latin typeface="Arial"/>
              </a:rPr>
              <a:t>Phase 2 — Build  |  Week 2-3</a:t>
            </a:r>
          </a:p>
        </p:txBody>
      </p:sp>
      <p:sp>
        <p:nvSpPr>
          <p:cNvPr id="12" name="TextBox 11"/>
          <p:cNvSpPr txBox="1"/>
          <p:nvPr/>
        </p:nvSpPr>
        <p:spPr>
          <a:xfrm>
            <a:off x="4389120" y="3703320"/>
            <a:ext cx="5029200" cy="685800"/>
          </a:xfrm>
          <a:prstGeom prst="rect">
            <a:avLst/>
          </a:prstGeom>
          <a:noFill/>
        </p:spPr>
        <p:txBody>
          <a:bodyPr wrap="square">
            <a:spAutoFit/>
          </a:bodyPr>
          <a:lstStyle/>
          <a:p>
            <a:pPr algn="l"/>
            <a:r>
              <a:rPr sz="1100" b="0" i="0">
                <a:solidFill>
                  <a:srgbClr val="737373"/>
                </a:solidFill>
                <a:latin typeface="Arial"/>
              </a:rPr>
              <a:t>We configure the infrastructure, build the integrations, and deploy the agent hierarchy. Each agent is tested against real data before it goes live. The command dashboard is configured for your leadership team.</a:t>
            </a:r>
          </a:p>
        </p:txBody>
      </p:sp>
      <p:sp>
        <p:nvSpPr>
          <p:cNvPr id="13" name="TextBox 12"/>
          <p:cNvSpPr txBox="1"/>
          <p:nvPr/>
        </p:nvSpPr>
        <p:spPr>
          <a:xfrm>
            <a:off x="9601200" y="3703320"/>
            <a:ext cx="2286000" cy="685800"/>
          </a:xfrm>
          <a:prstGeom prst="rect">
            <a:avLst/>
          </a:prstGeom>
          <a:noFill/>
        </p:spPr>
        <p:txBody>
          <a:bodyPr wrap="square">
            <a:spAutoFit/>
          </a:bodyPr>
          <a:lstStyle/>
          <a:p>
            <a:pPr algn="l"/>
            <a:r>
              <a:rPr sz="1000" b="0" i="1">
                <a:solidFill>
                  <a:srgbClr val="8B5CF6"/>
                </a:solidFill>
                <a:latin typeface="Arial"/>
              </a:rPr>
              <a:t>From your side: IT access to systems and data</a:t>
            </a:r>
          </a:p>
        </p:txBody>
      </p:sp>
      <p:sp>
        <p:nvSpPr>
          <p:cNvPr id="14" name="Rectangle 13"/>
          <p:cNvSpPr/>
          <p:nvPr/>
        </p:nvSpPr>
        <p:spPr>
          <a:xfrm>
            <a:off x="731520" y="4572000"/>
            <a:ext cx="11155680" cy="86868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572000"/>
            <a:ext cx="111556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63440"/>
            <a:ext cx="3200400" cy="292608"/>
          </a:xfrm>
          <a:prstGeom prst="rect">
            <a:avLst/>
          </a:prstGeom>
          <a:noFill/>
        </p:spPr>
        <p:txBody>
          <a:bodyPr wrap="square">
            <a:spAutoFit/>
          </a:bodyPr>
          <a:lstStyle/>
          <a:p>
            <a:pPr algn="l"/>
            <a:r>
              <a:rPr sz="1300" b="1" i="0">
                <a:solidFill>
                  <a:srgbClr val="FFFFFF"/>
                </a:solidFill>
                <a:latin typeface="Arial"/>
              </a:rPr>
              <a:t>Phase 3 — Go Live  |  Week 3-4</a:t>
            </a:r>
          </a:p>
        </p:txBody>
      </p:sp>
      <p:sp>
        <p:nvSpPr>
          <p:cNvPr id="17" name="TextBox 16"/>
          <p:cNvSpPr txBox="1"/>
          <p:nvPr/>
        </p:nvSpPr>
        <p:spPr>
          <a:xfrm>
            <a:off x="4389120" y="4663440"/>
            <a:ext cx="5029200" cy="685800"/>
          </a:xfrm>
          <a:prstGeom prst="rect">
            <a:avLst/>
          </a:prstGeom>
          <a:noFill/>
        </p:spPr>
        <p:txBody>
          <a:bodyPr wrap="square">
            <a:spAutoFit/>
          </a:bodyPr>
          <a:lstStyle/>
          <a:p>
            <a:pPr algn="l"/>
            <a:r>
              <a:rPr sz="1100" b="0" i="0">
                <a:solidFill>
                  <a:srgbClr val="737373"/>
                </a:solidFill>
                <a:latin typeface="Arial"/>
              </a:rPr>
              <a:t>Agents activate. Your leadership team gets access to the dashboard. First outputs are delivered — reports, leads, responses, flags — within the first 48 hours of go-live. We monitor closely and tune in real time.</a:t>
            </a:r>
          </a:p>
        </p:txBody>
      </p:sp>
      <p:sp>
        <p:nvSpPr>
          <p:cNvPr id="18" name="TextBox 17"/>
          <p:cNvSpPr txBox="1"/>
          <p:nvPr/>
        </p:nvSpPr>
        <p:spPr>
          <a:xfrm>
            <a:off x="9601200" y="4663440"/>
            <a:ext cx="2286000" cy="685800"/>
          </a:xfrm>
          <a:prstGeom prst="rect">
            <a:avLst/>
          </a:prstGeom>
          <a:noFill/>
        </p:spPr>
        <p:txBody>
          <a:bodyPr wrap="square">
            <a:spAutoFit/>
          </a:bodyPr>
          <a:lstStyle/>
          <a:p>
            <a:pPr algn="l"/>
            <a:r>
              <a:rPr sz="1000" b="0" i="1">
                <a:solidFill>
                  <a:srgbClr val="3B82F6"/>
                </a:solidFill>
                <a:latin typeface="Arial"/>
              </a:rPr>
              <a:t>From your side: Review first outputs and provide feedback</a:t>
            </a:r>
          </a:p>
        </p:txBody>
      </p:sp>
      <p:sp>
        <p:nvSpPr>
          <p:cNvPr id="19" name="Rectangle 18"/>
          <p:cNvSpPr/>
          <p:nvPr/>
        </p:nvSpPr>
        <p:spPr>
          <a:xfrm>
            <a:off x="731520" y="5532120"/>
            <a:ext cx="11155680" cy="86868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532120"/>
            <a:ext cx="111556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23560"/>
            <a:ext cx="3200400" cy="292608"/>
          </a:xfrm>
          <a:prstGeom prst="rect">
            <a:avLst/>
          </a:prstGeom>
          <a:noFill/>
        </p:spPr>
        <p:txBody>
          <a:bodyPr wrap="square">
            <a:spAutoFit/>
          </a:bodyPr>
          <a:lstStyle/>
          <a:p>
            <a:pPr algn="l"/>
            <a:r>
              <a:rPr sz="1300" b="1" i="0">
                <a:solidFill>
                  <a:srgbClr val="FFFFFF"/>
                </a:solidFill>
                <a:latin typeface="Arial"/>
              </a:rPr>
              <a:t>Phase 4 — Operate  |  Month 2 onward</a:t>
            </a:r>
          </a:p>
        </p:txBody>
      </p:sp>
      <p:sp>
        <p:nvSpPr>
          <p:cNvPr id="22" name="TextBox 21"/>
          <p:cNvSpPr txBox="1"/>
          <p:nvPr/>
        </p:nvSpPr>
        <p:spPr>
          <a:xfrm>
            <a:off x="4389120" y="5623560"/>
            <a:ext cx="5029200" cy="685800"/>
          </a:xfrm>
          <a:prstGeom prst="rect">
            <a:avLst/>
          </a:prstGeom>
          <a:noFill/>
        </p:spPr>
        <p:txBody>
          <a:bodyPr wrap="square">
            <a:spAutoFit/>
          </a:bodyPr>
          <a:lstStyle/>
          <a:p>
            <a:pPr algn="l"/>
            <a:r>
              <a:rPr sz="1100" b="0" i="0">
                <a:solidFill>
                  <a:srgbClr val="737373"/>
                </a:solidFill>
                <a:latin typeface="Arial"/>
              </a:rPr>
              <a:t>Devolution Labs operates the workforce on an ongoing basis. Monthly performance reports. Agent updates and expansions. New functions added as the engagement matures. You own the platform outright at any time.</a:t>
            </a:r>
          </a:p>
        </p:txBody>
      </p:sp>
      <p:sp>
        <p:nvSpPr>
          <p:cNvPr id="23" name="TextBox 22"/>
          <p:cNvSpPr txBox="1"/>
          <p:nvPr/>
        </p:nvSpPr>
        <p:spPr>
          <a:xfrm>
            <a:off x="9601200" y="5623560"/>
            <a:ext cx="2286000" cy="685800"/>
          </a:xfrm>
          <a:prstGeom prst="rect">
            <a:avLst/>
          </a:prstGeom>
          <a:noFill/>
        </p:spPr>
        <p:txBody>
          <a:bodyPr wrap="square">
            <a:spAutoFit/>
          </a:bodyPr>
          <a:lstStyle/>
          <a:p>
            <a:pPr algn="l"/>
            <a:r>
              <a:rPr sz="1000" b="0" i="1">
                <a:solidFill>
                  <a:srgbClr val="10B981"/>
                </a:solidFill>
                <a:latin typeface="Arial"/>
              </a:rPr>
              <a:t>From your side: Review monthly reports and approve expansions</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WHAT WE NEED FROM YOU</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Minimal lift on your side.</a:t>
            </a:r>
          </a:p>
          <a:p>
            <a:r>
              <a:rPr sz="3800" b="1">
                <a:solidFill>
                  <a:srgbClr val="22D3EE"/>
                </a:solidFill>
                <a:latin typeface="Arial"/>
              </a:rPr>
              <a:t>Maximum output on ours.</a:t>
            </a:r>
          </a:p>
        </p:txBody>
      </p:sp>
      <p:sp>
        <p:nvSpPr>
          <p:cNvPr id="4" name="TextBox 3"/>
          <p:cNvSpPr txBox="1"/>
          <p:nvPr/>
        </p:nvSpPr>
        <p:spPr>
          <a:xfrm>
            <a:off x="731520" y="2633472"/>
            <a:ext cx="10515600" cy="594360"/>
          </a:xfrm>
          <a:prstGeom prst="rect">
            <a:avLst/>
          </a:prstGeom>
          <a:noFill/>
        </p:spPr>
        <p:txBody>
          <a:bodyPr wrap="square">
            <a:spAutoFit/>
          </a:bodyPr>
          <a:lstStyle/>
          <a:p>
            <a:pPr algn="l"/>
            <a:r>
              <a:rPr sz="1300" b="0" i="0">
                <a:solidFill>
                  <a:srgbClr val="737373"/>
                </a:solidFill>
                <a:latin typeface="Arial"/>
              </a:rPr>
              <a:t>Devolution Labs owns the full technical build and ongoing operations. The engagement is designed to be lightweight for your team. Here is everything we need to get started and stay running.</a:t>
            </a:r>
          </a:p>
        </p:txBody>
      </p:sp>
      <p:sp>
        <p:nvSpPr>
          <p:cNvPr id="5" name="Rectangle 4"/>
          <p:cNvSpPr/>
          <p:nvPr/>
        </p:nvSpPr>
        <p:spPr>
          <a:xfrm>
            <a:off x="731520" y="3364992"/>
            <a:ext cx="5303520" cy="148132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364992"/>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474720"/>
            <a:ext cx="4937760" cy="320040"/>
          </a:xfrm>
          <a:prstGeom prst="rect">
            <a:avLst/>
          </a:prstGeom>
          <a:noFill/>
        </p:spPr>
        <p:txBody>
          <a:bodyPr wrap="square">
            <a:spAutoFit/>
          </a:bodyPr>
          <a:lstStyle/>
          <a:p>
            <a:pPr algn="l"/>
            <a:r>
              <a:rPr sz="1400" b="1" i="0">
                <a:solidFill>
                  <a:srgbClr val="FFFFFF"/>
                </a:solidFill>
                <a:latin typeface="Arial"/>
              </a:rPr>
              <a:t>To Start</a:t>
            </a:r>
          </a:p>
        </p:txBody>
      </p:sp>
      <p:sp>
        <p:nvSpPr>
          <p:cNvPr id="8" name="TextBox 7"/>
          <p:cNvSpPr txBox="1"/>
          <p:nvPr/>
        </p:nvSpPr>
        <p:spPr>
          <a:xfrm>
            <a:off x="914400" y="3867912"/>
            <a:ext cx="4937760" cy="914400"/>
          </a:xfrm>
          <a:prstGeom prst="rect">
            <a:avLst/>
          </a:prstGeom>
          <a:noFill/>
        </p:spPr>
        <p:txBody>
          <a:bodyPr wrap="square">
            <a:spAutoFit/>
          </a:bodyPr>
          <a:lstStyle/>
          <a:p>
            <a:pPr algn="l"/>
            <a:r>
              <a:rPr sz="1200" b="0" i="0">
                <a:solidFill>
                  <a:srgbClr val="737373"/>
                </a:solidFill>
                <a:latin typeface="Arial"/>
              </a:rPr>
              <a:t>NDA and access agreement. 2-3 hours of leadership time for discovery interviews. Read access to your core data systems for scoping. A defined pilot scope — one department or one function to start.</a:t>
            </a:r>
          </a:p>
        </p:txBody>
      </p:sp>
      <p:sp>
        <p:nvSpPr>
          <p:cNvPr id="9" name="Rectangle 8"/>
          <p:cNvSpPr/>
          <p:nvPr/>
        </p:nvSpPr>
        <p:spPr>
          <a:xfrm>
            <a:off x="6400800" y="3364992"/>
            <a:ext cx="5303520" cy="148132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3364992"/>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3474720"/>
            <a:ext cx="4937760" cy="320040"/>
          </a:xfrm>
          <a:prstGeom prst="rect">
            <a:avLst/>
          </a:prstGeom>
          <a:noFill/>
        </p:spPr>
        <p:txBody>
          <a:bodyPr wrap="square">
            <a:spAutoFit/>
          </a:bodyPr>
          <a:lstStyle/>
          <a:p>
            <a:pPr algn="l"/>
            <a:r>
              <a:rPr sz="1400" b="1" i="0">
                <a:solidFill>
                  <a:srgbClr val="FFFFFF"/>
                </a:solidFill>
                <a:latin typeface="Arial"/>
              </a:rPr>
              <a:t>During Build</a:t>
            </a:r>
          </a:p>
        </p:txBody>
      </p:sp>
      <p:sp>
        <p:nvSpPr>
          <p:cNvPr id="12" name="TextBox 11"/>
          <p:cNvSpPr txBox="1"/>
          <p:nvPr/>
        </p:nvSpPr>
        <p:spPr>
          <a:xfrm>
            <a:off x="6583680" y="3867912"/>
            <a:ext cx="4937760" cy="914400"/>
          </a:xfrm>
          <a:prstGeom prst="rect">
            <a:avLst/>
          </a:prstGeom>
          <a:noFill/>
        </p:spPr>
        <p:txBody>
          <a:bodyPr wrap="square">
            <a:spAutoFit/>
          </a:bodyPr>
          <a:lstStyle/>
          <a:p>
            <a:pPr algn="l"/>
            <a:r>
              <a:rPr sz="1200" b="0" i="0">
                <a:solidFill>
                  <a:srgbClr val="737373"/>
                </a:solidFill>
                <a:latin typeface="Arial"/>
              </a:rPr>
              <a:t>IT access to deploy within your infrastructure. API credentials or database read access for the data sources we are integrating. A point of contact on your technical team for coordination (2-4 hours/week).</a:t>
            </a:r>
          </a:p>
        </p:txBody>
      </p:sp>
      <p:sp>
        <p:nvSpPr>
          <p:cNvPr id="13" name="Rectangle 12"/>
          <p:cNvSpPr/>
          <p:nvPr/>
        </p:nvSpPr>
        <p:spPr>
          <a:xfrm>
            <a:off x="731520" y="5029200"/>
            <a:ext cx="5303520" cy="148132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029200"/>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38928"/>
            <a:ext cx="4937760" cy="320040"/>
          </a:xfrm>
          <a:prstGeom prst="rect">
            <a:avLst/>
          </a:prstGeom>
          <a:noFill/>
        </p:spPr>
        <p:txBody>
          <a:bodyPr wrap="square">
            <a:spAutoFit/>
          </a:bodyPr>
          <a:lstStyle/>
          <a:p>
            <a:pPr algn="l"/>
            <a:r>
              <a:rPr sz="1400" b="1" i="0">
                <a:solidFill>
                  <a:srgbClr val="FFFFFF"/>
                </a:solidFill>
                <a:latin typeface="Arial"/>
              </a:rPr>
              <a:t>To Stay Running</a:t>
            </a:r>
          </a:p>
        </p:txBody>
      </p:sp>
      <p:sp>
        <p:nvSpPr>
          <p:cNvPr id="16" name="TextBox 15"/>
          <p:cNvSpPr txBox="1"/>
          <p:nvPr/>
        </p:nvSpPr>
        <p:spPr>
          <a:xfrm>
            <a:off x="914400" y="5532120"/>
            <a:ext cx="4937760" cy="914400"/>
          </a:xfrm>
          <a:prstGeom prst="rect">
            <a:avLst/>
          </a:prstGeom>
          <a:noFill/>
        </p:spPr>
        <p:txBody>
          <a:bodyPr wrap="square">
            <a:spAutoFit/>
          </a:bodyPr>
          <a:lstStyle/>
          <a:p>
            <a:pPr algn="l"/>
            <a:r>
              <a:rPr sz="1200" b="0" i="0">
                <a:solidFill>
                  <a:srgbClr val="737373"/>
                </a:solidFill>
                <a:latin typeface="Arial"/>
              </a:rPr>
              <a:t>Monthly review meeting with leadership (1 hour). Approval of agent actions that require human sign-off. Feedback on agent outputs so we can tune performance. Nothing else is required from your side.</a:t>
            </a:r>
          </a:p>
        </p:txBody>
      </p:sp>
      <p:sp>
        <p:nvSpPr>
          <p:cNvPr id="17" name="Rectangle 16"/>
          <p:cNvSpPr/>
          <p:nvPr/>
        </p:nvSpPr>
        <p:spPr>
          <a:xfrm>
            <a:off x="6400800" y="5029200"/>
            <a:ext cx="5303520" cy="148132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5029200"/>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5138928"/>
            <a:ext cx="4937760" cy="320040"/>
          </a:xfrm>
          <a:prstGeom prst="rect">
            <a:avLst/>
          </a:prstGeom>
          <a:noFill/>
        </p:spPr>
        <p:txBody>
          <a:bodyPr wrap="square">
            <a:spAutoFit/>
          </a:bodyPr>
          <a:lstStyle/>
          <a:p>
            <a:pPr algn="l"/>
            <a:r>
              <a:rPr sz="1400" b="1" i="0">
                <a:solidFill>
                  <a:srgbClr val="FFFFFF"/>
                </a:solidFill>
                <a:latin typeface="Arial"/>
              </a:rPr>
              <a:t>To Scale</a:t>
            </a:r>
          </a:p>
        </p:txBody>
      </p:sp>
      <p:sp>
        <p:nvSpPr>
          <p:cNvPr id="20" name="TextBox 19"/>
          <p:cNvSpPr txBox="1"/>
          <p:nvPr/>
        </p:nvSpPr>
        <p:spPr>
          <a:xfrm>
            <a:off x="6583680" y="5532120"/>
            <a:ext cx="4937760" cy="914400"/>
          </a:xfrm>
          <a:prstGeom prst="rect">
            <a:avLst/>
          </a:prstGeom>
          <a:noFill/>
        </p:spPr>
        <p:txBody>
          <a:bodyPr wrap="square">
            <a:spAutoFit/>
          </a:bodyPr>
          <a:lstStyle/>
          <a:p>
            <a:pPr algn="l"/>
            <a:r>
              <a:rPr sz="1200" b="0" i="0">
                <a:solidFill>
                  <a:srgbClr val="737373"/>
                </a:solidFill>
                <a:latin typeface="Arial"/>
              </a:rPr>
              <a:t>A decision to expand the scope. We handle the rest. New agents, new departments, new functions — all configured, deployed, and managed by Devolution Labs without additional burden on your team.</a:t>
            </a:r>
          </a:p>
        </p:txBody>
      </p:sp>
      <p:sp>
        <p:nvSpPr>
          <p:cNvPr id="21" name="TextBox 2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INVESTMENT AND COMMERCIAL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Scoped to your organization.</a:t>
            </a:r>
          </a:p>
          <a:p>
            <a:r>
              <a:rPr sz="3800" b="1">
                <a:solidFill>
                  <a:srgbClr val="22D3EE"/>
                </a:solidFill>
                <a:latin typeface="Arial"/>
              </a:rPr>
              <a:t>Owned outright at any time.</a:t>
            </a:r>
          </a:p>
        </p:txBody>
      </p:sp>
      <p:sp>
        <p:nvSpPr>
          <p:cNvPr id="4" name="TextBox 3"/>
          <p:cNvSpPr txBox="1"/>
          <p:nvPr/>
        </p:nvSpPr>
        <p:spPr>
          <a:xfrm>
            <a:off x="731520" y="2633472"/>
            <a:ext cx="10515600" cy="685800"/>
          </a:xfrm>
          <a:prstGeom prst="rect">
            <a:avLst/>
          </a:prstGeom>
          <a:noFill/>
        </p:spPr>
        <p:txBody>
          <a:bodyPr wrap="square">
            <a:spAutoFit/>
          </a:bodyPr>
          <a:lstStyle/>
          <a:p>
            <a:pPr algn="l"/>
            <a:r>
              <a:rPr sz="1300" b="0" i="0">
                <a:solidFill>
                  <a:srgbClr val="737373"/>
                </a:solidFill>
                <a:latin typeface="Arial"/>
              </a:rPr>
              <a:t>Every Devolution Labs engagement is scoped precisely to the organization. There are no fixed packages. Your investment is determined by the depth and scale of the AI workforce we deploy on your behalf.</a:t>
            </a:r>
          </a:p>
        </p:txBody>
      </p:sp>
      <p:sp>
        <p:nvSpPr>
          <p:cNvPr id="5" name="Rectangle 4"/>
          <p:cNvSpPr/>
          <p:nvPr/>
        </p:nvSpPr>
        <p:spPr>
          <a:xfrm>
            <a:off x="731520" y="3456432"/>
            <a:ext cx="5303520" cy="138988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456432"/>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566160"/>
            <a:ext cx="4937760" cy="320040"/>
          </a:xfrm>
          <a:prstGeom prst="rect">
            <a:avLst/>
          </a:prstGeom>
          <a:noFill/>
        </p:spPr>
        <p:txBody>
          <a:bodyPr wrap="square">
            <a:spAutoFit/>
          </a:bodyPr>
          <a:lstStyle/>
          <a:p>
            <a:pPr algn="l"/>
            <a:r>
              <a:rPr sz="1400" b="1" i="0">
                <a:solidFill>
                  <a:srgbClr val="FFFFFF"/>
                </a:solidFill>
                <a:latin typeface="Arial"/>
              </a:rPr>
              <a:t>Pilot Engagement</a:t>
            </a:r>
          </a:p>
        </p:txBody>
      </p:sp>
      <p:sp>
        <p:nvSpPr>
          <p:cNvPr id="8" name="TextBox 7"/>
          <p:cNvSpPr txBox="1"/>
          <p:nvPr/>
        </p:nvSpPr>
        <p:spPr>
          <a:xfrm>
            <a:off x="914400" y="3959352"/>
            <a:ext cx="4937760" cy="804672"/>
          </a:xfrm>
          <a:prstGeom prst="rect">
            <a:avLst/>
          </a:prstGeom>
          <a:noFill/>
        </p:spPr>
        <p:txBody>
          <a:bodyPr wrap="square">
            <a:spAutoFit/>
          </a:bodyPr>
          <a:lstStyle/>
          <a:p>
            <a:pPr algn="l"/>
            <a:r>
              <a:rPr sz="1200" b="0" i="0">
                <a:solidFill>
                  <a:srgbClr val="737373"/>
                </a:solidFill>
                <a:latin typeface="Arial"/>
              </a:rPr>
              <a:t>Single department or function. Typically 3-6 agents. Deployment in 30 days. Full operational dashboard. Monthly managed service fee for up to 6 months with no long-term commitment required to start.</a:t>
            </a:r>
          </a:p>
        </p:txBody>
      </p:sp>
      <p:sp>
        <p:nvSpPr>
          <p:cNvPr id="9" name="Rectangle 8"/>
          <p:cNvSpPr/>
          <p:nvPr/>
        </p:nvSpPr>
        <p:spPr>
          <a:xfrm>
            <a:off x="6400800" y="3456432"/>
            <a:ext cx="5303520" cy="138988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3456432"/>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3566160"/>
            <a:ext cx="4937760" cy="320040"/>
          </a:xfrm>
          <a:prstGeom prst="rect">
            <a:avLst/>
          </a:prstGeom>
          <a:noFill/>
        </p:spPr>
        <p:txBody>
          <a:bodyPr wrap="square">
            <a:spAutoFit/>
          </a:bodyPr>
          <a:lstStyle/>
          <a:p>
            <a:pPr algn="l"/>
            <a:r>
              <a:rPr sz="1400" b="1" i="0">
                <a:solidFill>
                  <a:srgbClr val="FFFFFF"/>
                </a:solidFill>
                <a:latin typeface="Arial"/>
              </a:rPr>
              <a:t>Scale Engagement</a:t>
            </a:r>
          </a:p>
        </p:txBody>
      </p:sp>
      <p:sp>
        <p:nvSpPr>
          <p:cNvPr id="12" name="TextBox 11"/>
          <p:cNvSpPr txBox="1"/>
          <p:nvPr/>
        </p:nvSpPr>
        <p:spPr>
          <a:xfrm>
            <a:off x="6583680" y="3959352"/>
            <a:ext cx="4937760" cy="804672"/>
          </a:xfrm>
          <a:prstGeom prst="rect">
            <a:avLst/>
          </a:prstGeom>
          <a:noFill/>
        </p:spPr>
        <p:txBody>
          <a:bodyPr wrap="square">
            <a:spAutoFit/>
          </a:bodyPr>
          <a:lstStyle/>
          <a:p>
            <a:pPr algn="l"/>
            <a:r>
              <a:rPr sz="1200" b="0" i="0">
                <a:solidFill>
                  <a:srgbClr val="737373"/>
                </a:solidFill>
                <a:latin typeface="Arial"/>
              </a:rPr>
              <a:t>Multiple departments. 10-50 agents. Full org hierarchy deployed. Regional or company-wide scope. Structured as a 6-12 month managed service agreement with defined performance milestones.</a:t>
            </a:r>
          </a:p>
        </p:txBody>
      </p:sp>
      <p:sp>
        <p:nvSpPr>
          <p:cNvPr id="13" name="Rectangle 12"/>
          <p:cNvSpPr/>
          <p:nvPr/>
        </p:nvSpPr>
        <p:spPr>
          <a:xfrm>
            <a:off x="731520" y="5029200"/>
            <a:ext cx="5303520" cy="138988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029200"/>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38928"/>
            <a:ext cx="4937760" cy="320040"/>
          </a:xfrm>
          <a:prstGeom prst="rect">
            <a:avLst/>
          </a:prstGeom>
          <a:noFill/>
        </p:spPr>
        <p:txBody>
          <a:bodyPr wrap="square">
            <a:spAutoFit/>
          </a:bodyPr>
          <a:lstStyle/>
          <a:p>
            <a:pPr algn="l"/>
            <a:r>
              <a:rPr sz="1400" b="1" i="0">
                <a:solidFill>
                  <a:srgbClr val="FFFFFF"/>
                </a:solidFill>
                <a:latin typeface="Arial"/>
              </a:rPr>
              <a:t>Enterprise Deployment</a:t>
            </a:r>
          </a:p>
        </p:txBody>
      </p:sp>
      <p:sp>
        <p:nvSpPr>
          <p:cNvPr id="16" name="TextBox 15"/>
          <p:cNvSpPr txBox="1"/>
          <p:nvPr/>
        </p:nvSpPr>
        <p:spPr>
          <a:xfrm>
            <a:off x="914400" y="5532120"/>
            <a:ext cx="4937760" cy="804672"/>
          </a:xfrm>
          <a:prstGeom prst="rect">
            <a:avLst/>
          </a:prstGeom>
          <a:noFill/>
        </p:spPr>
        <p:txBody>
          <a:bodyPr wrap="square">
            <a:spAutoFit/>
          </a:bodyPr>
          <a:lstStyle/>
          <a:p>
            <a:pPr algn="l"/>
            <a:r>
              <a:rPr sz="1200" b="0" i="0">
                <a:solidFill>
                  <a:srgbClr val="737373"/>
                </a:solidFill>
                <a:latin typeface="Arial"/>
              </a:rPr>
              <a:t>Full AI workforce across all divisions. 50+ agents. Multi-site or multi-country deployment. Annual managed service agreements. Dedicated Devolution Labs operations team assigned to the account.</a:t>
            </a:r>
          </a:p>
        </p:txBody>
      </p:sp>
      <p:sp>
        <p:nvSpPr>
          <p:cNvPr id="17" name="Rectangle 16"/>
          <p:cNvSpPr/>
          <p:nvPr/>
        </p:nvSpPr>
        <p:spPr>
          <a:xfrm>
            <a:off x="6400800" y="5029200"/>
            <a:ext cx="5303520" cy="1389888"/>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5029200"/>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5138928"/>
            <a:ext cx="4937760" cy="320040"/>
          </a:xfrm>
          <a:prstGeom prst="rect">
            <a:avLst/>
          </a:prstGeom>
          <a:noFill/>
        </p:spPr>
        <p:txBody>
          <a:bodyPr wrap="square">
            <a:spAutoFit/>
          </a:bodyPr>
          <a:lstStyle/>
          <a:p>
            <a:pPr algn="l"/>
            <a:r>
              <a:rPr sz="1400" b="1" i="0">
                <a:solidFill>
                  <a:srgbClr val="FFFFFF"/>
                </a:solidFill>
                <a:latin typeface="Arial"/>
              </a:rPr>
              <a:t>Platform Ownership</a:t>
            </a:r>
          </a:p>
        </p:txBody>
      </p:sp>
      <p:sp>
        <p:nvSpPr>
          <p:cNvPr id="20" name="TextBox 19"/>
          <p:cNvSpPr txBox="1"/>
          <p:nvPr/>
        </p:nvSpPr>
        <p:spPr>
          <a:xfrm>
            <a:off x="6583680" y="5532120"/>
            <a:ext cx="4937760" cy="804672"/>
          </a:xfrm>
          <a:prstGeom prst="rect">
            <a:avLst/>
          </a:prstGeom>
          <a:noFill/>
        </p:spPr>
        <p:txBody>
          <a:bodyPr wrap="square">
            <a:spAutoFit/>
          </a:bodyPr>
          <a:lstStyle/>
          <a:p>
            <a:pPr algn="l"/>
            <a:r>
              <a:rPr sz="1200" b="0" i="0">
                <a:solidFill>
                  <a:srgbClr val="737373"/>
                </a:solidFill>
                <a:latin typeface="Arial"/>
              </a:rPr>
              <a:t>At any point during the engagement, the client can purchase the platform outright. Full ownership of all agent configurations, integrations, data, and infrastructure. Ongoing support included.</a:t>
            </a:r>
          </a:p>
        </p:txBody>
      </p:sp>
      <p:sp>
        <p:nvSpPr>
          <p:cNvPr id="21" name="TextBox 20"/>
          <p:cNvSpPr txBox="1"/>
          <p:nvPr/>
        </p:nvSpPr>
        <p:spPr>
          <a:xfrm>
            <a:off x="731520" y="6473952"/>
            <a:ext cx="10515600" cy="292608"/>
          </a:xfrm>
          <a:prstGeom prst="rect">
            <a:avLst/>
          </a:prstGeom>
          <a:noFill/>
        </p:spPr>
        <p:txBody>
          <a:bodyPr wrap="square">
            <a:spAutoFit/>
          </a:bodyPr>
          <a:lstStyle/>
          <a:p>
            <a:pPr algn="l"/>
            <a:r>
              <a:rPr sz="1100" b="0" i="1">
                <a:solidFill>
                  <a:srgbClr val="373737"/>
                </a:solidFill>
                <a:latin typeface="Arial"/>
              </a:rPr>
              <a:t>Engagements typically begin with a scoped discovery and proposal. Most deployments are structured as annual managed service agreements.</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0584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31720"/>
            <a:ext cx="10515600" cy="914400"/>
          </a:xfrm>
          <a:prstGeom prst="rect">
            <a:avLst/>
          </a:prstGeom>
          <a:noFill/>
        </p:spPr>
        <p:txBody>
          <a:bodyPr wrap="square">
            <a:spAutoFit/>
          </a:bodyPr>
          <a:lstStyle/>
          <a:p>
            <a:pPr algn="l"/>
            <a:r>
              <a:rPr sz="1600" b="0" i="0">
                <a:solidFill>
                  <a:srgbClr val="737373"/>
                </a:solidFill>
                <a:latin typeface="Arial"/>
              </a:rPr>
              <a:t>Organizational design. Enterprise infrastructure. Live data integration.
Managed operations. Delivered as a workforce, not a tool.</a:t>
            </a:r>
          </a:p>
        </p:txBody>
      </p:sp>
      <p:sp>
        <p:nvSpPr>
          <p:cNvPr id="5" name="TextBox 4"/>
          <p:cNvSpPr txBox="1"/>
          <p:nvPr/>
        </p:nvSpPr>
        <p:spPr>
          <a:xfrm>
            <a:off x="731520" y="3429000"/>
            <a:ext cx="3657600" cy="365760"/>
          </a:xfrm>
          <a:prstGeom prst="rect">
            <a:avLst/>
          </a:prstGeom>
          <a:noFill/>
        </p:spPr>
        <p:txBody>
          <a:bodyPr wrap="square">
            <a:spAutoFit/>
          </a:bodyPr>
          <a:lstStyle/>
          <a:p>
            <a:pPr algn="l"/>
            <a:r>
              <a:rPr sz="1300" b="1" i="0">
                <a:solidFill>
                  <a:srgbClr val="FFFFFF"/>
                </a:solidFill>
                <a:latin typeface="Arial"/>
              </a:rPr>
              <a:t>What it takes to start:</a:t>
            </a:r>
          </a:p>
        </p:txBody>
      </p:sp>
      <p:sp>
        <p:nvSpPr>
          <p:cNvPr id="6" name="TextBox 5"/>
          <p:cNvSpPr txBox="1"/>
          <p:nvPr/>
        </p:nvSpPr>
        <p:spPr>
          <a:xfrm>
            <a:off x="731520" y="3840480"/>
            <a:ext cx="4572000" cy="347472"/>
          </a:xfrm>
          <a:prstGeom prst="rect">
            <a:avLst/>
          </a:prstGeom>
          <a:noFill/>
        </p:spPr>
        <p:txBody>
          <a:bodyPr wrap="square">
            <a:spAutoFit/>
          </a:bodyPr>
          <a:lstStyle/>
          <a:p>
            <a:pPr algn="l"/>
            <a:r>
              <a:rPr sz="1300" b="0" i="0">
                <a:solidFill>
                  <a:srgbClr val="737373"/>
                </a:solidFill>
                <a:latin typeface="Arial"/>
              </a:rPr>
              <a:t>   An NDA</a:t>
            </a:r>
          </a:p>
        </p:txBody>
      </p:sp>
      <p:sp>
        <p:nvSpPr>
          <p:cNvPr id="7" name="TextBox 6"/>
          <p:cNvSpPr txBox="1"/>
          <p:nvPr/>
        </p:nvSpPr>
        <p:spPr>
          <a:xfrm>
            <a:off x="731520" y="4224528"/>
            <a:ext cx="4572000" cy="347472"/>
          </a:xfrm>
          <a:prstGeom prst="rect">
            <a:avLst/>
          </a:prstGeom>
          <a:noFill/>
        </p:spPr>
        <p:txBody>
          <a:bodyPr wrap="square">
            <a:spAutoFit/>
          </a:bodyPr>
          <a:lstStyle/>
          <a:p>
            <a:pPr algn="l"/>
            <a:r>
              <a:rPr sz="1300" b="0" i="0">
                <a:solidFill>
                  <a:srgbClr val="737373"/>
                </a:solidFill>
                <a:latin typeface="Arial"/>
              </a:rPr>
              <a:t>   2-3 hours of leadership time</a:t>
            </a:r>
          </a:p>
        </p:txBody>
      </p:sp>
      <p:sp>
        <p:nvSpPr>
          <p:cNvPr id="8" name="TextBox 7"/>
          <p:cNvSpPr txBox="1"/>
          <p:nvPr/>
        </p:nvSpPr>
        <p:spPr>
          <a:xfrm>
            <a:off x="731520" y="4608576"/>
            <a:ext cx="4572000" cy="347472"/>
          </a:xfrm>
          <a:prstGeom prst="rect">
            <a:avLst/>
          </a:prstGeom>
          <a:noFill/>
        </p:spPr>
        <p:txBody>
          <a:bodyPr wrap="square">
            <a:spAutoFit/>
          </a:bodyPr>
          <a:lstStyle/>
          <a:p>
            <a:pPr algn="l"/>
            <a:r>
              <a:rPr sz="1300" b="0" i="0">
                <a:solidFill>
                  <a:srgbClr val="737373"/>
                </a:solidFill>
                <a:latin typeface="Arial"/>
              </a:rPr>
              <a:t>   Read access to your core systems</a:t>
            </a:r>
          </a:p>
        </p:txBody>
      </p:sp>
      <p:sp>
        <p:nvSpPr>
          <p:cNvPr id="9" name="TextBox 8"/>
          <p:cNvSpPr txBox="1"/>
          <p:nvPr/>
        </p:nvSpPr>
        <p:spPr>
          <a:xfrm>
            <a:off x="731520" y="4992624"/>
            <a:ext cx="4572000" cy="347472"/>
          </a:xfrm>
          <a:prstGeom prst="rect">
            <a:avLst/>
          </a:prstGeom>
          <a:noFill/>
        </p:spPr>
        <p:txBody>
          <a:bodyPr wrap="square">
            <a:spAutoFit/>
          </a:bodyPr>
          <a:lstStyle/>
          <a:p>
            <a:pPr algn="l"/>
            <a:r>
              <a:rPr sz="1300" b="0" i="0">
                <a:solidFill>
                  <a:srgbClr val="737373"/>
                </a:solidFill>
                <a:latin typeface="Arial"/>
              </a:rPr>
              <a:t>   A defined pilot scope</a:t>
            </a:r>
          </a:p>
        </p:txBody>
      </p:sp>
      <p:sp>
        <p:nvSpPr>
          <p:cNvPr id="10" name="TextBox 9"/>
          <p:cNvSpPr txBox="1"/>
          <p:nvPr/>
        </p:nvSpPr>
        <p:spPr>
          <a:xfrm>
            <a:off x="731520" y="557784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11" name="TextBox 10"/>
          <p:cNvSpPr txBox="1"/>
          <p:nvPr/>
        </p:nvSpPr>
        <p:spPr>
          <a:xfrm>
            <a:off x="731520" y="6035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12" name="TextBox 1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