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56" r:id="rId7"/>
    <p:sldId id="267" r:id="rId18"/>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51560"/>
            <a:ext cx="10058400" cy="1280160"/>
          </a:xfrm>
          <a:prstGeom prst="rect">
            <a:avLst/>
          </a:prstGeom>
          <a:noFill/>
        </p:spPr>
        <p:txBody>
          <a:bodyPr wrap="square">
            <a:spAutoFit/>
          </a:bodyPr>
          <a:lstStyle/>
          <a:p>
            <a:r>
              <a:rPr sz="5200" b="1">
                <a:solidFill>
                  <a:srgbClr val="FFFFFF"/>
                </a:solidFill>
                <a:latin typeface="Arial"/>
              </a:rPr>
              <a:t>Devolution Labs.</a:t>
            </a:r>
          </a:p>
          <a:p>
            <a:r>
              <a:rPr sz="1800">
                <a:solidFill>
                  <a:srgbClr val="373737"/>
                </a:solidFill>
                <a:latin typeface="Arial"/>
              </a:rPr>
              <a:t>What it means. What we do. Who builds it.</a:t>
            </a:r>
          </a:p>
        </p:txBody>
      </p:sp>
      <p:sp>
        <p:nvSpPr>
          <p:cNvPr id="4" name="Rectangle 3"/>
          <p:cNvSpPr/>
          <p:nvPr/>
        </p:nvSpPr>
        <p:spPr>
          <a:xfrm>
            <a:off x="731520" y="248716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7132320" cy="1417320"/>
          </a:xfrm>
          <a:prstGeom prst="rect">
            <a:avLst/>
          </a:prstGeom>
          <a:solidFill>
            <a:srgbClr val="08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24912"/>
            <a:ext cx="2743200" cy="274320"/>
          </a:xfrm>
          <a:prstGeom prst="rect">
            <a:avLst/>
          </a:prstGeom>
          <a:noFill/>
        </p:spPr>
        <p:txBody>
          <a:bodyPr wrap="square">
            <a:spAutoFit/>
          </a:bodyPr>
          <a:lstStyle/>
          <a:p>
            <a:pPr algn="l"/>
            <a:r>
              <a:rPr sz="900" b="1" i="0">
                <a:solidFill>
                  <a:srgbClr val="22D3EE"/>
                </a:solidFill>
                <a:latin typeface="Arial"/>
              </a:rPr>
              <a:t>THE DEFINITION</a:t>
            </a:r>
          </a:p>
        </p:txBody>
      </p:sp>
      <p:sp>
        <p:nvSpPr>
          <p:cNvPr id="7" name="TextBox 6"/>
          <p:cNvSpPr txBox="1"/>
          <p:nvPr/>
        </p:nvSpPr>
        <p:spPr>
          <a:xfrm>
            <a:off x="914400" y="3017520"/>
            <a:ext cx="6583680" cy="274320"/>
          </a:xfrm>
          <a:prstGeom prst="rect">
            <a:avLst/>
          </a:prstGeom>
          <a:noFill/>
        </p:spPr>
        <p:txBody>
          <a:bodyPr wrap="square">
            <a:spAutoFit/>
          </a:bodyPr>
          <a:lstStyle/>
          <a:p>
            <a:pPr algn="l"/>
            <a:r>
              <a:rPr sz="1300" b="1" i="0">
                <a:solidFill>
                  <a:srgbClr val="FFFFFF"/>
                </a:solidFill>
                <a:latin typeface="Arial"/>
              </a:rPr>
              <a:t>de·vo·lu·tion  /devəˈlooSH(e)n/</a:t>
            </a:r>
          </a:p>
        </p:txBody>
      </p:sp>
      <p:sp>
        <p:nvSpPr>
          <p:cNvPr id="8" name="TextBox 7"/>
          <p:cNvSpPr txBox="1"/>
          <p:nvPr/>
        </p:nvSpPr>
        <p:spPr>
          <a:xfrm>
            <a:off x="914400" y="3337560"/>
            <a:ext cx="6400800" cy="594360"/>
          </a:xfrm>
          <a:prstGeom prst="rect">
            <a:avLst/>
          </a:prstGeom>
          <a:noFill/>
        </p:spPr>
        <p:txBody>
          <a:bodyPr wrap="square">
            <a:spAutoFit/>
          </a:bodyPr>
          <a:lstStyle/>
          <a:p>
            <a:pPr algn="l"/>
            <a:r>
              <a:rPr sz="1200" b="0" i="1">
                <a:solidFill>
                  <a:srgbClr val="6E6E6E"/>
                </a:solidFill>
                <a:latin typeface="Arial"/>
              </a:rPr>
              <a:t>The transfer of authority, power, and responsibility from a central body downward to smaller or lower-level units. The systematic delegation of control.</a:t>
            </a:r>
          </a:p>
        </p:txBody>
      </p:sp>
      <p:sp>
        <p:nvSpPr>
          <p:cNvPr id="9" name="Rectangle 8"/>
          <p:cNvSpPr/>
          <p:nvPr/>
        </p:nvSpPr>
        <p:spPr>
          <a:xfrm>
            <a:off x="8046720" y="2633472"/>
            <a:ext cx="3931920" cy="1417320"/>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724912"/>
            <a:ext cx="3474720" cy="274320"/>
          </a:xfrm>
          <a:prstGeom prst="rect">
            <a:avLst/>
          </a:prstGeom>
          <a:noFill/>
        </p:spPr>
        <p:txBody>
          <a:bodyPr wrap="square">
            <a:spAutoFit/>
          </a:bodyPr>
          <a:lstStyle/>
          <a:p>
            <a:pPr algn="l"/>
            <a:r>
              <a:rPr sz="900" b="1" i="0">
                <a:solidFill>
                  <a:srgbClr val="8B5CF6"/>
                </a:solidFill>
                <a:latin typeface="Arial"/>
              </a:rPr>
              <a:t>HOW WE APPLY IT</a:t>
            </a:r>
          </a:p>
        </p:txBody>
      </p:sp>
      <p:sp>
        <p:nvSpPr>
          <p:cNvPr id="11" name="TextBox 10"/>
          <p:cNvSpPr txBox="1"/>
          <p:nvPr/>
        </p:nvSpPr>
        <p:spPr>
          <a:xfrm>
            <a:off x="8229600" y="3017520"/>
            <a:ext cx="3474720" cy="914400"/>
          </a:xfrm>
          <a:prstGeom prst="rect">
            <a:avLst/>
          </a:prstGeom>
          <a:noFill/>
        </p:spPr>
        <p:txBody>
          <a:bodyPr wrap="square">
            <a:spAutoFit/>
          </a:bodyPr>
          <a:lstStyle/>
          <a:p>
            <a:pPr algn="l"/>
            <a:r>
              <a:rPr sz="1200" b="0" i="0">
                <a:solidFill>
                  <a:srgbClr val="C4B5FD"/>
                </a:solidFill>
                <a:latin typeface="Arial"/>
              </a:rPr>
              <a:t>We transfer operational control and business intelligence downward from human teams to AI agents. Authority delegated. Outcomes owned. Costs reduced.</a:t>
            </a:r>
          </a:p>
        </p:txBody>
      </p:sp>
      <p:sp>
        <p:nvSpPr>
          <p:cNvPr id="12" name="Rectangle 11"/>
          <p:cNvSpPr/>
          <p:nvPr/>
        </p:nvSpPr>
        <p:spPr>
          <a:xfrm>
            <a:off x="73152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224528"/>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15968"/>
            <a:ext cx="3383280" cy="320040"/>
          </a:xfrm>
          <a:prstGeom prst="rect">
            <a:avLst/>
          </a:prstGeom>
          <a:noFill/>
        </p:spPr>
        <p:txBody>
          <a:bodyPr wrap="square">
            <a:spAutoFit/>
          </a:bodyPr>
          <a:lstStyle/>
          <a:p>
            <a:pPr algn="l"/>
            <a:r>
              <a:rPr sz="1400" b="1" i="0">
                <a:solidFill>
                  <a:srgbClr val="FFFFFF"/>
                </a:solidFill>
                <a:latin typeface="Arial"/>
              </a:rPr>
              <a:t>Who We Are</a:t>
            </a:r>
          </a:p>
        </p:txBody>
      </p:sp>
      <p:sp>
        <p:nvSpPr>
          <p:cNvPr id="15" name="TextBox 14"/>
          <p:cNvSpPr txBox="1"/>
          <p:nvPr/>
        </p:nvSpPr>
        <p:spPr>
          <a:xfrm>
            <a:off x="868680" y="4727448"/>
            <a:ext cx="3383280" cy="1097280"/>
          </a:xfrm>
          <a:prstGeom prst="rect">
            <a:avLst/>
          </a:prstGeom>
          <a:noFill/>
        </p:spPr>
        <p:txBody>
          <a:bodyPr wrap="square">
            <a:spAutoFit/>
          </a:bodyPr>
          <a:lstStyle/>
          <a:p>
            <a:pPr algn="l"/>
            <a:r>
              <a:rPr sz="1100" b="0" i="0">
                <a:solidFill>
                  <a:srgbClr val="6E6E6E"/>
                </a:solidFill>
                <a:latin typeface="Arial"/>
              </a:rPr>
              <a:t>Senior engineers, AI architects, and enterprise operators. We do not build products. We build and operate AI workforces — custom-designed, deployed inside your infrastructure, and managed as a service.</a:t>
            </a:r>
          </a:p>
        </p:txBody>
      </p:sp>
      <p:sp>
        <p:nvSpPr>
          <p:cNvPr id="16" name="Rectangle 15"/>
          <p:cNvSpPr/>
          <p:nvPr/>
        </p:nvSpPr>
        <p:spPr>
          <a:xfrm>
            <a:off x="452628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4224528"/>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4315968"/>
            <a:ext cx="3383280" cy="320040"/>
          </a:xfrm>
          <a:prstGeom prst="rect">
            <a:avLst/>
          </a:prstGeom>
          <a:noFill/>
        </p:spPr>
        <p:txBody>
          <a:bodyPr wrap="square">
            <a:spAutoFit/>
          </a:bodyPr>
          <a:lstStyle/>
          <a:p>
            <a:pPr algn="l"/>
            <a:r>
              <a:rPr sz="1400" b="1" i="0">
                <a:solidFill>
                  <a:srgbClr val="FFFFFF"/>
                </a:solidFill>
                <a:latin typeface="Arial"/>
              </a:rPr>
              <a:t>What We Do</a:t>
            </a:r>
          </a:p>
        </p:txBody>
      </p:sp>
      <p:sp>
        <p:nvSpPr>
          <p:cNvPr id="19" name="TextBox 18"/>
          <p:cNvSpPr txBox="1"/>
          <p:nvPr/>
        </p:nvSpPr>
        <p:spPr>
          <a:xfrm>
            <a:off x="4663440" y="4727448"/>
            <a:ext cx="3383280" cy="1097280"/>
          </a:xfrm>
          <a:prstGeom prst="rect">
            <a:avLst/>
          </a:prstGeom>
          <a:noFill/>
        </p:spPr>
        <p:txBody>
          <a:bodyPr wrap="square">
            <a:spAutoFit/>
          </a:bodyPr>
          <a:lstStyle/>
          <a:p>
            <a:pPr algn="l"/>
            <a:r>
              <a:rPr sz="1100" b="0" i="0">
                <a:solidFill>
                  <a:srgbClr val="6E6E6E"/>
                </a:solidFill>
                <a:latin typeface="Arial"/>
              </a:rPr>
              <a:t>We design the org chart. We build the agents. We connect them to your data. We deploy the hierarchy. We operate it on your behalf. You manage outcomes. We manage the workforce.</a:t>
            </a:r>
          </a:p>
        </p:txBody>
      </p:sp>
      <p:sp>
        <p:nvSpPr>
          <p:cNvPr id="20" name="Rectangle 19"/>
          <p:cNvSpPr/>
          <p:nvPr/>
        </p:nvSpPr>
        <p:spPr>
          <a:xfrm>
            <a:off x="832104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4224528"/>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4315968"/>
            <a:ext cx="3383280" cy="320040"/>
          </a:xfrm>
          <a:prstGeom prst="rect">
            <a:avLst/>
          </a:prstGeom>
          <a:noFill/>
        </p:spPr>
        <p:txBody>
          <a:bodyPr wrap="square">
            <a:spAutoFit/>
          </a:bodyPr>
          <a:lstStyle/>
          <a:p>
            <a:pPr algn="l"/>
            <a:r>
              <a:rPr sz="1400" b="1" i="0">
                <a:solidFill>
                  <a:srgbClr val="FFFFFF"/>
                </a:solidFill>
                <a:latin typeface="Arial"/>
              </a:rPr>
              <a:t>Who We Serve</a:t>
            </a:r>
          </a:p>
        </p:txBody>
      </p:sp>
      <p:sp>
        <p:nvSpPr>
          <p:cNvPr id="23" name="TextBox 22"/>
          <p:cNvSpPr txBox="1"/>
          <p:nvPr/>
        </p:nvSpPr>
        <p:spPr>
          <a:xfrm>
            <a:off x="8458200" y="4727448"/>
            <a:ext cx="3383280" cy="1097280"/>
          </a:xfrm>
          <a:prstGeom prst="rect">
            <a:avLst/>
          </a:prstGeom>
          <a:noFill/>
        </p:spPr>
        <p:txBody>
          <a:bodyPr wrap="square">
            <a:spAutoFit/>
          </a:bodyPr>
          <a:lstStyle/>
          <a:p>
            <a:pPr algn="l"/>
            <a:r>
              <a:rPr sz="1100" b="0" i="0">
                <a:solidFill>
                  <a:srgbClr val="6E6E6E"/>
                </a:solidFill>
                <a:latin typeface="Arial"/>
              </a:rPr>
              <a:t>Fortune 500 companies and enterprise organizations with structured, high-volume back-office work. Any industry. Any function. Any organization where human coordination is a bottleneck.</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188720"/>
            <a:ext cx="10058400" cy="2743200"/>
          </a:xfrm>
          <a:prstGeom prst="rect">
            <a:avLst/>
          </a:prstGeom>
          <a:noFill/>
        </p:spPr>
        <p:txBody>
          <a:bodyPr wrap="square">
            <a:spAutoFit/>
          </a:bodyPr>
          <a:lstStyle/>
          <a:p>
            <a:r>
              <a:rPr sz="5600" b="1">
                <a:solidFill>
                  <a:srgbClr val="FFFFFF"/>
                </a:solidFill>
                <a:latin typeface="Arial"/>
              </a:rPr>
              <a:t>AI Workforces for Enterprise.</a:t>
            </a:r>
          </a:p>
          <a:p>
            <a:r>
              <a:rPr sz="2000">
                <a:solidFill>
                  <a:srgbClr val="373737"/>
                </a:solidFill>
                <a:latin typeface="Arial"/>
              </a:rPr>
              <a:t>Company Overview and Capabilities — 2026</a:t>
            </a:r>
          </a:p>
        </p:txBody>
      </p:sp>
      <p:sp>
        <p:nvSpPr>
          <p:cNvPr id="4" name="TextBox 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WHAT WE DO</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We deploy complete</a:t>
            </a:r>
          </a:p>
          <a:p>
            <a:r>
              <a:rPr sz="3800" b="1">
                <a:solidFill>
                  <a:srgbClr val="22D3EE"/>
                </a:solidFill>
                <a:latin typeface="Arial"/>
              </a:rPr>
              <a:t>AI workforces.</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5303520" cy="1280160"/>
          </a:xfrm>
          <a:prstGeom prst="rect">
            <a:avLst/>
          </a:prstGeom>
          <a:noFill/>
        </p:spPr>
        <p:txBody>
          <a:bodyPr wrap="square">
            <a:spAutoFit/>
          </a:bodyPr>
          <a:lstStyle/>
          <a:p>
            <a:pPr algn="l"/>
            <a:r>
              <a:rPr sz="1300" b="0" i="0">
                <a:solidFill>
                  <a:srgbClr val="737373"/>
                </a:solidFill>
                <a:latin typeface="Arial"/>
              </a:rPr>
              <a:t>Devolution Labs builds and operates enterprise AI workforces for organizations that want to reduce operating costs, scale faster, and outperform their competition without adding headcount. We ingest your company data in seconds, then deploy a fully structured AI operating layer.</a:t>
            </a:r>
          </a:p>
        </p:txBody>
      </p:sp>
      <p:sp>
        <p:nvSpPr>
          <p:cNvPr id="6" name="Rectangle 5"/>
          <p:cNvSpPr/>
          <p:nvPr/>
        </p:nvSpPr>
        <p:spPr>
          <a:xfrm>
            <a:off x="6492240" y="267004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400" y="2715768"/>
            <a:ext cx="3200400" cy="256032"/>
          </a:xfrm>
          <a:prstGeom prst="rect">
            <a:avLst/>
          </a:prstGeom>
          <a:noFill/>
        </p:spPr>
        <p:txBody>
          <a:bodyPr wrap="square">
            <a:spAutoFit/>
          </a:bodyPr>
          <a:lstStyle/>
          <a:p>
            <a:pPr algn="l"/>
            <a:r>
              <a:rPr sz="1200" b="1" i="0">
                <a:solidFill>
                  <a:srgbClr val="FFFFFF"/>
                </a:solidFill>
                <a:latin typeface="Arial"/>
              </a:rPr>
              <a:t>Built on the most advanced AI models</a:t>
            </a:r>
          </a:p>
        </p:txBody>
      </p:sp>
      <p:sp>
        <p:nvSpPr>
          <p:cNvPr id="8" name="TextBox 7"/>
          <p:cNvSpPr txBox="1"/>
          <p:nvPr/>
        </p:nvSpPr>
        <p:spPr>
          <a:xfrm>
            <a:off x="6629400" y="2944368"/>
            <a:ext cx="4846320" cy="201168"/>
          </a:xfrm>
          <a:prstGeom prst="rect">
            <a:avLst/>
          </a:prstGeom>
          <a:noFill/>
        </p:spPr>
        <p:txBody>
          <a:bodyPr wrap="square">
            <a:spAutoFit/>
          </a:bodyPr>
          <a:lstStyle/>
          <a:p>
            <a:pPr algn="l"/>
            <a:r>
              <a:rPr sz="1100" b="0" i="0">
                <a:solidFill>
                  <a:srgbClr val="737373"/>
                </a:solidFill>
                <a:latin typeface="Arial"/>
              </a:rPr>
              <a:t>Claude, GPT-4, Gemini matched to each role</a:t>
            </a:r>
          </a:p>
        </p:txBody>
      </p:sp>
      <p:sp>
        <p:nvSpPr>
          <p:cNvPr id="9" name="Rectangle 8"/>
          <p:cNvSpPr/>
          <p:nvPr/>
        </p:nvSpPr>
        <p:spPr>
          <a:xfrm>
            <a:off x="6492240" y="3236976"/>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3282696"/>
            <a:ext cx="3200400" cy="256032"/>
          </a:xfrm>
          <a:prstGeom prst="rect">
            <a:avLst/>
          </a:prstGeom>
          <a:noFill/>
        </p:spPr>
        <p:txBody>
          <a:bodyPr wrap="square">
            <a:spAutoFit/>
          </a:bodyPr>
          <a:lstStyle/>
          <a:p>
            <a:pPr algn="l"/>
            <a:r>
              <a:rPr sz="1200" b="1" i="0">
                <a:solidFill>
                  <a:srgbClr val="FFFFFF"/>
                </a:solidFill>
                <a:latin typeface="Arial"/>
              </a:rPr>
              <a:t>Full org chart structure</a:t>
            </a:r>
          </a:p>
        </p:txBody>
      </p:sp>
      <p:sp>
        <p:nvSpPr>
          <p:cNvPr id="11" name="TextBox 10"/>
          <p:cNvSpPr txBox="1"/>
          <p:nvPr/>
        </p:nvSpPr>
        <p:spPr>
          <a:xfrm>
            <a:off x="6629400" y="3511296"/>
            <a:ext cx="4846320" cy="201168"/>
          </a:xfrm>
          <a:prstGeom prst="rect">
            <a:avLst/>
          </a:prstGeom>
          <a:noFill/>
        </p:spPr>
        <p:txBody>
          <a:bodyPr wrap="square">
            <a:spAutoFit/>
          </a:bodyPr>
          <a:lstStyle/>
          <a:p>
            <a:pPr algn="l"/>
            <a:r>
              <a:rPr sz="1100" b="0" i="0">
                <a:solidFill>
                  <a:srgbClr val="737373"/>
                </a:solidFill>
                <a:latin typeface="Arial"/>
              </a:rPr>
              <a:t>CEO, departments, teams, agents</a:t>
            </a:r>
          </a:p>
        </p:txBody>
      </p:sp>
      <p:sp>
        <p:nvSpPr>
          <p:cNvPr id="12" name="Rectangle 11"/>
          <p:cNvSpPr/>
          <p:nvPr/>
        </p:nvSpPr>
        <p:spPr>
          <a:xfrm>
            <a:off x="6492240" y="3803904"/>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849624"/>
            <a:ext cx="3200400" cy="256032"/>
          </a:xfrm>
          <a:prstGeom prst="rect">
            <a:avLst/>
          </a:prstGeom>
          <a:noFill/>
        </p:spPr>
        <p:txBody>
          <a:bodyPr wrap="square">
            <a:spAutoFit/>
          </a:bodyPr>
          <a:lstStyle/>
          <a:p>
            <a:pPr algn="l"/>
            <a:r>
              <a:rPr sz="1200" b="1" i="0">
                <a:solidFill>
                  <a:srgbClr val="FFFFFF"/>
                </a:solidFill>
                <a:latin typeface="Arial"/>
              </a:rPr>
              <a:t>Deployed in days, not months</a:t>
            </a:r>
          </a:p>
        </p:txBody>
      </p:sp>
      <p:sp>
        <p:nvSpPr>
          <p:cNvPr id="14" name="TextBox 13"/>
          <p:cNvSpPr txBox="1"/>
          <p:nvPr/>
        </p:nvSpPr>
        <p:spPr>
          <a:xfrm>
            <a:off x="6629400" y="4078224"/>
            <a:ext cx="4846320" cy="201168"/>
          </a:xfrm>
          <a:prstGeom prst="rect">
            <a:avLst/>
          </a:prstGeom>
          <a:noFill/>
        </p:spPr>
        <p:txBody>
          <a:bodyPr wrap="square">
            <a:spAutoFit/>
          </a:bodyPr>
          <a:lstStyle/>
          <a:p>
            <a:pPr algn="l"/>
            <a:r>
              <a:rPr sz="1100" b="0" i="0">
                <a:solidFill>
                  <a:srgbClr val="737373"/>
                </a:solidFill>
                <a:latin typeface="Arial"/>
              </a:rPr>
              <a:t>Operational within 3-5 business days</a:t>
            </a:r>
          </a:p>
        </p:txBody>
      </p:sp>
      <p:sp>
        <p:nvSpPr>
          <p:cNvPr id="15" name="Rectangle 14"/>
          <p:cNvSpPr/>
          <p:nvPr/>
        </p:nvSpPr>
        <p:spPr>
          <a:xfrm>
            <a:off x="6492240" y="4370831"/>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416551"/>
            <a:ext cx="3200400" cy="256032"/>
          </a:xfrm>
          <a:prstGeom prst="rect">
            <a:avLst/>
          </a:prstGeom>
          <a:noFill/>
        </p:spPr>
        <p:txBody>
          <a:bodyPr wrap="square">
            <a:spAutoFit/>
          </a:bodyPr>
          <a:lstStyle/>
          <a:p>
            <a:pPr algn="l"/>
            <a:r>
              <a:rPr sz="1200" b="1" i="0">
                <a:solidFill>
                  <a:srgbClr val="FFFFFF"/>
                </a:solidFill>
                <a:latin typeface="Arial"/>
              </a:rPr>
              <a:t>No AI engineers required</a:t>
            </a:r>
          </a:p>
        </p:txBody>
      </p:sp>
      <p:sp>
        <p:nvSpPr>
          <p:cNvPr id="17" name="TextBox 16"/>
          <p:cNvSpPr txBox="1"/>
          <p:nvPr/>
        </p:nvSpPr>
        <p:spPr>
          <a:xfrm>
            <a:off x="6629400" y="4645151"/>
            <a:ext cx="4846320" cy="201168"/>
          </a:xfrm>
          <a:prstGeom prst="rect">
            <a:avLst/>
          </a:prstGeom>
          <a:noFill/>
        </p:spPr>
        <p:txBody>
          <a:bodyPr wrap="square">
            <a:spAutoFit/>
          </a:bodyPr>
          <a:lstStyle/>
          <a:p>
            <a:pPr algn="l"/>
            <a:r>
              <a:rPr sz="1100" b="0" i="0">
                <a:solidFill>
                  <a:srgbClr val="737373"/>
                </a:solidFill>
                <a:latin typeface="Arial"/>
              </a:rPr>
              <a:t>Your team manages outcomes, not tech</a:t>
            </a:r>
          </a:p>
        </p:txBody>
      </p:sp>
      <p:sp>
        <p:nvSpPr>
          <p:cNvPr id="18" name="Rectangle 17"/>
          <p:cNvSpPr/>
          <p:nvPr/>
        </p:nvSpPr>
        <p:spPr>
          <a:xfrm>
            <a:off x="6492240" y="4937760"/>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4983480"/>
            <a:ext cx="3200400" cy="256032"/>
          </a:xfrm>
          <a:prstGeom prst="rect">
            <a:avLst/>
          </a:prstGeom>
          <a:noFill/>
        </p:spPr>
        <p:txBody>
          <a:bodyPr wrap="square">
            <a:spAutoFit/>
          </a:bodyPr>
          <a:lstStyle/>
          <a:p>
            <a:pPr algn="l"/>
            <a:r>
              <a:rPr sz="1200" b="1" i="0">
                <a:solidFill>
                  <a:srgbClr val="FFFFFF"/>
                </a:solidFill>
                <a:latin typeface="Arial"/>
              </a:rPr>
              <a:t>Live command dashboard</a:t>
            </a:r>
          </a:p>
        </p:txBody>
      </p:sp>
      <p:sp>
        <p:nvSpPr>
          <p:cNvPr id="20" name="TextBox 19"/>
          <p:cNvSpPr txBox="1"/>
          <p:nvPr/>
        </p:nvSpPr>
        <p:spPr>
          <a:xfrm>
            <a:off x="6629400" y="5212080"/>
            <a:ext cx="4846320" cy="201168"/>
          </a:xfrm>
          <a:prstGeom prst="rect">
            <a:avLst/>
          </a:prstGeom>
          <a:noFill/>
        </p:spPr>
        <p:txBody>
          <a:bodyPr wrap="square">
            <a:spAutoFit/>
          </a:bodyPr>
          <a:lstStyle/>
          <a:p>
            <a:pPr algn="l"/>
            <a:r>
              <a:rPr sz="1100" b="0" i="0">
                <a:solidFill>
                  <a:srgbClr val="737373"/>
                </a:solidFill>
                <a:latin typeface="Arial"/>
              </a:rPr>
              <a:t>Full leadership visibility in real time</a:t>
            </a:r>
          </a:p>
        </p:txBody>
      </p:sp>
      <p:sp>
        <p:nvSpPr>
          <p:cNvPr id="21" name="Rectangle 20"/>
          <p:cNvSpPr/>
          <p:nvPr/>
        </p:nvSpPr>
        <p:spPr>
          <a:xfrm>
            <a:off x="6492240" y="550468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550408"/>
            <a:ext cx="3200400" cy="256032"/>
          </a:xfrm>
          <a:prstGeom prst="rect">
            <a:avLst/>
          </a:prstGeom>
          <a:noFill/>
        </p:spPr>
        <p:txBody>
          <a:bodyPr wrap="square">
            <a:spAutoFit/>
          </a:bodyPr>
          <a:lstStyle/>
          <a:p>
            <a:pPr algn="l"/>
            <a:r>
              <a:rPr sz="1200" b="1" i="0">
                <a:solidFill>
                  <a:srgbClr val="FFFFFF"/>
                </a:solidFill>
                <a:latin typeface="Arial"/>
              </a:rPr>
              <a:t>Managed service model</a:t>
            </a:r>
          </a:p>
        </p:txBody>
      </p:sp>
      <p:sp>
        <p:nvSpPr>
          <p:cNvPr id="23" name="TextBox 22"/>
          <p:cNvSpPr txBox="1"/>
          <p:nvPr/>
        </p:nvSpPr>
        <p:spPr>
          <a:xfrm>
            <a:off x="6629400" y="5779008"/>
            <a:ext cx="4846320" cy="201168"/>
          </a:xfrm>
          <a:prstGeom prst="rect">
            <a:avLst/>
          </a:prstGeom>
          <a:noFill/>
        </p:spPr>
        <p:txBody>
          <a:bodyPr wrap="square">
            <a:spAutoFit/>
          </a:bodyPr>
          <a:lstStyle/>
          <a:p>
            <a:pPr algn="l"/>
            <a:r>
              <a:rPr sz="1100" b="0" i="0">
                <a:solidFill>
                  <a:srgbClr val="737373"/>
                </a:solidFill>
                <a:latin typeface="Arial"/>
              </a:rPr>
              <a:t>Own it outright at any time</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ARCHITECTURE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 complete org chart.</a:t>
            </a:r>
          </a:p>
          <a:p>
            <a:r>
              <a:rPr sz="3800" b="1">
                <a:solidFill>
                  <a:srgbClr val="22D3EE"/>
                </a:solidFill>
                <a:latin typeface="Arial"/>
              </a:rPr>
              <a:t>Built from AI agents.</a:t>
            </a:r>
          </a:p>
        </p:txBody>
      </p:sp>
      <p:sp>
        <p:nvSpPr>
          <p:cNvPr id="4" name="Rectangle 3"/>
          <p:cNvSpPr/>
          <p:nvPr/>
        </p:nvSpPr>
        <p:spPr>
          <a:xfrm>
            <a:off x="3840480" y="2651760"/>
            <a:ext cx="4480560" cy="594360"/>
          </a:xfrm>
          <a:prstGeom prst="rect">
            <a:avLst/>
          </a:prstGeom>
          <a:solidFill>
            <a:srgbClr val="05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977639" y="2724912"/>
            <a:ext cx="4206240" cy="411480"/>
          </a:xfrm>
          <a:prstGeom prst="rect">
            <a:avLst/>
          </a:prstGeom>
          <a:noFill/>
        </p:spPr>
        <p:txBody>
          <a:bodyPr wrap="square">
            <a:spAutoFit/>
          </a:bodyPr>
          <a:lstStyle/>
          <a:p>
            <a:pPr algn="l"/>
            <a:r>
              <a:rPr sz="1300" b="1" i="0">
                <a:solidFill>
                  <a:srgbClr val="22D3EE"/>
                </a:solidFill>
                <a:latin typeface="Arial"/>
              </a:rPr>
              <a:t>LEVEL 1  |  AI Operations Executive</a:t>
            </a:r>
          </a:p>
        </p:txBody>
      </p:sp>
      <p:sp>
        <p:nvSpPr>
          <p:cNvPr id="6" name="Rectangle 5"/>
          <p:cNvSpPr/>
          <p:nvPr/>
        </p:nvSpPr>
        <p:spPr>
          <a:xfrm>
            <a:off x="5989320" y="3291840"/>
            <a:ext cx="9144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3291840"/>
            <a:ext cx="822960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56432"/>
            <a:ext cx="3017520" cy="347472"/>
          </a:xfrm>
          <a:prstGeom prst="rect">
            <a:avLst/>
          </a:prstGeom>
          <a:noFill/>
        </p:spPr>
        <p:txBody>
          <a:bodyPr wrap="square">
            <a:spAutoFit/>
          </a:bodyPr>
          <a:lstStyle/>
          <a:p>
            <a:pPr algn="l"/>
            <a:r>
              <a:rPr sz="1200" b="1" i="0">
                <a:solidFill>
                  <a:srgbClr val="C4B5FD"/>
                </a:solidFill>
                <a:latin typeface="Arial"/>
              </a:rPr>
              <a:t>LEVEL 2  |  Operations Dept</a:t>
            </a:r>
          </a:p>
        </p:txBody>
      </p:sp>
      <p:sp>
        <p:nvSpPr>
          <p:cNvPr id="11" name="Rectangle 10"/>
          <p:cNvSpPr/>
          <p:nvPr/>
        </p:nvSpPr>
        <p:spPr>
          <a:xfrm>
            <a:off x="562356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3456432"/>
            <a:ext cx="3017520" cy="347472"/>
          </a:xfrm>
          <a:prstGeom prst="rect">
            <a:avLst/>
          </a:prstGeom>
          <a:noFill/>
        </p:spPr>
        <p:txBody>
          <a:bodyPr wrap="square">
            <a:spAutoFit/>
          </a:bodyPr>
          <a:lstStyle/>
          <a:p>
            <a:pPr algn="l"/>
            <a:r>
              <a:rPr sz="1200" b="1" i="0">
                <a:solidFill>
                  <a:srgbClr val="C4B5FD"/>
                </a:solidFill>
                <a:latin typeface="Arial"/>
              </a:rPr>
              <a:t>LEVEL 2  |  Marketing Dept</a:t>
            </a:r>
          </a:p>
        </p:txBody>
      </p:sp>
      <p:sp>
        <p:nvSpPr>
          <p:cNvPr id="14" name="Rectangle 13"/>
          <p:cNvSpPr/>
          <p:nvPr/>
        </p:nvSpPr>
        <p:spPr>
          <a:xfrm>
            <a:off x="914400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3456432"/>
            <a:ext cx="3017520" cy="347472"/>
          </a:xfrm>
          <a:prstGeom prst="rect">
            <a:avLst/>
          </a:prstGeom>
          <a:noFill/>
        </p:spPr>
        <p:txBody>
          <a:bodyPr wrap="square">
            <a:spAutoFit/>
          </a:bodyPr>
          <a:lstStyle/>
          <a:p>
            <a:pPr algn="l"/>
            <a:r>
              <a:rPr sz="1200" b="1" i="0">
                <a:solidFill>
                  <a:srgbClr val="C4B5FD"/>
                </a:solidFill>
                <a:latin typeface="Arial"/>
              </a:rPr>
              <a:t>LEVEL 2  |  Finance Dept</a:t>
            </a:r>
          </a:p>
        </p:txBody>
      </p:sp>
      <p:sp>
        <p:nvSpPr>
          <p:cNvPr id="17" name="Rectangle 16"/>
          <p:cNvSpPr/>
          <p:nvPr/>
        </p:nvSpPr>
        <p:spPr>
          <a:xfrm>
            <a:off x="73152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4206240"/>
            <a:ext cx="2423160" cy="365760"/>
          </a:xfrm>
          <a:prstGeom prst="rect">
            <a:avLst/>
          </a:prstGeom>
          <a:noFill/>
        </p:spPr>
        <p:txBody>
          <a:bodyPr wrap="square">
            <a:spAutoFit/>
          </a:bodyPr>
          <a:lstStyle/>
          <a:p>
            <a:pPr algn="l"/>
            <a:r>
              <a:rPr sz="1200" b="1" i="0">
                <a:solidFill>
                  <a:srgbClr val="5F9BCD"/>
                </a:solidFill>
                <a:latin typeface="Arial"/>
              </a:rPr>
              <a:t>L3  Exception Agent</a:t>
            </a:r>
          </a:p>
        </p:txBody>
      </p:sp>
      <p:sp>
        <p:nvSpPr>
          <p:cNvPr id="19" name="Rectangle 18"/>
          <p:cNvSpPr/>
          <p:nvPr/>
        </p:nvSpPr>
        <p:spPr>
          <a:xfrm>
            <a:off x="356616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206240"/>
            <a:ext cx="2423160" cy="365760"/>
          </a:xfrm>
          <a:prstGeom prst="rect">
            <a:avLst/>
          </a:prstGeom>
          <a:noFill/>
        </p:spPr>
        <p:txBody>
          <a:bodyPr wrap="square">
            <a:spAutoFit/>
          </a:bodyPr>
          <a:lstStyle/>
          <a:p>
            <a:pPr algn="l"/>
            <a:r>
              <a:rPr sz="1200" b="1" i="0">
                <a:solidFill>
                  <a:srgbClr val="5F9BCD"/>
                </a:solidFill>
                <a:latin typeface="Arial"/>
              </a:rPr>
              <a:t>L3  Lead Gen Agent</a:t>
            </a:r>
          </a:p>
        </p:txBody>
      </p:sp>
      <p:sp>
        <p:nvSpPr>
          <p:cNvPr id="21" name="Rectangle 20"/>
          <p:cNvSpPr/>
          <p:nvPr/>
        </p:nvSpPr>
        <p:spPr>
          <a:xfrm>
            <a:off x="640080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4206240"/>
            <a:ext cx="2423160" cy="365760"/>
          </a:xfrm>
          <a:prstGeom prst="rect">
            <a:avLst/>
          </a:prstGeom>
          <a:noFill/>
        </p:spPr>
        <p:txBody>
          <a:bodyPr wrap="square">
            <a:spAutoFit/>
          </a:bodyPr>
          <a:lstStyle/>
          <a:p>
            <a:pPr algn="l"/>
            <a:r>
              <a:rPr sz="1200" b="1" i="0">
                <a:solidFill>
                  <a:srgbClr val="5F9BCD"/>
                </a:solidFill>
                <a:latin typeface="Arial"/>
              </a:rPr>
              <a:t>L3  Reporting Agent</a:t>
            </a:r>
          </a:p>
        </p:txBody>
      </p:sp>
      <p:sp>
        <p:nvSpPr>
          <p:cNvPr id="23" name="Rectangle 22"/>
          <p:cNvSpPr/>
          <p:nvPr/>
        </p:nvSpPr>
        <p:spPr>
          <a:xfrm>
            <a:off x="923544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5168" y="4206240"/>
            <a:ext cx="2423160" cy="365760"/>
          </a:xfrm>
          <a:prstGeom prst="rect">
            <a:avLst/>
          </a:prstGeom>
          <a:noFill/>
        </p:spPr>
        <p:txBody>
          <a:bodyPr wrap="square">
            <a:spAutoFit/>
          </a:bodyPr>
          <a:lstStyle/>
          <a:p>
            <a:pPr algn="l"/>
            <a:r>
              <a:rPr sz="1200" b="1" i="0">
                <a:solidFill>
                  <a:srgbClr val="5F9BCD"/>
                </a:solidFill>
                <a:latin typeface="Arial"/>
              </a:rPr>
              <a:t>L3  Compliance Agent</a:t>
            </a:r>
          </a:p>
        </p:txBody>
      </p:sp>
      <p:sp>
        <p:nvSpPr>
          <p:cNvPr id="25" name="Rectangle 24"/>
          <p:cNvSpPr/>
          <p:nvPr/>
        </p:nvSpPr>
        <p:spPr>
          <a:xfrm>
            <a:off x="73152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864608"/>
            <a:ext cx="2423160" cy="365760"/>
          </a:xfrm>
          <a:prstGeom prst="rect">
            <a:avLst/>
          </a:prstGeom>
          <a:noFill/>
        </p:spPr>
        <p:txBody>
          <a:bodyPr wrap="square">
            <a:spAutoFit/>
          </a:bodyPr>
          <a:lstStyle/>
          <a:p>
            <a:pPr algn="l"/>
            <a:r>
              <a:rPr sz="1200" b="1" i="0">
                <a:solidFill>
                  <a:srgbClr val="5F9BCD"/>
                </a:solidFill>
                <a:latin typeface="Arial"/>
              </a:rPr>
              <a:t>L3  Content Agent</a:t>
            </a:r>
          </a:p>
        </p:txBody>
      </p:sp>
      <p:sp>
        <p:nvSpPr>
          <p:cNvPr id="27" name="Rectangle 26"/>
          <p:cNvSpPr/>
          <p:nvPr/>
        </p:nvSpPr>
        <p:spPr>
          <a:xfrm>
            <a:off x="356616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5888" y="4864608"/>
            <a:ext cx="2423160" cy="365760"/>
          </a:xfrm>
          <a:prstGeom prst="rect">
            <a:avLst/>
          </a:prstGeom>
          <a:noFill/>
        </p:spPr>
        <p:txBody>
          <a:bodyPr wrap="square">
            <a:spAutoFit/>
          </a:bodyPr>
          <a:lstStyle/>
          <a:p>
            <a:pPr algn="l"/>
            <a:r>
              <a:rPr sz="1200" b="1" i="0">
                <a:solidFill>
                  <a:srgbClr val="5F9BCD"/>
                </a:solidFill>
                <a:latin typeface="Arial"/>
              </a:rPr>
              <a:t>L3  SEO Agent</a:t>
            </a:r>
          </a:p>
        </p:txBody>
      </p:sp>
      <p:sp>
        <p:nvSpPr>
          <p:cNvPr id="29" name="Rectangle 28"/>
          <p:cNvSpPr/>
          <p:nvPr/>
        </p:nvSpPr>
        <p:spPr>
          <a:xfrm>
            <a:off x="640080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4864608"/>
            <a:ext cx="2423160" cy="365760"/>
          </a:xfrm>
          <a:prstGeom prst="rect">
            <a:avLst/>
          </a:prstGeom>
          <a:noFill/>
        </p:spPr>
        <p:txBody>
          <a:bodyPr wrap="square">
            <a:spAutoFit/>
          </a:bodyPr>
          <a:lstStyle/>
          <a:p>
            <a:pPr algn="l"/>
            <a:r>
              <a:rPr sz="1200" b="1" i="0">
                <a:solidFill>
                  <a:srgbClr val="5F9BCD"/>
                </a:solidFill>
                <a:latin typeface="Arial"/>
              </a:rPr>
              <a:t>L3  Retention Agent</a:t>
            </a:r>
          </a:p>
        </p:txBody>
      </p:sp>
      <p:sp>
        <p:nvSpPr>
          <p:cNvPr id="31" name="Rectangle 30"/>
          <p:cNvSpPr/>
          <p:nvPr/>
        </p:nvSpPr>
        <p:spPr>
          <a:xfrm>
            <a:off x="923544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4864608"/>
            <a:ext cx="2423160" cy="365760"/>
          </a:xfrm>
          <a:prstGeom prst="rect">
            <a:avLst/>
          </a:prstGeom>
          <a:noFill/>
        </p:spPr>
        <p:txBody>
          <a:bodyPr wrap="square">
            <a:spAutoFit/>
          </a:bodyPr>
          <a:lstStyle/>
          <a:p>
            <a:pPr algn="l"/>
            <a:r>
              <a:rPr sz="1200" b="1" i="0">
                <a:solidFill>
                  <a:srgbClr val="5F9BCD"/>
                </a:solidFill>
                <a:latin typeface="Arial"/>
              </a:rPr>
              <a:t>L3  Scheduling Agent</a:t>
            </a:r>
          </a:p>
        </p:txBody>
      </p:sp>
      <p:sp>
        <p:nvSpPr>
          <p:cNvPr id="33" name="Rectangle 32"/>
          <p:cNvSpPr/>
          <p:nvPr/>
        </p:nvSpPr>
        <p:spPr>
          <a:xfrm>
            <a:off x="73152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22976"/>
            <a:ext cx="2423160" cy="365760"/>
          </a:xfrm>
          <a:prstGeom prst="rect">
            <a:avLst/>
          </a:prstGeom>
          <a:noFill/>
        </p:spPr>
        <p:txBody>
          <a:bodyPr wrap="square">
            <a:spAutoFit/>
          </a:bodyPr>
          <a:lstStyle/>
          <a:p>
            <a:pPr algn="l"/>
            <a:r>
              <a:rPr sz="1200" b="1" i="0">
                <a:solidFill>
                  <a:srgbClr val="5F9BCD"/>
                </a:solidFill>
                <a:latin typeface="Arial"/>
              </a:rPr>
              <a:t>L3  Finance Agent</a:t>
            </a:r>
          </a:p>
        </p:txBody>
      </p:sp>
      <p:sp>
        <p:nvSpPr>
          <p:cNvPr id="35" name="Rectangle 34"/>
          <p:cNvSpPr/>
          <p:nvPr/>
        </p:nvSpPr>
        <p:spPr>
          <a:xfrm>
            <a:off x="356616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5522976"/>
            <a:ext cx="2423160" cy="365760"/>
          </a:xfrm>
          <a:prstGeom prst="rect">
            <a:avLst/>
          </a:prstGeom>
          <a:noFill/>
        </p:spPr>
        <p:txBody>
          <a:bodyPr wrap="square">
            <a:spAutoFit/>
          </a:bodyPr>
          <a:lstStyle/>
          <a:p>
            <a:pPr algn="l"/>
            <a:r>
              <a:rPr sz="1200" b="1" i="0">
                <a:solidFill>
                  <a:srgbClr val="5F9BCD"/>
                </a:solidFill>
                <a:latin typeface="Arial"/>
              </a:rPr>
              <a:t>L3  Audit Agent</a:t>
            </a:r>
          </a:p>
        </p:txBody>
      </p:sp>
      <p:sp>
        <p:nvSpPr>
          <p:cNvPr id="37" name="Rectangle 36"/>
          <p:cNvSpPr/>
          <p:nvPr/>
        </p:nvSpPr>
        <p:spPr>
          <a:xfrm>
            <a:off x="640080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0528" y="5522976"/>
            <a:ext cx="2423160" cy="365760"/>
          </a:xfrm>
          <a:prstGeom prst="rect">
            <a:avLst/>
          </a:prstGeom>
          <a:noFill/>
        </p:spPr>
        <p:txBody>
          <a:bodyPr wrap="square">
            <a:spAutoFit/>
          </a:bodyPr>
          <a:lstStyle/>
          <a:p>
            <a:pPr algn="l"/>
            <a:r>
              <a:rPr sz="1200" b="1" i="0">
                <a:solidFill>
                  <a:srgbClr val="5F9BCD"/>
                </a:solidFill>
                <a:latin typeface="Arial"/>
              </a:rPr>
              <a:t>L3  Vendor Agent</a:t>
            </a:r>
          </a:p>
        </p:txBody>
      </p:sp>
      <p:sp>
        <p:nvSpPr>
          <p:cNvPr id="39" name="Rectangle 38"/>
          <p:cNvSpPr/>
          <p:nvPr/>
        </p:nvSpPr>
        <p:spPr>
          <a:xfrm>
            <a:off x="923544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45168" y="5522976"/>
            <a:ext cx="2423160" cy="365760"/>
          </a:xfrm>
          <a:prstGeom prst="rect">
            <a:avLst/>
          </a:prstGeom>
          <a:noFill/>
        </p:spPr>
        <p:txBody>
          <a:bodyPr wrap="square">
            <a:spAutoFit/>
          </a:bodyPr>
          <a:lstStyle/>
          <a:p>
            <a:pPr algn="l"/>
            <a:r>
              <a:rPr sz="1200" b="1" i="0">
                <a:solidFill>
                  <a:srgbClr val="5F9BCD"/>
                </a:solidFill>
                <a:latin typeface="Arial"/>
              </a:rPr>
              <a:t>L3  Analytics Agent</a:t>
            </a:r>
          </a:p>
        </p:txBody>
      </p:sp>
      <p:sp>
        <p:nvSpPr>
          <p:cNvPr id="41" name="TextBox 4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AGENT CAPABILITIES</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Agents built for</a:t>
            </a:r>
          </a:p>
          <a:p>
            <a:r>
              <a:rPr sz="3800" b="1">
                <a:solidFill>
                  <a:srgbClr val="22D3EE"/>
                </a:solidFill>
                <a:latin typeface="Arial"/>
              </a:rPr>
              <a:t>every business function.</a:t>
            </a:r>
          </a:p>
        </p:txBody>
      </p:sp>
      <p:sp>
        <p:nvSpPr>
          <p:cNvPr id="4" name="Rectangle 3"/>
          <p:cNvSpPr/>
          <p:nvPr/>
        </p:nvSpPr>
        <p:spPr>
          <a:xfrm>
            <a:off x="73152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474720" cy="228600"/>
          </a:xfrm>
          <a:prstGeom prst="rect">
            <a:avLst/>
          </a:prstGeom>
          <a:noFill/>
        </p:spPr>
        <p:txBody>
          <a:bodyPr wrap="square">
            <a:spAutoFit/>
          </a:bodyPr>
          <a:lstStyle/>
          <a:p>
            <a:pPr algn="l"/>
            <a:r>
              <a:rPr sz="900" b="1" i="0">
                <a:solidFill>
                  <a:srgbClr val="22D3EE"/>
                </a:solidFill>
                <a:latin typeface="Arial"/>
              </a:rPr>
              <a:t>OPERATIONS</a:t>
            </a:r>
          </a:p>
        </p:txBody>
      </p:sp>
      <p:sp>
        <p:nvSpPr>
          <p:cNvPr id="7" name="TextBox 6"/>
          <p:cNvSpPr txBox="1"/>
          <p:nvPr/>
        </p:nvSpPr>
        <p:spPr>
          <a:xfrm>
            <a:off x="868680" y="2980944"/>
            <a:ext cx="3474720" cy="347472"/>
          </a:xfrm>
          <a:prstGeom prst="rect">
            <a:avLst/>
          </a:prstGeom>
          <a:noFill/>
        </p:spPr>
        <p:txBody>
          <a:bodyPr wrap="square">
            <a:spAutoFit/>
          </a:bodyPr>
          <a:lstStyle/>
          <a:p>
            <a:pPr algn="l"/>
            <a:r>
              <a:rPr sz="1300" b="1" i="0">
                <a:solidFill>
                  <a:srgbClr val="FFFFFF"/>
                </a:solidFill>
                <a:latin typeface="Arial"/>
              </a:rPr>
              <a:t>Exception + Routing Agent</a:t>
            </a:r>
          </a:p>
        </p:txBody>
      </p:sp>
      <p:sp>
        <p:nvSpPr>
          <p:cNvPr id="8" name="TextBox 7"/>
          <p:cNvSpPr txBox="1"/>
          <p:nvPr/>
        </p:nvSpPr>
        <p:spPr>
          <a:xfrm>
            <a:off x="868680" y="3383280"/>
            <a:ext cx="3474720" cy="548640"/>
          </a:xfrm>
          <a:prstGeom prst="rect">
            <a:avLst/>
          </a:prstGeom>
          <a:noFill/>
        </p:spPr>
        <p:txBody>
          <a:bodyPr wrap="square">
            <a:spAutoFit/>
          </a:bodyPr>
          <a:lstStyle/>
          <a:p>
            <a:pPr algn="l"/>
            <a:r>
              <a:rPr sz="1100" b="0" i="0">
                <a:solidFill>
                  <a:srgbClr val="737373"/>
                </a:solidFill>
                <a:latin typeface="Arial"/>
              </a:rPr>
              <a:t>Monitors workflows in real time, routes tasks automatically, and escalates only what requires human judgment. Runs 24/7.</a:t>
            </a:r>
          </a:p>
        </p:txBody>
      </p:sp>
      <p:sp>
        <p:nvSpPr>
          <p:cNvPr id="9" name="Rectangle 8"/>
          <p:cNvSpPr/>
          <p:nvPr/>
        </p:nvSpPr>
        <p:spPr>
          <a:xfrm>
            <a:off x="452628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474720" cy="228600"/>
          </a:xfrm>
          <a:prstGeom prst="rect">
            <a:avLst/>
          </a:prstGeom>
          <a:noFill/>
        </p:spPr>
        <p:txBody>
          <a:bodyPr wrap="square">
            <a:spAutoFit/>
          </a:bodyPr>
          <a:lstStyle/>
          <a:p>
            <a:pPr algn="l"/>
            <a:r>
              <a:rPr sz="900" b="1" i="0">
                <a:solidFill>
                  <a:srgbClr val="8B5CF6"/>
                </a:solidFill>
                <a:latin typeface="Arial"/>
              </a:rPr>
              <a:t>MARKETING</a:t>
            </a:r>
          </a:p>
        </p:txBody>
      </p:sp>
      <p:sp>
        <p:nvSpPr>
          <p:cNvPr id="12" name="TextBox 11"/>
          <p:cNvSpPr txBox="1"/>
          <p:nvPr/>
        </p:nvSpPr>
        <p:spPr>
          <a:xfrm>
            <a:off x="4663440" y="2980944"/>
            <a:ext cx="3474720" cy="347472"/>
          </a:xfrm>
          <a:prstGeom prst="rect">
            <a:avLst/>
          </a:prstGeom>
          <a:noFill/>
        </p:spPr>
        <p:txBody>
          <a:bodyPr wrap="square">
            <a:spAutoFit/>
          </a:bodyPr>
          <a:lstStyle/>
          <a:p>
            <a:pPr algn="l"/>
            <a:r>
              <a:rPr sz="1300" b="1" i="0">
                <a:solidFill>
                  <a:srgbClr val="FFFFFF"/>
                </a:solidFill>
                <a:latin typeface="Arial"/>
              </a:rPr>
              <a:t>Content + SEO Agent</a:t>
            </a:r>
          </a:p>
        </p:txBody>
      </p:sp>
      <p:sp>
        <p:nvSpPr>
          <p:cNvPr id="13" name="TextBox 12"/>
          <p:cNvSpPr txBox="1"/>
          <p:nvPr/>
        </p:nvSpPr>
        <p:spPr>
          <a:xfrm>
            <a:off x="4663440" y="3383280"/>
            <a:ext cx="3474720" cy="548640"/>
          </a:xfrm>
          <a:prstGeom prst="rect">
            <a:avLst/>
          </a:prstGeom>
          <a:noFill/>
        </p:spPr>
        <p:txBody>
          <a:bodyPr wrap="square">
            <a:spAutoFit/>
          </a:bodyPr>
          <a:lstStyle/>
          <a:p>
            <a:pPr algn="l"/>
            <a:r>
              <a:rPr sz="1100" b="0" i="0">
                <a:solidFill>
                  <a:srgbClr val="737373"/>
                </a:solidFill>
                <a:latin typeface="Arial"/>
              </a:rPr>
              <a:t>Publishes optimized content weekly, manages social channels daily, tracks rankings, and adjusts strategy automatically.</a:t>
            </a:r>
          </a:p>
        </p:txBody>
      </p:sp>
      <p:sp>
        <p:nvSpPr>
          <p:cNvPr id="14" name="Rectangle 13"/>
          <p:cNvSpPr/>
          <p:nvPr/>
        </p:nvSpPr>
        <p:spPr>
          <a:xfrm>
            <a:off x="832104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4142231"/>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4233671"/>
            <a:ext cx="3474720" cy="228600"/>
          </a:xfrm>
          <a:prstGeom prst="rect">
            <a:avLst/>
          </a:prstGeom>
          <a:noFill/>
        </p:spPr>
        <p:txBody>
          <a:bodyPr wrap="square">
            <a:spAutoFit/>
          </a:bodyPr>
          <a:lstStyle/>
          <a:p>
            <a:pPr algn="l"/>
            <a:r>
              <a:rPr sz="900" b="1" i="0">
                <a:solidFill>
                  <a:srgbClr val="3B82F6"/>
                </a:solidFill>
                <a:latin typeface="Arial"/>
              </a:rPr>
              <a:t>SALES</a:t>
            </a:r>
          </a:p>
        </p:txBody>
      </p:sp>
      <p:sp>
        <p:nvSpPr>
          <p:cNvPr id="17" name="TextBox 16"/>
          <p:cNvSpPr txBox="1"/>
          <p:nvPr/>
        </p:nvSpPr>
        <p:spPr>
          <a:xfrm>
            <a:off x="8458200" y="4489703"/>
            <a:ext cx="3474720" cy="347472"/>
          </a:xfrm>
          <a:prstGeom prst="rect">
            <a:avLst/>
          </a:prstGeom>
          <a:noFill/>
        </p:spPr>
        <p:txBody>
          <a:bodyPr wrap="square">
            <a:spAutoFit/>
          </a:bodyPr>
          <a:lstStyle/>
          <a:p>
            <a:pPr algn="l"/>
            <a:r>
              <a:rPr sz="1300" b="1" i="0">
                <a:solidFill>
                  <a:srgbClr val="FFFFFF"/>
                </a:solidFill>
                <a:latin typeface="Arial"/>
              </a:rPr>
              <a:t>Lead Generation + Response Agent</a:t>
            </a:r>
          </a:p>
        </p:txBody>
      </p:sp>
      <p:sp>
        <p:nvSpPr>
          <p:cNvPr id="18" name="TextBox 17"/>
          <p:cNvSpPr txBox="1"/>
          <p:nvPr/>
        </p:nvSpPr>
        <p:spPr>
          <a:xfrm>
            <a:off x="8458200" y="4892039"/>
            <a:ext cx="3474720" cy="548640"/>
          </a:xfrm>
          <a:prstGeom prst="rect">
            <a:avLst/>
          </a:prstGeom>
          <a:noFill/>
        </p:spPr>
        <p:txBody>
          <a:bodyPr wrap="square">
            <a:spAutoFit/>
          </a:bodyPr>
          <a:lstStyle/>
          <a:p>
            <a:pPr algn="l"/>
            <a:r>
              <a:rPr sz="1100" b="0" i="0">
                <a:solidFill>
                  <a:srgbClr val="737373"/>
                </a:solidFill>
                <a:latin typeface="Arial"/>
              </a:rPr>
              <a:t>Actively finds in-market buyers, responds to every inbound inquiry in seconds, and follows up until conversion.</a:t>
            </a:r>
          </a:p>
        </p:txBody>
      </p:sp>
      <p:sp>
        <p:nvSpPr>
          <p:cNvPr id="19" name="Rectangle 18"/>
          <p:cNvSpPr/>
          <p:nvPr/>
        </p:nvSpPr>
        <p:spPr>
          <a:xfrm>
            <a:off x="73152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42231"/>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33671"/>
            <a:ext cx="3474720" cy="228600"/>
          </a:xfrm>
          <a:prstGeom prst="rect">
            <a:avLst/>
          </a:prstGeom>
          <a:noFill/>
        </p:spPr>
        <p:txBody>
          <a:bodyPr wrap="square">
            <a:spAutoFit/>
          </a:bodyPr>
          <a:lstStyle/>
          <a:p>
            <a:pPr algn="l"/>
            <a:r>
              <a:rPr sz="900" b="1" i="0">
                <a:solidFill>
                  <a:srgbClr val="10B981"/>
                </a:solidFill>
                <a:latin typeface="Arial"/>
              </a:rPr>
              <a:t>FINANCE</a:t>
            </a:r>
          </a:p>
        </p:txBody>
      </p:sp>
      <p:sp>
        <p:nvSpPr>
          <p:cNvPr id="22" name="TextBox 21"/>
          <p:cNvSpPr txBox="1"/>
          <p:nvPr/>
        </p:nvSpPr>
        <p:spPr>
          <a:xfrm>
            <a:off x="868680" y="4489703"/>
            <a:ext cx="3474720" cy="347472"/>
          </a:xfrm>
          <a:prstGeom prst="rect">
            <a:avLst/>
          </a:prstGeom>
          <a:noFill/>
        </p:spPr>
        <p:txBody>
          <a:bodyPr wrap="square">
            <a:spAutoFit/>
          </a:bodyPr>
          <a:lstStyle/>
          <a:p>
            <a:pPr algn="l"/>
            <a:r>
              <a:rPr sz="1300" b="1" i="0">
                <a:solidFill>
                  <a:srgbClr val="FFFFFF"/>
                </a:solidFill>
                <a:latin typeface="Arial"/>
              </a:rPr>
              <a:t>Reporting + Analytics Agent</a:t>
            </a:r>
          </a:p>
        </p:txBody>
      </p:sp>
      <p:sp>
        <p:nvSpPr>
          <p:cNvPr id="23" name="TextBox 22"/>
          <p:cNvSpPr txBox="1"/>
          <p:nvPr/>
        </p:nvSpPr>
        <p:spPr>
          <a:xfrm>
            <a:off x="868680" y="4892039"/>
            <a:ext cx="3474720" cy="548640"/>
          </a:xfrm>
          <a:prstGeom prst="rect">
            <a:avLst/>
          </a:prstGeom>
          <a:noFill/>
        </p:spPr>
        <p:txBody>
          <a:bodyPr wrap="square">
            <a:spAutoFit/>
          </a:bodyPr>
          <a:lstStyle/>
          <a:p>
            <a:pPr algn="l"/>
            <a:r>
              <a:rPr sz="1100" b="0" i="0">
                <a:solidFill>
                  <a:srgbClr val="737373"/>
                </a:solidFill>
                <a:latin typeface="Arial"/>
              </a:rPr>
              <a:t>Pulls data, compiles management reports, surfaces anomalies, and delivers leadership briefings on schedule.</a:t>
            </a:r>
          </a:p>
        </p:txBody>
      </p:sp>
      <p:sp>
        <p:nvSpPr>
          <p:cNvPr id="24" name="Rectangle 23"/>
          <p:cNvSpPr/>
          <p:nvPr/>
        </p:nvSpPr>
        <p:spPr>
          <a:xfrm>
            <a:off x="452628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565099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5742432"/>
            <a:ext cx="3474720" cy="228600"/>
          </a:xfrm>
          <a:prstGeom prst="rect">
            <a:avLst/>
          </a:prstGeom>
          <a:noFill/>
        </p:spPr>
        <p:txBody>
          <a:bodyPr wrap="square">
            <a:spAutoFit/>
          </a:bodyPr>
          <a:lstStyle/>
          <a:p>
            <a:pPr algn="l"/>
            <a:r>
              <a:rPr sz="900" b="1" i="0">
                <a:solidFill>
                  <a:srgbClr val="F59E0B"/>
                </a:solidFill>
                <a:latin typeface="Arial"/>
              </a:rPr>
              <a:t>COMPLIANCE</a:t>
            </a:r>
          </a:p>
        </p:txBody>
      </p:sp>
      <p:sp>
        <p:nvSpPr>
          <p:cNvPr id="27" name="TextBox 26"/>
          <p:cNvSpPr txBox="1"/>
          <p:nvPr/>
        </p:nvSpPr>
        <p:spPr>
          <a:xfrm>
            <a:off x="4663440" y="5998464"/>
            <a:ext cx="3474720" cy="347472"/>
          </a:xfrm>
          <a:prstGeom prst="rect">
            <a:avLst/>
          </a:prstGeom>
          <a:noFill/>
        </p:spPr>
        <p:txBody>
          <a:bodyPr wrap="square">
            <a:spAutoFit/>
          </a:bodyPr>
          <a:lstStyle/>
          <a:p>
            <a:pPr algn="l"/>
            <a:r>
              <a:rPr sz="1300" b="1" i="0">
                <a:solidFill>
                  <a:srgbClr val="FFFFFF"/>
                </a:solidFill>
                <a:latin typeface="Arial"/>
              </a:rPr>
              <a:t>Audit + Documentation Agent</a:t>
            </a:r>
          </a:p>
        </p:txBody>
      </p:sp>
      <p:sp>
        <p:nvSpPr>
          <p:cNvPr id="28" name="TextBox 27"/>
          <p:cNvSpPr txBox="1"/>
          <p:nvPr/>
        </p:nvSpPr>
        <p:spPr>
          <a:xfrm>
            <a:off x="4663440" y="6400800"/>
            <a:ext cx="3474720" cy="548640"/>
          </a:xfrm>
          <a:prstGeom prst="rect">
            <a:avLst/>
          </a:prstGeom>
          <a:noFill/>
        </p:spPr>
        <p:txBody>
          <a:bodyPr wrap="square">
            <a:spAutoFit/>
          </a:bodyPr>
          <a:lstStyle/>
          <a:p>
            <a:pPr algn="l"/>
            <a:r>
              <a:rPr sz="1100" b="0" i="0">
                <a:solidFill>
                  <a:srgbClr val="737373"/>
                </a:solidFill>
                <a:latin typeface="Arial"/>
              </a:rPr>
              <a:t>Monitors regulatory changes, maintains audit trails, generates required documentation, and flags exposure automatically.</a:t>
            </a:r>
          </a:p>
        </p:txBody>
      </p:sp>
      <p:sp>
        <p:nvSpPr>
          <p:cNvPr id="29" name="Rectangle 28"/>
          <p:cNvSpPr/>
          <p:nvPr/>
        </p:nvSpPr>
        <p:spPr>
          <a:xfrm>
            <a:off x="832104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565099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5742432"/>
            <a:ext cx="3474720" cy="228600"/>
          </a:xfrm>
          <a:prstGeom prst="rect">
            <a:avLst/>
          </a:prstGeom>
          <a:noFill/>
        </p:spPr>
        <p:txBody>
          <a:bodyPr wrap="square">
            <a:spAutoFit/>
          </a:bodyPr>
          <a:lstStyle/>
          <a:p>
            <a:pPr algn="l"/>
            <a:r>
              <a:rPr sz="900" b="1" i="0">
                <a:solidFill>
                  <a:srgbClr val="EC4899"/>
                </a:solidFill>
                <a:latin typeface="Arial"/>
              </a:rPr>
              <a:t>CUSTOMER SUCCESS</a:t>
            </a:r>
          </a:p>
        </p:txBody>
      </p:sp>
      <p:sp>
        <p:nvSpPr>
          <p:cNvPr id="32" name="TextBox 31"/>
          <p:cNvSpPr txBox="1"/>
          <p:nvPr/>
        </p:nvSpPr>
        <p:spPr>
          <a:xfrm>
            <a:off x="8458200" y="5998464"/>
            <a:ext cx="3474720" cy="347472"/>
          </a:xfrm>
          <a:prstGeom prst="rect">
            <a:avLst/>
          </a:prstGeom>
          <a:noFill/>
        </p:spPr>
        <p:txBody>
          <a:bodyPr wrap="square">
            <a:spAutoFit/>
          </a:bodyPr>
          <a:lstStyle/>
          <a:p>
            <a:pPr algn="l"/>
            <a:r>
              <a:rPr sz="1300" b="1" i="0">
                <a:solidFill>
                  <a:srgbClr val="FFFFFF"/>
                </a:solidFill>
                <a:latin typeface="Arial"/>
              </a:rPr>
              <a:t>Retention + Service Agent</a:t>
            </a:r>
          </a:p>
        </p:txBody>
      </p:sp>
      <p:sp>
        <p:nvSpPr>
          <p:cNvPr id="33" name="TextBox 32"/>
          <p:cNvSpPr txBox="1"/>
          <p:nvPr/>
        </p:nvSpPr>
        <p:spPr>
          <a:xfrm>
            <a:off x="8458200" y="6400800"/>
            <a:ext cx="3474720" cy="548640"/>
          </a:xfrm>
          <a:prstGeom prst="rect">
            <a:avLst/>
          </a:prstGeom>
          <a:noFill/>
        </p:spPr>
        <p:txBody>
          <a:bodyPr wrap="square">
            <a:spAutoFit/>
          </a:bodyPr>
          <a:lstStyle/>
          <a:p>
            <a:pPr algn="l"/>
            <a:r>
              <a:rPr sz="1100" b="0" i="0">
                <a:solidFill>
                  <a:srgbClr val="737373"/>
                </a:solidFill>
                <a:latin typeface="Arial"/>
              </a:rPr>
              <a:t>Sends reminders, books appointments, manages follow-up, and proactively reaches out to at-risk customers.</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PLATFORM</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infrastructure</a:t>
            </a:r>
          </a:p>
          <a:p>
            <a:r>
              <a:rPr sz="3800" b="1">
                <a:solidFill>
                  <a:srgbClr val="22D3EE"/>
                </a:solidFill>
                <a:latin typeface="Arial"/>
              </a:rPr>
              <a:t>behind the workforce.</a:t>
            </a:r>
          </a:p>
        </p:txBody>
      </p:sp>
      <p:sp>
        <p:nvSpPr>
          <p:cNvPr id="4" name="TextBox 3"/>
          <p:cNvSpPr txBox="1"/>
          <p:nvPr/>
        </p:nvSpPr>
        <p:spPr>
          <a:xfrm>
            <a:off x="731520" y="2633472"/>
            <a:ext cx="10515600" cy="731520"/>
          </a:xfrm>
          <a:prstGeom prst="rect">
            <a:avLst/>
          </a:prstGeom>
          <a:noFill/>
        </p:spPr>
        <p:txBody>
          <a:bodyPr wrap="square">
            <a:spAutoFit/>
          </a:bodyPr>
          <a:lstStyle/>
          <a:p>
            <a:pPr algn="l"/>
            <a:r>
              <a:rPr sz="1300" b="0" i="0">
                <a:solidFill>
                  <a:srgbClr val="737373"/>
                </a:solidFill>
                <a:latin typeface="Arial"/>
              </a:rPr>
              <a:t>Devolution Labs is built on a proprietary orchestration platform that functions as a complete AI operating system. Agents have roles, reporting lines, budgets, and goals. The system runs continuously, enforces governance, and keeps humans in full control.</a:t>
            </a:r>
          </a:p>
        </p:txBody>
      </p:sp>
      <p:sp>
        <p:nvSpPr>
          <p:cNvPr id="5" name="Rectangle 4"/>
          <p:cNvSpPr/>
          <p:nvPr/>
        </p:nvSpPr>
        <p:spPr>
          <a:xfrm>
            <a:off x="73152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520440"/>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611880"/>
            <a:ext cx="3474720" cy="228600"/>
          </a:xfrm>
          <a:prstGeom prst="rect">
            <a:avLst/>
          </a:prstGeom>
          <a:noFill/>
        </p:spPr>
        <p:txBody>
          <a:bodyPr wrap="square">
            <a:spAutoFit/>
          </a:bodyPr>
          <a:lstStyle/>
          <a:p>
            <a:pPr algn="l"/>
            <a:r>
              <a:rPr sz="900" b="1" i="0">
                <a:solidFill>
                  <a:srgbClr val="22D3EE"/>
                </a:solidFill>
                <a:latin typeface="Arial"/>
              </a:rPr>
              <a:t>PLATFORM FEATURE</a:t>
            </a:r>
          </a:p>
        </p:txBody>
      </p:sp>
      <p:sp>
        <p:nvSpPr>
          <p:cNvPr id="8" name="TextBox 7"/>
          <p:cNvSpPr txBox="1"/>
          <p:nvPr/>
        </p:nvSpPr>
        <p:spPr>
          <a:xfrm>
            <a:off x="868680" y="3867912"/>
            <a:ext cx="3474720" cy="347472"/>
          </a:xfrm>
          <a:prstGeom prst="rect">
            <a:avLst/>
          </a:prstGeom>
          <a:noFill/>
        </p:spPr>
        <p:txBody>
          <a:bodyPr wrap="square">
            <a:spAutoFit/>
          </a:bodyPr>
          <a:lstStyle/>
          <a:p>
            <a:pPr algn="l"/>
            <a:r>
              <a:rPr sz="1300" b="1" i="0">
                <a:solidFill>
                  <a:srgbClr val="FFFFFF"/>
                </a:solidFill>
                <a:latin typeface="Arial"/>
              </a:rPr>
              <a:t>Org Chart Architecture</a:t>
            </a:r>
          </a:p>
        </p:txBody>
      </p:sp>
      <p:sp>
        <p:nvSpPr>
          <p:cNvPr id="9" name="TextBox 8"/>
          <p:cNvSpPr txBox="1"/>
          <p:nvPr/>
        </p:nvSpPr>
        <p:spPr>
          <a:xfrm>
            <a:off x="868680" y="4270248"/>
            <a:ext cx="3474720" cy="548640"/>
          </a:xfrm>
          <a:prstGeom prst="rect">
            <a:avLst/>
          </a:prstGeom>
          <a:noFill/>
        </p:spPr>
        <p:txBody>
          <a:bodyPr wrap="square">
            <a:spAutoFit/>
          </a:bodyPr>
          <a:lstStyle/>
          <a:p>
            <a:pPr algn="l"/>
            <a:r>
              <a:rPr sz="1100" b="0" i="0">
                <a:solidFill>
                  <a:srgbClr val="737373"/>
                </a:solidFill>
                <a:latin typeface="Arial"/>
              </a:rPr>
              <a:t>Every agent has a role, reporting line, and budget. The hierarchy mirrors your organization exactly.</a:t>
            </a:r>
          </a:p>
        </p:txBody>
      </p:sp>
      <p:sp>
        <p:nvSpPr>
          <p:cNvPr id="10" name="Rectangle 9"/>
          <p:cNvSpPr/>
          <p:nvPr/>
        </p:nvSpPr>
        <p:spPr>
          <a:xfrm>
            <a:off x="452628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3520440"/>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611880"/>
            <a:ext cx="3474720" cy="228600"/>
          </a:xfrm>
          <a:prstGeom prst="rect">
            <a:avLst/>
          </a:prstGeom>
          <a:noFill/>
        </p:spPr>
        <p:txBody>
          <a:bodyPr wrap="square">
            <a:spAutoFit/>
          </a:bodyPr>
          <a:lstStyle/>
          <a:p>
            <a:pPr algn="l"/>
            <a:r>
              <a:rPr sz="900" b="1" i="0">
                <a:solidFill>
                  <a:srgbClr val="8B5CF6"/>
                </a:solidFill>
                <a:latin typeface="Arial"/>
              </a:rPr>
              <a:t>PLATFORM FEATURE</a:t>
            </a:r>
          </a:p>
        </p:txBody>
      </p:sp>
      <p:sp>
        <p:nvSpPr>
          <p:cNvPr id="13" name="TextBox 12"/>
          <p:cNvSpPr txBox="1"/>
          <p:nvPr/>
        </p:nvSpPr>
        <p:spPr>
          <a:xfrm>
            <a:off x="4663440" y="3867912"/>
            <a:ext cx="3474720" cy="347472"/>
          </a:xfrm>
          <a:prstGeom prst="rect">
            <a:avLst/>
          </a:prstGeom>
          <a:noFill/>
        </p:spPr>
        <p:txBody>
          <a:bodyPr wrap="square">
            <a:spAutoFit/>
          </a:bodyPr>
          <a:lstStyle/>
          <a:p>
            <a:pPr algn="l"/>
            <a:r>
              <a:rPr sz="1300" b="1" i="0">
                <a:solidFill>
                  <a:srgbClr val="FFFFFF"/>
                </a:solidFill>
                <a:latin typeface="Arial"/>
              </a:rPr>
              <a:t>Goal Alignment</a:t>
            </a:r>
          </a:p>
        </p:txBody>
      </p:sp>
      <p:sp>
        <p:nvSpPr>
          <p:cNvPr id="14" name="TextBox 13"/>
          <p:cNvSpPr txBox="1"/>
          <p:nvPr/>
        </p:nvSpPr>
        <p:spPr>
          <a:xfrm>
            <a:off x="4663440" y="4270248"/>
            <a:ext cx="3474720" cy="548640"/>
          </a:xfrm>
          <a:prstGeom prst="rect">
            <a:avLst/>
          </a:prstGeom>
          <a:noFill/>
        </p:spPr>
        <p:txBody>
          <a:bodyPr wrap="square">
            <a:spAutoFit/>
          </a:bodyPr>
          <a:lstStyle/>
          <a:p>
            <a:pPr algn="l"/>
            <a:r>
              <a:rPr sz="1100" b="0" i="0">
                <a:solidFill>
                  <a:srgbClr val="737373"/>
                </a:solidFill>
                <a:latin typeface="Arial"/>
              </a:rPr>
              <a:t>Every task traces back to the company mission. Agents understand what they are working on and why.</a:t>
            </a:r>
          </a:p>
        </p:txBody>
      </p:sp>
      <p:sp>
        <p:nvSpPr>
          <p:cNvPr id="15" name="Rectangle 14"/>
          <p:cNvSpPr/>
          <p:nvPr/>
        </p:nvSpPr>
        <p:spPr>
          <a:xfrm>
            <a:off x="832104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352044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3611880"/>
            <a:ext cx="3474720" cy="228600"/>
          </a:xfrm>
          <a:prstGeom prst="rect">
            <a:avLst/>
          </a:prstGeom>
          <a:noFill/>
        </p:spPr>
        <p:txBody>
          <a:bodyPr wrap="square">
            <a:spAutoFit/>
          </a:bodyPr>
          <a:lstStyle/>
          <a:p>
            <a:pPr algn="l"/>
            <a:r>
              <a:rPr sz="900" b="1" i="0">
                <a:solidFill>
                  <a:srgbClr val="3B82F6"/>
                </a:solidFill>
                <a:latin typeface="Arial"/>
              </a:rPr>
              <a:t>PLATFORM FEATURE</a:t>
            </a:r>
          </a:p>
        </p:txBody>
      </p:sp>
      <p:sp>
        <p:nvSpPr>
          <p:cNvPr id="18" name="TextBox 17"/>
          <p:cNvSpPr txBox="1"/>
          <p:nvPr/>
        </p:nvSpPr>
        <p:spPr>
          <a:xfrm>
            <a:off x="8458200" y="3867912"/>
            <a:ext cx="3474720" cy="347472"/>
          </a:xfrm>
          <a:prstGeom prst="rect">
            <a:avLst/>
          </a:prstGeom>
          <a:noFill/>
        </p:spPr>
        <p:txBody>
          <a:bodyPr wrap="square">
            <a:spAutoFit/>
          </a:bodyPr>
          <a:lstStyle/>
          <a:p>
            <a:pPr algn="l"/>
            <a:r>
              <a:rPr sz="1300" b="1" i="0">
                <a:solidFill>
                  <a:srgbClr val="FFFFFF"/>
                </a:solidFill>
                <a:latin typeface="Arial"/>
              </a:rPr>
              <a:t>Autonomous Scheduling</a:t>
            </a:r>
          </a:p>
        </p:txBody>
      </p:sp>
      <p:sp>
        <p:nvSpPr>
          <p:cNvPr id="19" name="TextBox 18"/>
          <p:cNvSpPr txBox="1"/>
          <p:nvPr/>
        </p:nvSpPr>
        <p:spPr>
          <a:xfrm>
            <a:off x="8458200" y="4270248"/>
            <a:ext cx="3474720" cy="548640"/>
          </a:xfrm>
          <a:prstGeom prst="rect">
            <a:avLst/>
          </a:prstGeom>
          <a:noFill/>
        </p:spPr>
        <p:txBody>
          <a:bodyPr wrap="square">
            <a:spAutoFit/>
          </a:bodyPr>
          <a:lstStyle/>
          <a:p>
            <a:pPr algn="l"/>
            <a:r>
              <a:rPr sz="1100" b="0" i="0">
                <a:solidFill>
                  <a:srgbClr val="737373"/>
                </a:solidFill>
                <a:latin typeface="Arial"/>
              </a:rPr>
              <a:t>Agents activate on a defined cadence and execute without instruction. Delegation flows automatically.</a:t>
            </a:r>
          </a:p>
        </p:txBody>
      </p:sp>
      <p:sp>
        <p:nvSpPr>
          <p:cNvPr id="20" name="Rectangle 19"/>
          <p:cNvSpPr/>
          <p:nvPr/>
        </p:nvSpPr>
        <p:spPr>
          <a:xfrm>
            <a:off x="73152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02920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120640"/>
            <a:ext cx="3474720" cy="228600"/>
          </a:xfrm>
          <a:prstGeom prst="rect">
            <a:avLst/>
          </a:prstGeom>
          <a:noFill/>
        </p:spPr>
        <p:txBody>
          <a:bodyPr wrap="square">
            <a:spAutoFit/>
          </a:bodyPr>
          <a:lstStyle/>
          <a:p>
            <a:pPr algn="l"/>
            <a:r>
              <a:rPr sz="900" b="1" i="0">
                <a:solidFill>
                  <a:srgbClr val="10B981"/>
                </a:solidFill>
                <a:latin typeface="Arial"/>
              </a:rPr>
              <a:t>PLATFORM FEATURE</a:t>
            </a:r>
          </a:p>
        </p:txBody>
      </p:sp>
      <p:sp>
        <p:nvSpPr>
          <p:cNvPr id="23" name="TextBox 22"/>
          <p:cNvSpPr txBox="1"/>
          <p:nvPr/>
        </p:nvSpPr>
        <p:spPr>
          <a:xfrm>
            <a:off x="868680" y="5376672"/>
            <a:ext cx="3474720" cy="347472"/>
          </a:xfrm>
          <a:prstGeom prst="rect">
            <a:avLst/>
          </a:prstGeom>
          <a:noFill/>
        </p:spPr>
        <p:txBody>
          <a:bodyPr wrap="square">
            <a:spAutoFit/>
          </a:bodyPr>
          <a:lstStyle/>
          <a:p>
            <a:pPr algn="l"/>
            <a:r>
              <a:rPr sz="1300" b="1" i="0">
                <a:solidFill>
                  <a:srgbClr val="FFFFFF"/>
                </a:solidFill>
                <a:latin typeface="Arial"/>
              </a:rPr>
              <a:t>Budget Enforcement</a:t>
            </a:r>
          </a:p>
        </p:txBody>
      </p:sp>
      <p:sp>
        <p:nvSpPr>
          <p:cNvPr id="24" name="TextBox 23"/>
          <p:cNvSpPr txBox="1"/>
          <p:nvPr/>
        </p:nvSpPr>
        <p:spPr>
          <a:xfrm>
            <a:off x="868680" y="5779008"/>
            <a:ext cx="3474720" cy="548640"/>
          </a:xfrm>
          <a:prstGeom prst="rect">
            <a:avLst/>
          </a:prstGeom>
          <a:noFill/>
        </p:spPr>
        <p:txBody>
          <a:bodyPr wrap="square">
            <a:spAutoFit/>
          </a:bodyPr>
          <a:lstStyle/>
          <a:p>
            <a:pPr algn="l"/>
            <a:r>
              <a:rPr sz="1100" b="0" i="0">
                <a:solidFill>
                  <a:srgbClr val="737373"/>
                </a:solidFill>
                <a:latin typeface="Arial"/>
              </a:rPr>
              <a:t>Monthly limits per agent. When an agent hits its limit it stops. No runaway costs.</a:t>
            </a:r>
          </a:p>
        </p:txBody>
      </p:sp>
      <p:sp>
        <p:nvSpPr>
          <p:cNvPr id="25" name="Rectangle 24"/>
          <p:cNvSpPr/>
          <p:nvPr/>
        </p:nvSpPr>
        <p:spPr>
          <a:xfrm>
            <a:off x="452628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502920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120640"/>
            <a:ext cx="3474720" cy="228600"/>
          </a:xfrm>
          <a:prstGeom prst="rect">
            <a:avLst/>
          </a:prstGeom>
          <a:noFill/>
        </p:spPr>
        <p:txBody>
          <a:bodyPr wrap="square">
            <a:spAutoFit/>
          </a:bodyPr>
          <a:lstStyle/>
          <a:p>
            <a:pPr algn="l"/>
            <a:r>
              <a:rPr sz="900" b="1" i="0">
                <a:solidFill>
                  <a:srgbClr val="F59E0B"/>
                </a:solidFill>
                <a:latin typeface="Arial"/>
              </a:rPr>
              <a:t>PLATFORM FEATURE</a:t>
            </a:r>
          </a:p>
        </p:txBody>
      </p:sp>
      <p:sp>
        <p:nvSpPr>
          <p:cNvPr id="28" name="TextBox 27"/>
          <p:cNvSpPr txBox="1"/>
          <p:nvPr/>
        </p:nvSpPr>
        <p:spPr>
          <a:xfrm>
            <a:off x="4663440" y="5376672"/>
            <a:ext cx="3474720" cy="347472"/>
          </a:xfrm>
          <a:prstGeom prst="rect">
            <a:avLst/>
          </a:prstGeom>
          <a:noFill/>
        </p:spPr>
        <p:txBody>
          <a:bodyPr wrap="square">
            <a:spAutoFit/>
          </a:bodyPr>
          <a:lstStyle/>
          <a:p>
            <a:pPr algn="l"/>
            <a:r>
              <a:rPr sz="1300" b="1" i="0">
                <a:solidFill>
                  <a:srgbClr val="FFFFFF"/>
                </a:solidFill>
                <a:latin typeface="Arial"/>
              </a:rPr>
              <a:t>Immutable Audit Log</a:t>
            </a:r>
          </a:p>
        </p:txBody>
      </p:sp>
      <p:sp>
        <p:nvSpPr>
          <p:cNvPr id="29" name="TextBox 28"/>
          <p:cNvSpPr txBox="1"/>
          <p:nvPr/>
        </p:nvSpPr>
        <p:spPr>
          <a:xfrm>
            <a:off x="4663440" y="5779008"/>
            <a:ext cx="3474720" cy="548640"/>
          </a:xfrm>
          <a:prstGeom prst="rect">
            <a:avLst/>
          </a:prstGeom>
          <a:noFill/>
        </p:spPr>
        <p:txBody>
          <a:bodyPr wrap="square">
            <a:spAutoFit/>
          </a:bodyPr>
          <a:lstStyle/>
          <a:p>
            <a:pPr algn="l"/>
            <a:r>
              <a:rPr sz="1100" b="0" i="0">
                <a:solidFill>
                  <a:srgbClr val="737373"/>
                </a:solidFill>
                <a:latin typeface="Arial"/>
              </a:rPr>
              <a:t>Every conversation, decision, and tool call is traced and logged. Full accountability at all times.</a:t>
            </a:r>
          </a:p>
        </p:txBody>
      </p:sp>
      <p:sp>
        <p:nvSpPr>
          <p:cNvPr id="30" name="Rectangle 29"/>
          <p:cNvSpPr/>
          <p:nvPr/>
        </p:nvSpPr>
        <p:spPr>
          <a:xfrm>
            <a:off x="832104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5029200"/>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120640"/>
            <a:ext cx="3474720" cy="228600"/>
          </a:xfrm>
          <a:prstGeom prst="rect">
            <a:avLst/>
          </a:prstGeom>
          <a:noFill/>
        </p:spPr>
        <p:txBody>
          <a:bodyPr wrap="square">
            <a:spAutoFit/>
          </a:bodyPr>
          <a:lstStyle/>
          <a:p>
            <a:pPr algn="l"/>
            <a:r>
              <a:rPr sz="900" b="1" i="0">
                <a:solidFill>
                  <a:srgbClr val="EC4899"/>
                </a:solidFill>
                <a:latin typeface="Arial"/>
              </a:rPr>
              <a:t>PLATFORM FEATURE</a:t>
            </a:r>
          </a:p>
        </p:txBody>
      </p:sp>
      <p:sp>
        <p:nvSpPr>
          <p:cNvPr id="33" name="TextBox 32"/>
          <p:cNvSpPr txBox="1"/>
          <p:nvPr/>
        </p:nvSpPr>
        <p:spPr>
          <a:xfrm>
            <a:off x="8458200" y="5376672"/>
            <a:ext cx="3474720" cy="347472"/>
          </a:xfrm>
          <a:prstGeom prst="rect">
            <a:avLst/>
          </a:prstGeom>
          <a:noFill/>
        </p:spPr>
        <p:txBody>
          <a:bodyPr wrap="square">
            <a:spAutoFit/>
          </a:bodyPr>
          <a:lstStyle/>
          <a:p>
            <a:pPr algn="l"/>
            <a:r>
              <a:rPr sz="1300" b="1" i="0">
                <a:solidFill>
                  <a:srgbClr val="FFFFFF"/>
                </a:solidFill>
                <a:latin typeface="Arial"/>
              </a:rPr>
              <a:t>Human Override at Any Level</a:t>
            </a:r>
          </a:p>
        </p:txBody>
      </p:sp>
      <p:sp>
        <p:nvSpPr>
          <p:cNvPr id="34" name="TextBox 33"/>
          <p:cNvSpPr txBox="1"/>
          <p:nvPr/>
        </p:nvSpPr>
        <p:spPr>
          <a:xfrm>
            <a:off x="8458200" y="5779008"/>
            <a:ext cx="3474720" cy="548640"/>
          </a:xfrm>
          <a:prstGeom prst="rect">
            <a:avLst/>
          </a:prstGeom>
          <a:noFill/>
        </p:spPr>
        <p:txBody>
          <a:bodyPr wrap="square">
            <a:spAutoFit/>
          </a:bodyPr>
          <a:lstStyle/>
          <a:p>
            <a:pPr algn="l"/>
            <a:r>
              <a:rPr sz="1100" b="0" i="0">
                <a:solidFill>
                  <a:srgbClr val="737373"/>
                </a:solidFill>
                <a:latin typeface="Arial"/>
              </a:rPr>
              <a:t>You are the board. Approve strategies, override decisions, pause or terminate any agent at any time.</a:t>
            </a:r>
          </a:p>
        </p:txBody>
      </p:sp>
      <p:sp>
        <p:nvSpPr>
          <p:cNvPr id="35" name="TextBox 3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ENGAGEMENT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Live in days.</a:t>
            </a:r>
          </a:p>
          <a:p>
            <a:r>
              <a:rPr sz="3800" b="1">
                <a:solidFill>
                  <a:srgbClr val="22D3EE"/>
                </a:solidFill>
                <a:latin typeface="Arial"/>
              </a:rPr>
              <a:t>Owned in 6 months.</a:t>
            </a:r>
          </a:p>
        </p:txBody>
      </p:sp>
      <p:sp>
        <p:nvSpPr>
          <p:cNvPr id="4" name="Rectangle 3"/>
          <p:cNvSpPr/>
          <p:nvPr/>
        </p:nvSpPr>
        <p:spPr>
          <a:xfrm>
            <a:off x="73152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74320"/>
          </a:xfrm>
          <a:prstGeom prst="rect">
            <a:avLst/>
          </a:prstGeom>
          <a:noFill/>
        </p:spPr>
        <p:txBody>
          <a:bodyPr wrap="square">
            <a:spAutoFit/>
          </a:bodyPr>
          <a:lstStyle/>
          <a:p>
            <a:pPr algn="l"/>
            <a:r>
              <a:rPr sz="1000" b="1" i="0">
                <a:solidFill>
                  <a:srgbClr val="22D3EE"/>
                </a:solidFill>
                <a:latin typeface="Arial"/>
              </a:rPr>
              <a:t>MONTH 1</a:t>
            </a:r>
          </a:p>
        </p:txBody>
      </p:sp>
      <p:sp>
        <p:nvSpPr>
          <p:cNvPr id="7" name="TextBox 6"/>
          <p:cNvSpPr txBox="1"/>
          <p:nvPr/>
        </p:nvSpPr>
        <p:spPr>
          <a:xfrm>
            <a:off x="914400" y="3108960"/>
            <a:ext cx="3200400" cy="411480"/>
          </a:xfrm>
          <a:prstGeom prst="rect">
            <a:avLst/>
          </a:prstGeom>
          <a:noFill/>
        </p:spPr>
        <p:txBody>
          <a:bodyPr wrap="square">
            <a:spAutoFit/>
          </a:bodyPr>
          <a:lstStyle/>
          <a:p>
            <a:pPr algn="l"/>
            <a:r>
              <a:rPr sz="1700" b="1" i="0">
                <a:solidFill>
                  <a:srgbClr val="FFFFFF"/>
                </a:solidFill>
                <a:latin typeface="Arial"/>
              </a:rPr>
              <a:t>Deploy and activate</a:t>
            </a:r>
          </a:p>
        </p:txBody>
      </p:sp>
      <p:sp>
        <p:nvSpPr>
          <p:cNvPr id="8" name="TextBox 7"/>
          <p:cNvSpPr txBox="1"/>
          <p:nvPr/>
        </p:nvSpPr>
        <p:spPr>
          <a:xfrm>
            <a:off x="914400" y="3639312"/>
            <a:ext cx="3200400" cy="1188720"/>
          </a:xfrm>
          <a:prstGeom prst="rect">
            <a:avLst/>
          </a:prstGeom>
          <a:noFill/>
        </p:spPr>
        <p:txBody>
          <a:bodyPr wrap="square">
            <a:spAutoFit/>
          </a:bodyPr>
          <a:lstStyle/>
          <a:p>
            <a:pPr algn="l"/>
            <a:r>
              <a:rPr sz="1200" b="0" i="0">
                <a:solidFill>
                  <a:srgbClr val="737373"/>
                </a:solidFill>
                <a:latin typeface="Arial"/>
              </a:rPr>
              <a:t>Discovery, scoping, build, and go-live. First agents operational. Initial results within the first 30 days.</a:t>
            </a:r>
          </a:p>
        </p:txBody>
      </p:sp>
      <p:sp>
        <p:nvSpPr>
          <p:cNvPr id="9" name="TextBox 8"/>
          <p:cNvSpPr txBox="1"/>
          <p:nvPr/>
        </p:nvSpPr>
        <p:spPr>
          <a:xfrm>
            <a:off x="914400" y="5394960"/>
            <a:ext cx="3200400" cy="411480"/>
          </a:xfrm>
          <a:prstGeom prst="rect">
            <a:avLst/>
          </a:prstGeom>
          <a:noFill/>
        </p:spPr>
        <p:txBody>
          <a:bodyPr wrap="square">
            <a:spAutoFit/>
          </a:bodyPr>
          <a:lstStyle/>
          <a:p>
            <a:pPr algn="l"/>
            <a:r>
              <a:rPr sz="1600" b="1" i="0">
                <a:solidFill>
                  <a:srgbClr val="22D3EE"/>
                </a:solidFill>
                <a:latin typeface="Arial"/>
              </a:rPr>
              <a:t>Live in 30 days</a:t>
            </a:r>
          </a:p>
        </p:txBody>
      </p:sp>
      <p:sp>
        <p:nvSpPr>
          <p:cNvPr id="10" name="Rectangle 9"/>
          <p:cNvSpPr/>
          <p:nvPr/>
        </p:nvSpPr>
        <p:spPr>
          <a:xfrm>
            <a:off x="452628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74320"/>
          </a:xfrm>
          <a:prstGeom prst="rect">
            <a:avLst/>
          </a:prstGeom>
          <a:noFill/>
        </p:spPr>
        <p:txBody>
          <a:bodyPr wrap="square">
            <a:spAutoFit/>
          </a:bodyPr>
          <a:lstStyle/>
          <a:p>
            <a:pPr algn="l"/>
            <a:r>
              <a:rPr sz="1000" b="1" i="0">
                <a:solidFill>
                  <a:srgbClr val="22D3EE"/>
                </a:solidFill>
                <a:latin typeface="Arial"/>
              </a:rPr>
              <a:t>MONTHS 2-4</a:t>
            </a:r>
          </a:p>
        </p:txBody>
      </p:sp>
      <p:sp>
        <p:nvSpPr>
          <p:cNvPr id="13" name="TextBox 12"/>
          <p:cNvSpPr txBox="1"/>
          <p:nvPr/>
        </p:nvSpPr>
        <p:spPr>
          <a:xfrm>
            <a:off x="4709160" y="3108960"/>
            <a:ext cx="3200400" cy="411480"/>
          </a:xfrm>
          <a:prstGeom prst="rect">
            <a:avLst/>
          </a:prstGeom>
          <a:noFill/>
        </p:spPr>
        <p:txBody>
          <a:bodyPr wrap="square">
            <a:spAutoFit/>
          </a:bodyPr>
          <a:lstStyle/>
          <a:p>
            <a:pPr algn="l"/>
            <a:r>
              <a:rPr sz="1700" b="1" i="0">
                <a:solidFill>
                  <a:srgbClr val="FFFFFF"/>
                </a:solidFill>
                <a:latin typeface="Arial"/>
              </a:rPr>
              <a:t>Scale and optimize</a:t>
            </a:r>
          </a:p>
        </p:txBody>
      </p:sp>
      <p:sp>
        <p:nvSpPr>
          <p:cNvPr id="14" name="TextBox 13"/>
          <p:cNvSpPr txBox="1"/>
          <p:nvPr/>
        </p:nvSpPr>
        <p:spPr>
          <a:xfrm>
            <a:off x="4709160" y="3639312"/>
            <a:ext cx="3200400" cy="1188720"/>
          </a:xfrm>
          <a:prstGeom prst="rect">
            <a:avLst/>
          </a:prstGeom>
          <a:noFill/>
        </p:spPr>
        <p:txBody>
          <a:bodyPr wrap="square">
            <a:spAutoFit/>
          </a:bodyPr>
          <a:lstStyle/>
          <a:p>
            <a:pPr algn="l"/>
            <a:r>
              <a:rPr sz="1200" b="0" i="0">
                <a:solidFill>
                  <a:srgbClr val="737373"/>
                </a:solidFill>
                <a:latin typeface="Arial"/>
              </a:rPr>
              <a:t>Additional agents deployed. System learns your data. Performance improves. Monthly reporting delivered.</a:t>
            </a:r>
          </a:p>
        </p:txBody>
      </p:sp>
      <p:sp>
        <p:nvSpPr>
          <p:cNvPr id="15" name="TextBox 14"/>
          <p:cNvSpPr txBox="1"/>
          <p:nvPr/>
        </p:nvSpPr>
        <p:spPr>
          <a:xfrm>
            <a:off x="4709160" y="5394960"/>
            <a:ext cx="3200400" cy="411480"/>
          </a:xfrm>
          <a:prstGeom prst="rect">
            <a:avLst/>
          </a:prstGeom>
          <a:noFill/>
        </p:spPr>
        <p:txBody>
          <a:bodyPr wrap="square">
            <a:spAutoFit/>
          </a:bodyPr>
          <a:lstStyle/>
          <a:p>
            <a:pPr algn="l"/>
            <a:r>
              <a:rPr sz="1600" b="1" i="0">
                <a:solidFill>
                  <a:srgbClr val="22D3EE"/>
                </a:solidFill>
                <a:latin typeface="Arial"/>
              </a:rPr>
              <a:t>Savings compound</a:t>
            </a:r>
          </a:p>
        </p:txBody>
      </p:sp>
      <p:sp>
        <p:nvSpPr>
          <p:cNvPr id="16" name="Rectangle 15"/>
          <p:cNvSpPr/>
          <p:nvPr/>
        </p:nvSpPr>
        <p:spPr>
          <a:xfrm>
            <a:off x="832104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74320"/>
          </a:xfrm>
          <a:prstGeom prst="rect">
            <a:avLst/>
          </a:prstGeom>
          <a:noFill/>
        </p:spPr>
        <p:txBody>
          <a:bodyPr wrap="square">
            <a:spAutoFit/>
          </a:bodyPr>
          <a:lstStyle/>
          <a:p>
            <a:pPr algn="l"/>
            <a:r>
              <a:rPr sz="1000" b="1" i="0">
                <a:solidFill>
                  <a:srgbClr val="22D3EE"/>
                </a:solidFill>
                <a:latin typeface="Arial"/>
              </a:rPr>
              <a:t>MONTH 5-6</a:t>
            </a:r>
          </a:p>
        </p:txBody>
      </p:sp>
      <p:sp>
        <p:nvSpPr>
          <p:cNvPr id="19" name="TextBox 18"/>
          <p:cNvSpPr txBox="1"/>
          <p:nvPr/>
        </p:nvSpPr>
        <p:spPr>
          <a:xfrm>
            <a:off x="8503920" y="3108960"/>
            <a:ext cx="3200400" cy="411480"/>
          </a:xfrm>
          <a:prstGeom prst="rect">
            <a:avLst/>
          </a:prstGeom>
          <a:noFill/>
        </p:spPr>
        <p:txBody>
          <a:bodyPr wrap="square">
            <a:spAutoFit/>
          </a:bodyPr>
          <a:lstStyle/>
          <a:p>
            <a:pPr algn="l"/>
            <a:r>
              <a:rPr sz="1700" b="1" i="0">
                <a:solidFill>
                  <a:srgbClr val="FFFFFF"/>
                </a:solidFill>
                <a:latin typeface="Arial"/>
              </a:rPr>
              <a:t>Own it outright</a:t>
            </a:r>
          </a:p>
        </p:txBody>
      </p:sp>
      <p:sp>
        <p:nvSpPr>
          <p:cNvPr id="20" name="TextBox 19"/>
          <p:cNvSpPr txBox="1"/>
          <p:nvPr/>
        </p:nvSpPr>
        <p:spPr>
          <a:xfrm>
            <a:off x="8503920" y="3639312"/>
            <a:ext cx="3200400" cy="1188720"/>
          </a:xfrm>
          <a:prstGeom prst="rect">
            <a:avLst/>
          </a:prstGeom>
          <a:noFill/>
        </p:spPr>
        <p:txBody>
          <a:bodyPr wrap="square">
            <a:spAutoFit/>
          </a:bodyPr>
          <a:lstStyle/>
          <a:p>
            <a:pPr algn="l"/>
            <a:r>
              <a:rPr sz="1200" b="0" i="0">
                <a:solidFill>
                  <a:srgbClr val="737373"/>
                </a:solidFill>
                <a:latin typeface="Arial"/>
              </a:rPr>
              <a:t>Full platform ownership available at any time. Ongoing support included. AI workforce runs indefinitely.</a:t>
            </a:r>
          </a:p>
        </p:txBody>
      </p:sp>
      <p:sp>
        <p:nvSpPr>
          <p:cNvPr id="21" name="TextBox 20"/>
          <p:cNvSpPr txBox="1"/>
          <p:nvPr/>
        </p:nvSpPr>
        <p:spPr>
          <a:xfrm>
            <a:off x="8503920" y="5394960"/>
            <a:ext cx="3200400" cy="411480"/>
          </a:xfrm>
          <a:prstGeom prst="rect">
            <a:avLst/>
          </a:prstGeom>
          <a:noFill/>
        </p:spPr>
        <p:txBody>
          <a:bodyPr wrap="square">
            <a:spAutoFit/>
          </a:bodyPr>
          <a:lstStyle/>
          <a:p>
            <a:pPr algn="l"/>
            <a:r>
              <a:rPr sz="1600" b="1" i="0">
                <a:solidFill>
                  <a:srgbClr val="22D3EE"/>
                </a:solidFill>
                <a:latin typeface="Arial"/>
              </a:rPr>
              <a:t>Own it at any time</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ENTERPRISE LOGISTICS</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UPS — Package Delivery</a:t>
            </a:r>
          </a:p>
          <a:p>
            <a:r>
              <a:rPr sz="3400" b="1">
                <a:solidFill>
                  <a:srgbClr val="22D3EE"/>
                </a:solidFill>
                <a:latin typeface="Arial"/>
              </a:rPr>
              <a:t>$1B+ annually at full US scale.</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Fortune 500  |  Logistics  |  500,000 employees  |  100 Districts  |  8 Regions</a:t>
            </a:r>
          </a:p>
        </p:txBody>
      </p:sp>
      <p:sp>
        <p:nvSpPr>
          <p:cNvPr id="6" name="Rectangle 5"/>
          <p:cNvSpPr/>
          <p:nvPr/>
        </p:nvSpPr>
        <p:spPr>
          <a:xfrm>
            <a:off x="731520" y="3291840"/>
            <a:ext cx="768096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310128"/>
            <a:ext cx="7680960" cy="256032"/>
          </a:xfrm>
          <a:prstGeom prst="rect">
            <a:avLst/>
          </a:prstGeom>
          <a:noFill/>
        </p:spPr>
        <p:txBody>
          <a:bodyPr wrap="square">
            <a:spAutoFit/>
          </a:bodyPr>
          <a:lstStyle/>
          <a:p>
            <a:pPr algn="l"/>
            <a:r>
              <a:rPr sz="1000" b="1" i="0">
                <a:solidFill>
                  <a:srgbClr val="373737"/>
                </a:solidFill>
                <a:latin typeface="Arial"/>
              </a:rPr>
              <a:t>Function</a:t>
            </a:r>
          </a:p>
        </p:txBody>
      </p:sp>
      <p:sp>
        <p:nvSpPr>
          <p:cNvPr id="8" name="Rectangle 7"/>
          <p:cNvSpPr/>
          <p:nvPr/>
        </p:nvSpPr>
        <p:spPr>
          <a:xfrm>
            <a:off x="8595360" y="3291840"/>
            <a:ext cx="320040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3310128"/>
            <a:ext cx="3200400" cy="256032"/>
          </a:xfrm>
          <a:prstGeom prst="rect">
            <a:avLst/>
          </a:prstGeom>
          <a:noFill/>
        </p:spPr>
        <p:txBody>
          <a:bodyPr wrap="square">
            <a:spAutoFit/>
          </a:bodyPr>
          <a:lstStyle/>
          <a:p>
            <a:pPr algn="l"/>
            <a:r>
              <a:rPr sz="1000" b="1" i="0">
                <a:solidFill>
                  <a:srgbClr val="373737"/>
                </a:solidFill>
                <a:latin typeface="Arial"/>
              </a:rPr>
              <a:t>6-Month Savings</a:t>
            </a:r>
          </a:p>
        </p:txBody>
      </p:sp>
      <p:sp>
        <p:nvSpPr>
          <p:cNvPr id="10" name="Rectangle 9"/>
          <p:cNvSpPr/>
          <p:nvPr/>
        </p:nvSpPr>
        <p:spPr>
          <a:xfrm>
            <a:off x="731520" y="3630168"/>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5360" y="3630168"/>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94176"/>
            <a:ext cx="7589520" cy="292608"/>
          </a:xfrm>
          <a:prstGeom prst="rect">
            <a:avLst/>
          </a:prstGeom>
          <a:noFill/>
        </p:spPr>
        <p:txBody>
          <a:bodyPr wrap="square">
            <a:spAutoFit/>
          </a:bodyPr>
          <a:lstStyle/>
          <a:p>
            <a:pPr algn="l"/>
            <a:r>
              <a:rPr sz="1000" b="0" i="0">
                <a:solidFill>
                  <a:srgbClr val="737373"/>
                </a:solidFill>
                <a:latin typeface="Arial"/>
              </a:rPr>
              <a:t>Operations Coordination (30-50 roles/district)</a:t>
            </a:r>
          </a:p>
        </p:txBody>
      </p:sp>
      <p:sp>
        <p:nvSpPr>
          <p:cNvPr id="13" name="TextBox 12"/>
          <p:cNvSpPr txBox="1"/>
          <p:nvPr/>
        </p:nvSpPr>
        <p:spPr>
          <a:xfrm>
            <a:off x="8686800" y="3694176"/>
            <a:ext cx="3108960" cy="292608"/>
          </a:xfrm>
          <a:prstGeom prst="rect">
            <a:avLst/>
          </a:prstGeom>
          <a:noFill/>
        </p:spPr>
        <p:txBody>
          <a:bodyPr wrap="square">
            <a:spAutoFit/>
          </a:bodyPr>
          <a:lstStyle/>
          <a:p>
            <a:pPr algn="l"/>
            <a:r>
              <a:rPr sz="1100" b="0" i="0">
                <a:solidFill>
                  <a:srgbClr val="22D3EE"/>
                </a:solidFill>
                <a:latin typeface="Arial"/>
              </a:rPr>
              <a:t>$1.6M-$2.7M</a:t>
            </a:r>
          </a:p>
        </p:txBody>
      </p:sp>
      <p:sp>
        <p:nvSpPr>
          <p:cNvPr id="14" name="Rectangle 13"/>
          <p:cNvSpPr/>
          <p:nvPr/>
        </p:nvSpPr>
        <p:spPr>
          <a:xfrm>
            <a:off x="731520" y="4069080"/>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4069080"/>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33088"/>
            <a:ext cx="7589520" cy="292608"/>
          </a:xfrm>
          <a:prstGeom prst="rect">
            <a:avLst/>
          </a:prstGeom>
          <a:noFill/>
        </p:spPr>
        <p:txBody>
          <a:bodyPr wrap="square">
            <a:spAutoFit/>
          </a:bodyPr>
          <a:lstStyle/>
          <a:p>
            <a:pPr algn="l"/>
            <a:r>
              <a:rPr sz="1000" b="0" i="0">
                <a:solidFill>
                  <a:srgbClr val="737373"/>
                </a:solidFill>
                <a:latin typeface="Arial"/>
              </a:rPr>
              <a:t>Reporting and Analytics (15-25 roles/district)</a:t>
            </a:r>
          </a:p>
        </p:txBody>
      </p:sp>
      <p:sp>
        <p:nvSpPr>
          <p:cNvPr id="17" name="TextBox 16"/>
          <p:cNvSpPr txBox="1"/>
          <p:nvPr/>
        </p:nvSpPr>
        <p:spPr>
          <a:xfrm>
            <a:off x="8686800" y="4133088"/>
            <a:ext cx="3108960" cy="292608"/>
          </a:xfrm>
          <a:prstGeom prst="rect">
            <a:avLst/>
          </a:prstGeom>
          <a:noFill/>
        </p:spPr>
        <p:txBody>
          <a:bodyPr wrap="square">
            <a:spAutoFit/>
          </a:bodyPr>
          <a:lstStyle/>
          <a:p>
            <a:pPr algn="l"/>
            <a:r>
              <a:rPr sz="1100" b="0" i="0">
                <a:solidFill>
                  <a:srgbClr val="22D3EE"/>
                </a:solidFill>
                <a:latin typeface="Arial"/>
              </a:rPr>
              <a:t>$800K-$1.35M</a:t>
            </a:r>
          </a:p>
        </p:txBody>
      </p:sp>
      <p:sp>
        <p:nvSpPr>
          <p:cNvPr id="18" name="Rectangle 17"/>
          <p:cNvSpPr/>
          <p:nvPr/>
        </p:nvSpPr>
        <p:spPr>
          <a:xfrm>
            <a:off x="731520" y="4507992"/>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95360" y="4507992"/>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572000"/>
            <a:ext cx="7589520" cy="292608"/>
          </a:xfrm>
          <a:prstGeom prst="rect">
            <a:avLst/>
          </a:prstGeom>
          <a:noFill/>
        </p:spPr>
        <p:txBody>
          <a:bodyPr wrap="square">
            <a:spAutoFit/>
          </a:bodyPr>
          <a:lstStyle/>
          <a:p>
            <a:pPr algn="l"/>
            <a:r>
              <a:rPr sz="1000" b="0" i="0">
                <a:solidFill>
                  <a:srgbClr val="737373"/>
                </a:solidFill>
                <a:latin typeface="Arial"/>
              </a:rPr>
              <a:t>Customer Communications (40-70 roles/district)</a:t>
            </a:r>
          </a:p>
        </p:txBody>
      </p:sp>
      <p:sp>
        <p:nvSpPr>
          <p:cNvPr id="21" name="TextBox 20"/>
          <p:cNvSpPr txBox="1"/>
          <p:nvPr/>
        </p:nvSpPr>
        <p:spPr>
          <a:xfrm>
            <a:off x="8686800" y="4572000"/>
            <a:ext cx="3108960" cy="292608"/>
          </a:xfrm>
          <a:prstGeom prst="rect">
            <a:avLst/>
          </a:prstGeom>
          <a:noFill/>
        </p:spPr>
        <p:txBody>
          <a:bodyPr wrap="square">
            <a:spAutoFit/>
          </a:bodyPr>
          <a:lstStyle/>
          <a:p>
            <a:pPr algn="l"/>
            <a:r>
              <a:rPr sz="1100" b="0" i="0">
                <a:solidFill>
                  <a:srgbClr val="22D3EE"/>
                </a:solidFill>
                <a:latin typeface="Arial"/>
              </a:rPr>
              <a:t>$1.7M-$3.0M</a:t>
            </a:r>
          </a:p>
        </p:txBody>
      </p:sp>
      <p:sp>
        <p:nvSpPr>
          <p:cNvPr id="22" name="Rectangle 21"/>
          <p:cNvSpPr/>
          <p:nvPr/>
        </p:nvSpPr>
        <p:spPr>
          <a:xfrm>
            <a:off x="731520" y="4946904"/>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0" y="4946904"/>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10912"/>
            <a:ext cx="7589520" cy="292608"/>
          </a:xfrm>
          <a:prstGeom prst="rect">
            <a:avLst/>
          </a:prstGeom>
          <a:noFill/>
        </p:spPr>
        <p:txBody>
          <a:bodyPr wrap="square">
            <a:spAutoFit/>
          </a:bodyPr>
          <a:lstStyle/>
          <a:p>
            <a:pPr algn="l"/>
            <a:r>
              <a:rPr sz="1000" b="0" i="0">
                <a:solidFill>
                  <a:srgbClr val="737373"/>
                </a:solidFill>
                <a:latin typeface="Arial"/>
              </a:rPr>
              <a:t>Vendor and Scheduling (20-35 roles/district)</a:t>
            </a:r>
          </a:p>
        </p:txBody>
      </p:sp>
      <p:sp>
        <p:nvSpPr>
          <p:cNvPr id="25" name="TextBox 24"/>
          <p:cNvSpPr txBox="1"/>
          <p:nvPr/>
        </p:nvSpPr>
        <p:spPr>
          <a:xfrm>
            <a:off x="8686800" y="5010912"/>
            <a:ext cx="3108960" cy="292608"/>
          </a:xfrm>
          <a:prstGeom prst="rect">
            <a:avLst/>
          </a:prstGeom>
          <a:noFill/>
        </p:spPr>
        <p:txBody>
          <a:bodyPr wrap="square">
            <a:spAutoFit/>
          </a:bodyPr>
          <a:lstStyle/>
          <a:p>
            <a:pPr algn="l"/>
            <a:r>
              <a:rPr sz="1100" b="0" i="0">
                <a:solidFill>
                  <a:srgbClr val="22D3EE"/>
                </a:solidFill>
                <a:latin typeface="Arial"/>
              </a:rPr>
              <a:t>$850K-$1.5M</a:t>
            </a:r>
          </a:p>
        </p:txBody>
      </p:sp>
      <p:sp>
        <p:nvSpPr>
          <p:cNvPr id="26" name="Rectangle 25"/>
          <p:cNvSpPr/>
          <p:nvPr/>
        </p:nvSpPr>
        <p:spPr>
          <a:xfrm>
            <a:off x="731520" y="5385816"/>
            <a:ext cx="768096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95360" y="5385816"/>
            <a:ext cx="320040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49824"/>
            <a:ext cx="7589520" cy="292608"/>
          </a:xfrm>
          <a:prstGeom prst="rect">
            <a:avLst/>
          </a:prstGeom>
          <a:noFill/>
        </p:spPr>
        <p:txBody>
          <a:bodyPr wrap="square">
            <a:spAutoFit/>
          </a:bodyPr>
          <a:lstStyle/>
          <a:p>
            <a:pPr algn="l"/>
            <a:r>
              <a:rPr sz="1100" b="1" i="0">
                <a:solidFill>
                  <a:srgbClr val="FFFFFF"/>
                </a:solidFill>
                <a:latin typeface="Arial"/>
              </a:rPr>
              <a:t>DISTRICT TOTAL (105-180 roles)</a:t>
            </a:r>
          </a:p>
        </p:txBody>
      </p:sp>
      <p:sp>
        <p:nvSpPr>
          <p:cNvPr id="29" name="TextBox 28"/>
          <p:cNvSpPr txBox="1"/>
          <p:nvPr/>
        </p:nvSpPr>
        <p:spPr>
          <a:xfrm>
            <a:off x="8686800" y="5449824"/>
            <a:ext cx="3108960" cy="292608"/>
          </a:xfrm>
          <a:prstGeom prst="rect">
            <a:avLst/>
          </a:prstGeom>
          <a:noFill/>
        </p:spPr>
        <p:txBody>
          <a:bodyPr wrap="square">
            <a:spAutoFit/>
          </a:bodyPr>
          <a:lstStyle/>
          <a:p>
            <a:pPr algn="l"/>
            <a:r>
              <a:rPr sz="1200" b="1" i="0">
                <a:solidFill>
                  <a:srgbClr val="22D3EE"/>
                </a:solidFill>
                <a:latin typeface="Arial"/>
              </a:rPr>
              <a:t>$4.95M-$8.55M</a:t>
            </a:r>
          </a:p>
        </p:txBody>
      </p:sp>
      <p:sp>
        <p:nvSpPr>
          <p:cNvPr id="30" name="TextBox 29"/>
          <p:cNvSpPr txBox="1"/>
          <p:nvPr/>
        </p:nvSpPr>
        <p:spPr>
          <a:xfrm>
            <a:off x="731520" y="5897880"/>
            <a:ext cx="10515600" cy="320040"/>
          </a:xfrm>
          <a:prstGeom prst="rect">
            <a:avLst/>
          </a:prstGeom>
          <a:noFill/>
        </p:spPr>
        <p:txBody>
          <a:bodyPr wrap="square">
            <a:spAutoFit/>
          </a:bodyPr>
          <a:lstStyle/>
          <a:p>
            <a:pPr algn="l"/>
            <a:r>
              <a:rPr sz="1100" b="0" i="0">
                <a:solidFill>
                  <a:srgbClr val="373737"/>
                </a:solidFill>
                <a:latin typeface="Arial"/>
              </a:rPr>
              <a:t>Deployment cost: $400K-$600K   |   Payback: 60-75 days   |   Full US: $1B-$2B annually</a:t>
            </a:r>
          </a:p>
        </p:txBody>
      </p:sp>
      <p:sp>
        <p:nvSpPr>
          <p:cNvPr id="31" name="TextBox 3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AUTOMOTIVE RETAIL</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Automotive Dealerships</a:t>
            </a:r>
          </a:p>
          <a:p>
            <a:r>
              <a:rPr sz="3400" b="1">
                <a:solidFill>
                  <a:srgbClr val="22D3EE"/>
                </a:solidFill>
                <a:latin typeface="Arial"/>
              </a:rPr>
              <a:t>$554K-$960K over 6 months.</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Dealership  |  Long Island, NY  |  Content, SEO, Leads, Service, Finance</a:t>
            </a:r>
          </a:p>
        </p:txBody>
      </p:sp>
      <p:sp>
        <p:nvSpPr>
          <p:cNvPr id="6" name="Rectangle 5"/>
          <p:cNvSpPr/>
          <p:nvPr/>
        </p:nvSpPr>
        <p:spPr>
          <a:xfrm>
            <a:off x="73152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310128"/>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29000"/>
            <a:ext cx="4937760" cy="365760"/>
          </a:xfrm>
          <a:prstGeom prst="rect">
            <a:avLst/>
          </a:prstGeom>
          <a:noFill/>
        </p:spPr>
        <p:txBody>
          <a:bodyPr wrap="square">
            <a:spAutoFit/>
          </a:bodyPr>
          <a:lstStyle/>
          <a:p>
            <a:pPr algn="l"/>
            <a:r>
              <a:rPr sz="1400" b="1" i="0">
                <a:solidFill>
                  <a:srgbClr val="FFFFFF"/>
                </a:solidFill>
                <a:latin typeface="Arial"/>
              </a:rPr>
              <a:t>Lead Generation Agent</a:t>
            </a:r>
          </a:p>
        </p:txBody>
      </p:sp>
      <p:sp>
        <p:nvSpPr>
          <p:cNvPr id="9" name="TextBox 8"/>
          <p:cNvSpPr txBox="1"/>
          <p:nvPr/>
        </p:nvSpPr>
        <p:spPr>
          <a:xfrm>
            <a:off x="914400" y="3877056"/>
            <a:ext cx="4937760" cy="731520"/>
          </a:xfrm>
          <a:prstGeom prst="rect">
            <a:avLst/>
          </a:prstGeom>
          <a:noFill/>
        </p:spPr>
        <p:txBody>
          <a:bodyPr wrap="square">
            <a:spAutoFit/>
          </a:bodyPr>
          <a:lstStyle/>
          <a:p>
            <a:pPr algn="l"/>
            <a:r>
              <a:rPr sz="1200" b="0" i="0">
                <a:solidFill>
                  <a:srgbClr val="737373"/>
                </a:solidFill>
                <a:latin typeface="Arial"/>
              </a:rPr>
              <a:t>150-250 qualified leads/month. Actively finds in-market buyers. Adds 8-15 extra units sold per month.</a:t>
            </a:r>
          </a:p>
        </p:txBody>
      </p:sp>
      <p:sp>
        <p:nvSpPr>
          <p:cNvPr id="10" name="Rectangle 9"/>
          <p:cNvSpPr/>
          <p:nvPr/>
        </p:nvSpPr>
        <p:spPr>
          <a:xfrm>
            <a:off x="640080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310128"/>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429000"/>
            <a:ext cx="4937760" cy="365760"/>
          </a:xfrm>
          <a:prstGeom prst="rect">
            <a:avLst/>
          </a:prstGeom>
          <a:noFill/>
        </p:spPr>
        <p:txBody>
          <a:bodyPr wrap="square">
            <a:spAutoFit/>
          </a:bodyPr>
          <a:lstStyle/>
          <a:p>
            <a:pPr algn="l"/>
            <a:r>
              <a:rPr sz="1400" b="1" i="0">
                <a:solidFill>
                  <a:srgbClr val="FFFFFF"/>
                </a:solidFill>
                <a:latin typeface="Arial"/>
              </a:rPr>
              <a:t>SEO + Content Agent</a:t>
            </a:r>
          </a:p>
        </p:txBody>
      </p:sp>
      <p:sp>
        <p:nvSpPr>
          <p:cNvPr id="13" name="TextBox 12"/>
          <p:cNvSpPr txBox="1"/>
          <p:nvPr/>
        </p:nvSpPr>
        <p:spPr>
          <a:xfrm>
            <a:off x="6583680" y="3877056"/>
            <a:ext cx="4937760" cy="731520"/>
          </a:xfrm>
          <a:prstGeom prst="rect">
            <a:avLst/>
          </a:prstGeom>
          <a:noFill/>
        </p:spPr>
        <p:txBody>
          <a:bodyPr wrap="square">
            <a:spAutoFit/>
          </a:bodyPr>
          <a:lstStyle/>
          <a:p>
            <a:pPr algn="l"/>
            <a:r>
              <a:rPr sz="1200" b="0" i="0">
                <a:solidFill>
                  <a:srgbClr val="737373"/>
                </a:solidFill>
                <a:latin typeface="Arial"/>
              </a:rPr>
              <a:t>Replaces $3K-$6K/mo agency spend. Publishes daily content, manages all social channels, tracks rankings.</a:t>
            </a:r>
          </a:p>
        </p:txBody>
      </p:sp>
      <p:sp>
        <p:nvSpPr>
          <p:cNvPr id="14" name="Rectangle 13"/>
          <p:cNvSpPr/>
          <p:nvPr/>
        </p:nvSpPr>
        <p:spPr>
          <a:xfrm>
            <a:off x="73152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882896"/>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01768"/>
            <a:ext cx="4937760" cy="365760"/>
          </a:xfrm>
          <a:prstGeom prst="rect">
            <a:avLst/>
          </a:prstGeom>
          <a:noFill/>
        </p:spPr>
        <p:txBody>
          <a:bodyPr wrap="square">
            <a:spAutoFit/>
          </a:bodyPr>
          <a:lstStyle/>
          <a:p>
            <a:pPr algn="l"/>
            <a:r>
              <a:rPr sz="1400" b="1" i="0">
                <a:solidFill>
                  <a:srgbClr val="FFFFFF"/>
                </a:solidFill>
                <a:latin typeface="Arial"/>
              </a:rPr>
              <a:t>Lead Response Agent</a:t>
            </a:r>
          </a:p>
        </p:txBody>
      </p:sp>
      <p:sp>
        <p:nvSpPr>
          <p:cNvPr id="17" name="TextBox 16"/>
          <p:cNvSpPr txBox="1"/>
          <p:nvPr/>
        </p:nvSpPr>
        <p:spPr>
          <a:xfrm>
            <a:off x="914400" y="5449824"/>
            <a:ext cx="4937760" cy="731520"/>
          </a:xfrm>
          <a:prstGeom prst="rect">
            <a:avLst/>
          </a:prstGeom>
          <a:noFill/>
        </p:spPr>
        <p:txBody>
          <a:bodyPr wrap="square">
            <a:spAutoFit/>
          </a:bodyPr>
          <a:lstStyle/>
          <a:p>
            <a:pPr algn="l"/>
            <a:r>
              <a:rPr sz="1200" b="0" i="0">
                <a:solidFill>
                  <a:srgbClr val="737373"/>
                </a:solidFill>
                <a:latin typeface="Arial"/>
              </a:rPr>
              <a:t>Every lead answered in seconds, 24/7. Qualifies, books test drives, hands off when buyer is ready.</a:t>
            </a:r>
          </a:p>
        </p:txBody>
      </p:sp>
      <p:sp>
        <p:nvSpPr>
          <p:cNvPr id="18" name="Rectangle 17"/>
          <p:cNvSpPr/>
          <p:nvPr/>
        </p:nvSpPr>
        <p:spPr>
          <a:xfrm>
            <a:off x="640080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882896"/>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001768"/>
            <a:ext cx="4937760" cy="365760"/>
          </a:xfrm>
          <a:prstGeom prst="rect">
            <a:avLst/>
          </a:prstGeom>
          <a:noFill/>
        </p:spPr>
        <p:txBody>
          <a:bodyPr wrap="square">
            <a:spAutoFit/>
          </a:bodyPr>
          <a:lstStyle/>
          <a:p>
            <a:pPr algn="l"/>
            <a:r>
              <a:rPr sz="1400" b="1" i="0">
                <a:solidFill>
                  <a:srgbClr val="FFFFFF"/>
                </a:solidFill>
                <a:latin typeface="Arial"/>
              </a:rPr>
              <a:t>Service + Retention Agent</a:t>
            </a:r>
          </a:p>
        </p:txBody>
      </p:sp>
      <p:sp>
        <p:nvSpPr>
          <p:cNvPr id="21" name="TextBox 20"/>
          <p:cNvSpPr txBox="1"/>
          <p:nvPr/>
        </p:nvSpPr>
        <p:spPr>
          <a:xfrm>
            <a:off x="6583680" y="5449824"/>
            <a:ext cx="4937760" cy="731520"/>
          </a:xfrm>
          <a:prstGeom prst="rect">
            <a:avLst/>
          </a:prstGeom>
          <a:noFill/>
        </p:spPr>
        <p:txBody>
          <a:bodyPr wrap="square">
            <a:spAutoFit/>
          </a:bodyPr>
          <a:lstStyle/>
          <a:p>
            <a:pPr algn="l"/>
            <a:r>
              <a:rPr sz="1200" b="0" i="0">
                <a:solidFill>
                  <a:srgbClr val="737373"/>
                </a:solidFill>
                <a:latin typeface="Arial"/>
              </a:rPr>
              <a:t>Service revenue recaptured. Automated reminders, appointments, and lease-end outreach.</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MARKET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Every industry.</a:t>
            </a:r>
          </a:p>
          <a:p>
            <a:r>
              <a:rPr sz="3800" b="1">
                <a:solidFill>
                  <a:srgbClr val="22D3EE"/>
                </a:solidFill>
                <a:latin typeface="Arial"/>
              </a:rPr>
              <a:t>Every function.</a:t>
            </a:r>
          </a:p>
        </p:txBody>
      </p:sp>
      <p:sp>
        <p:nvSpPr>
          <p:cNvPr id="4" name="Rectangle 3"/>
          <p:cNvSpPr/>
          <p:nvPr/>
        </p:nvSpPr>
        <p:spPr>
          <a:xfrm>
            <a:off x="73152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383280" cy="292608"/>
          </a:xfrm>
          <a:prstGeom prst="rect">
            <a:avLst/>
          </a:prstGeom>
          <a:noFill/>
        </p:spPr>
        <p:txBody>
          <a:bodyPr wrap="square">
            <a:spAutoFit/>
          </a:bodyPr>
          <a:lstStyle/>
          <a:p>
            <a:pPr algn="l"/>
            <a:r>
              <a:rPr sz="1300" b="1" i="0">
                <a:solidFill>
                  <a:srgbClr val="FFFFFF"/>
                </a:solidFill>
                <a:latin typeface="Arial"/>
              </a:rPr>
              <a:t>Logistics + Supply Chain</a:t>
            </a:r>
          </a:p>
        </p:txBody>
      </p:sp>
      <p:sp>
        <p:nvSpPr>
          <p:cNvPr id="7" name="TextBox 6"/>
          <p:cNvSpPr txBox="1"/>
          <p:nvPr/>
        </p:nvSpPr>
        <p:spPr>
          <a:xfrm>
            <a:off x="868680" y="3054096"/>
            <a:ext cx="3383280" cy="256032"/>
          </a:xfrm>
          <a:prstGeom prst="rect">
            <a:avLst/>
          </a:prstGeom>
          <a:noFill/>
        </p:spPr>
        <p:txBody>
          <a:bodyPr wrap="square">
            <a:spAutoFit/>
          </a:bodyPr>
          <a:lstStyle/>
          <a:p>
            <a:pPr algn="l"/>
            <a:r>
              <a:rPr sz="1100" b="0" i="0">
                <a:solidFill>
                  <a:srgbClr val="22D3EE"/>
                </a:solidFill>
                <a:latin typeface="Arial"/>
              </a:rPr>
              <a:t>UPS, FedEx, Amazon</a:t>
            </a:r>
          </a:p>
        </p:txBody>
      </p:sp>
      <p:sp>
        <p:nvSpPr>
          <p:cNvPr id="8" name="TextBox 7"/>
          <p:cNvSpPr txBox="1"/>
          <p:nvPr/>
        </p:nvSpPr>
        <p:spPr>
          <a:xfrm>
            <a:off x="868680" y="3383280"/>
            <a:ext cx="3383280" cy="822960"/>
          </a:xfrm>
          <a:prstGeom prst="rect">
            <a:avLst/>
          </a:prstGeom>
          <a:noFill/>
        </p:spPr>
        <p:txBody>
          <a:bodyPr wrap="square">
            <a:spAutoFit/>
          </a:bodyPr>
          <a:lstStyle/>
          <a:p>
            <a:pPr algn="l"/>
            <a:r>
              <a:rPr sz="1100" b="0" i="0">
                <a:solidFill>
                  <a:srgbClr val="737373"/>
                </a:solidFill>
                <a:latin typeface="Arial"/>
              </a:rPr>
              <a:t>$500M-$3B annual savings potential at Fortune 500 scale.</a:t>
            </a:r>
          </a:p>
        </p:txBody>
      </p:sp>
      <p:sp>
        <p:nvSpPr>
          <p:cNvPr id="9" name="Rectangle 8"/>
          <p:cNvSpPr/>
          <p:nvPr/>
        </p:nvSpPr>
        <p:spPr>
          <a:xfrm>
            <a:off x="452628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383280" cy="292608"/>
          </a:xfrm>
          <a:prstGeom prst="rect">
            <a:avLst/>
          </a:prstGeom>
          <a:noFill/>
        </p:spPr>
        <p:txBody>
          <a:bodyPr wrap="square">
            <a:spAutoFit/>
          </a:bodyPr>
          <a:lstStyle/>
          <a:p>
            <a:pPr algn="l"/>
            <a:r>
              <a:rPr sz="1300" b="1" i="0">
                <a:solidFill>
                  <a:srgbClr val="FFFFFF"/>
                </a:solidFill>
                <a:latin typeface="Arial"/>
              </a:rPr>
              <a:t>Automotive Retail</a:t>
            </a:r>
          </a:p>
        </p:txBody>
      </p:sp>
      <p:sp>
        <p:nvSpPr>
          <p:cNvPr id="12" name="TextBox 11"/>
          <p:cNvSpPr txBox="1"/>
          <p:nvPr/>
        </p:nvSpPr>
        <p:spPr>
          <a:xfrm>
            <a:off x="4663440" y="3054096"/>
            <a:ext cx="3383280" cy="256032"/>
          </a:xfrm>
          <a:prstGeom prst="rect">
            <a:avLst/>
          </a:prstGeom>
          <a:noFill/>
        </p:spPr>
        <p:txBody>
          <a:bodyPr wrap="square">
            <a:spAutoFit/>
          </a:bodyPr>
          <a:lstStyle/>
          <a:p>
            <a:pPr algn="l"/>
            <a:r>
              <a:rPr sz="1100" b="0" i="0">
                <a:solidFill>
                  <a:srgbClr val="8B5CF6"/>
                </a:solidFill>
                <a:latin typeface="Arial"/>
              </a:rPr>
              <a:t>Single Dealers to Groups</a:t>
            </a:r>
          </a:p>
        </p:txBody>
      </p:sp>
      <p:sp>
        <p:nvSpPr>
          <p:cNvPr id="13" name="TextBox 12"/>
          <p:cNvSpPr txBox="1"/>
          <p:nvPr/>
        </p:nvSpPr>
        <p:spPr>
          <a:xfrm>
            <a:off x="4663440" y="3383280"/>
            <a:ext cx="3383280" cy="822960"/>
          </a:xfrm>
          <a:prstGeom prst="rect">
            <a:avLst/>
          </a:prstGeom>
          <a:noFill/>
        </p:spPr>
        <p:txBody>
          <a:bodyPr wrap="square">
            <a:spAutoFit/>
          </a:bodyPr>
          <a:lstStyle/>
          <a:p>
            <a:pPr algn="l"/>
            <a:r>
              <a:rPr sz="1100" b="0" i="0">
                <a:solidFill>
                  <a:srgbClr val="737373"/>
                </a:solidFill>
                <a:latin typeface="Arial"/>
              </a:rPr>
              <a:t>$400K-$2M per location. Scales with dealer group size.</a:t>
            </a:r>
          </a:p>
        </p:txBody>
      </p:sp>
      <p:sp>
        <p:nvSpPr>
          <p:cNvPr id="14" name="Rectangle 13"/>
          <p:cNvSpPr/>
          <p:nvPr/>
        </p:nvSpPr>
        <p:spPr>
          <a:xfrm>
            <a:off x="832104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383280" cy="292608"/>
          </a:xfrm>
          <a:prstGeom prst="rect">
            <a:avLst/>
          </a:prstGeom>
          <a:noFill/>
        </p:spPr>
        <p:txBody>
          <a:bodyPr wrap="square">
            <a:spAutoFit/>
          </a:bodyPr>
          <a:lstStyle/>
          <a:p>
            <a:pPr algn="l"/>
            <a:r>
              <a:rPr sz="1300" b="1" i="0">
                <a:solidFill>
                  <a:srgbClr val="FFFFFF"/>
                </a:solidFill>
                <a:latin typeface="Arial"/>
              </a:rPr>
              <a:t>Financial Services</a:t>
            </a:r>
          </a:p>
        </p:txBody>
      </p:sp>
      <p:sp>
        <p:nvSpPr>
          <p:cNvPr id="17" name="TextBox 16"/>
          <p:cNvSpPr txBox="1"/>
          <p:nvPr/>
        </p:nvSpPr>
        <p:spPr>
          <a:xfrm>
            <a:off x="8458200" y="3054096"/>
            <a:ext cx="3383280" cy="256032"/>
          </a:xfrm>
          <a:prstGeom prst="rect">
            <a:avLst/>
          </a:prstGeom>
          <a:noFill/>
        </p:spPr>
        <p:txBody>
          <a:bodyPr wrap="square">
            <a:spAutoFit/>
          </a:bodyPr>
          <a:lstStyle/>
          <a:p>
            <a:pPr algn="l"/>
            <a:r>
              <a:rPr sz="1100" b="0" i="0">
                <a:solidFill>
                  <a:srgbClr val="3B82F6"/>
                </a:solidFill>
                <a:latin typeface="Arial"/>
              </a:rPr>
              <a:t>Banks, Insurance, PE</a:t>
            </a:r>
          </a:p>
        </p:txBody>
      </p:sp>
      <p:sp>
        <p:nvSpPr>
          <p:cNvPr id="18" name="TextBox 17"/>
          <p:cNvSpPr txBox="1"/>
          <p:nvPr/>
        </p:nvSpPr>
        <p:spPr>
          <a:xfrm>
            <a:off x="8458200" y="3383280"/>
            <a:ext cx="3383280" cy="822960"/>
          </a:xfrm>
          <a:prstGeom prst="rect">
            <a:avLst/>
          </a:prstGeom>
          <a:noFill/>
        </p:spPr>
        <p:txBody>
          <a:bodyPr wrap="square">
            <a:spAutoFit/>
          </a:bodyPr>
          <a:lstStyle/>
          <a:p>
            <a:pPr algn="l"/>
            <a:r>
              <a:rPr sz="1100" b="0" i="0">
                <a:solidFill>
                  <a:srgbClr val="737373"/>
                </a:solidFill>
                <a:latin typeface="Arial"/>
              </a:rPr>
              <a:t>Reporting, compliance, client communications. Massive headcount in functions fully automatable.</a:t>
            </a:r>
          </a:p>
        </p:txBody>
      </p:sp>
      <p:sp>
        <p:nvSpPr>
          <p:cNvPr id="19" name="Rectangle 18"/>
          <p:cNvSpPr/>
          <p:nvPr/>
        </p:nvSpPr>
        <p:spPr>
          <a:xfrm>
            <a:off x="73152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46227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53712"/>
            <a:ext cx="3383280" cy="292608"/>
          </a:xfrm>
          <a:prstGeom prst="rect">
            <a:avLst/>
          </a:prstGeom>
          <a:noFill/>
        </p:spPr>
        <p:txBody>
          <a:bodyPr wrap="square">
            <a:spAutoFit/>
          </a:bodyPr>
          <a:lstStyle/>
          <a:p>
            <a:pPr algn="l"/>
            <a:r>
              <a:rPr sz="1300" b="1" i="0">
                <a:solidFill>
                  <a:srgbClr val="FFFFFF"/>
                </a:solidFill>
                <a:latin typeface="Arial"/>
              </a:rPr>
              <a:t>Healthcare + Operations</a:t>
            </a:r>
          </a:p>
        </p:txBody>
      </p:sp>
      <p:sp>
        <p:nvSpPr>
          <p:cNvPr id="22" name="TextBox 21"/>
          <p:cNvSpPr txBox="1"/>
          <p:nvPr/>
        </p:nvSpPr>
        <p:spPr>
          <a:xfrm>
            <a:off x="868680" y="4882896"/>
            <a:ext cx="3383280" cy="256032"/>
          </a:xfrm>
          <a:prstGeom prst="rect">
            <a:avLst/>
          </a:prstGeom>
          <a:noFill/>
        </p:spPr>
        <p:txBody>
          <a:bodyPr wrap="square">
            <a:spAutoFit/>
          </a:bodyPr>
          <a:lstStyle/>
          <a:p>
            <a:pPr algn="l"/>
            <a:r>
              <a:rPr sz="1100" b="0" i="0">
                <a:solidFill>
                  <a:srgbClr val="10B981"/>
                </a:solidFill>
                <a:latin typeface="Arial"/>
              </a:rPr>
              <a:t>Hospitals, Clinics, Networks</a:t>
            </a:r>
          </a:p>
        </p:txBody>
      </p:sp>
      <p:sp>
        <p:nvSpPr>
          <p:cNvPr id="23" name="TextBox 22"/>
          <p:cNvSpPr txBox="1"/>
          <p:nvPr/>
        </p:nvSpPr>
        <p:spPr>
          <a:xfrm>
            <a:off x="868680" y="5212080"/>
            <a:ext cx="3383280" cy="822960"/>
          </a:xfrm>
          <a:prstGeom prst="rect">
            <a:avLst/>
          </a:prstGeom>
          <a:noFill/>
        </p:spPr>
        <p:txBody>
          <a:bodyPr wrap="square">
            <a:spAutoFit/>
          </a:bodyPr>
          <a:lstStyle/>
          <a:p>
            <a:pPr algn="l"/>
            <a:r>
              <a:rPr sz="1100" b="0" i="0">
                <a:solidFill>
                  <a:srgbClr val="737373"/>
                </a:solidFill>
                <a:latin typeface="Arial"/>
              </a:rPr>
              <a:t>Patient scheduling, billing coordination, compliance tracking.</a:t>
            </a:r>
          </a:p>
        </p:txBody>
      </p:sp>
      <p:sp>
        <p:nvSpPr>
          <p:cNvPr id="24" name="Rectangle 23"/>
          <p:cNvSpPr/>
          <p:nvPr/>
        </p:nvSpPr>
        <p:spPr>
          <a:xfrm>
            <a:off x="452628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46227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553712"/>
            <a:ext cx="3383280" cy="292608"/>
          </a:xfrm>
          <a:prstGeom prst="rect">
            <a:avLst/>
          </a:prstGeom>
          <a:noFill/>
        </p:spPr>
        <p:txBody>
          <a:bodyPr wrap="square">
            <a:spAutoFit/>
          </a:bodyPr>
          <a:lstStyle/>
          <a:p>
            <a:pPr algn="l"/>
            <a:r>
              <a:rPr sz="1300" b="1" i="0">
                <a:solidFill>
                  <a:srgbClr val="FFFFFF"/>
                </a:solidFill>
                <a:latin typeface="Arial"/>
              </a:rPr>
              <a:t>Real Estate + Property Mgmt</a:t>
            </a:r>
          </a:p>
        </p:txBody>
      </p:sp>
      <p:sp>
        <p:nvSpPr>
          <p:cNvPr id="27" name="TextBox 26"/>
          <p:cNvSpPr txBox="1"/>
          <p:nvPr/>
        </p:nvSpPr>
        <p:spPr>
          <a:xfrm>
            <a:off x="4663440" y="4882896"/>
            <a:ext cx="3383280" cy="256032"/>
          </a:xfrm>
          <a:prstGeom prst="rect">
            <a:avLst/>
          </a:prstGeom>
          <a:noFill/>
        </p:spPr>
        <p:txBody>
          <a:bodyPr wrap="square">
            <a:spAutoFit/>
          </a:bodyPr>
          <a:lstStyle/>
          <a:p>
            <a:pPr algn="l"/>
            <a:r>
              <a:rPr sz="1100" b="0" i="0">
                <a:solidFill>
                  <a:srgbClr val="F59E0B"/>
                </a:solidFill>
                <a:latin typeface="Arial"/>
              </a:rPr>
              <a:t>REITs, Managers, Brokerages</a:t>
            </a:r>
          </a:p>
        </p:txBody>
      </p:sp>
      <p:sp>
        <p:nvSpPr>
          <p:cNvPr id="28" name="TextBox 27"/>
          <p:cNvSpPr txBox="1"/>
          <p:nvPr/>
        </p:nvSpPr>
        <p:spPr>
          <a:xfrm>
            <a:off x="4663440" y="5212080"/>
            <a:ext cx="3383280" cy="822960"/>
          </a:xfrm>
          <a:prstGeom prst="rect">
            <a:avLst/>
          </a:prstGeom>
          <a:noFill/>
        </p:spPr>
        <p:txBody>
          <a:bodyPr wrap="square">
            <a:spAutoFit/>
          </a:bodyPr>
          <a:lstStyle/>
          <a:p>
            <a:pPr algn="l"/>
            <a:r>
              <a:rPr sz="1100" b="0" i="0">
                <a:solidFill>
                  <a:srgbClr val="737373"/>
                </a:solidFill>
                <a:latin typeface="Arial"/>
              </a:rPr>
              <a:t>Lead response, tenant communications, maintenance coordination.</a:t>
            </a:r>
          </a:p>
        </p:txBody>
      </p:sp>
      <p:sp>
        <p:nvSpPr>
          <p:cNvPr id="29" name="Rectangle 28"/>
          <p:cNvSpPr/>
          <p:nvPr/>
        </p:nvSpPr>
        <p:spPr>
          <a:xfrm>
            <a:off x="832104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46227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553712"/>
            <a:ext cx="3383280" cy="292608"/>
          </a:xfrm>
          <a:prstGeom prst="rect">
            <a:avLst/>
          </a:prstGeom>
          <a:noFill/>
        </p:spPr>
        <p:txBody>
          <a:bodyPr wrap="square">
            <a:spAutoFit/>
          </a:bodyPr>
          <a:lstStyle/>
          <a:p>
            <a:pPr algn="l"/>
            <a:r>
              <a:rPr sz="1300" b="1" i="0">
                <a:solidFill>
                  <a:srgbClr val="FFFFFF"/>
                </a:solidFill>
                <a:latin typeface="Arial"/>
              </a:rPr>
              <a:t>Any Business with Repetitive Workflows</a:t>
            </a:r>
          </a:p>
        </p:txBody>
      </p:sp>
      <p:sp>
        <p:nvSpPr>
          <p:cNvPr id="32" name="TextBox 31"/>
          <p:cNvSpPr txBox="1"/>
          <p:nvPr/>
        </p:nvSpPr>
        <p:spPr>
          <a:xfrm>
            <a:off x="8458200" y="4882896"/>
            <a:ext cx="3383280" cy="256032"/>
          </a:xfrm>
          <a:prstGeom prst="rect">
            <a:avLst/>
          </a:prstGeom>
          <a:noFill/>
        </p:spPr>
        <p:txBody>
          <a:bodyPr wrap="square">
            <a:spAutoFit/>
          </a:bodyPr>
          <a:lstStyle/>
          <a:p>
            <a:pPr algn="l"/>
            <a:r>
              <a:rPr sz="1100" b="0" i="0">
                <a:solidFill>
                  <a:srgbClr val="EC4899"/>
                </a:solidFill>
                <a:latin typeface="Arial"/>
              </a:rPr>
              <a:t>Every Company</a:t>
            </a:r>
          </a:p>
        </p:txBody>
      </p:sp>
      <p:sp>
        <p:nvSpPr>
          <p:cNvPr id="33" name="TextBox 32"/>
          <p:cNvSpPr txBox="1"/>
          <p:nvPr/>
        </p:nvSpPr>
        <p:spPr>
          <a:xfrm>
            <a:off x="8458200" y="5212080"/>
            <a:ext cx="3383280" cy="822960"/>
          </a:xfrm>
          <a:prstGeom prst="rect">
            <a:avLst/>
          </a:prstGeom>
          <a:noFill/>
        </p:spPr>
        <p:txBody>
          <a:bodyPr wrap="square">
            <a:spAutoFit/>
          </a:bodyPr>
          <a:lstStyle/>
          <a:p>
            <a:pPr algn="l"/>
            <a:r>
              <a:rPr sz="1100" b="0" i="0">
                <a:solidFill>
                  <a:srgbClr val="737373"/>
                </a:solidFill>
                <a:latin typeface="Arial"/>
              </a:rPr>
              <a:t>If your organization has people doing structured, rule-based work, Devolution Labs replaces it.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097280"/>
          </a:xfrm>
          <a:prstGeom prst="rect">
            <a:avLst/>
          </a:prstGeom>
          <a:noFill/>
        </p:spPr>
        <p:txBody>
          <a:bodyPr wrap="square">
            <a:spAutoFit/>
          </a:bodyPr>
          <a:lstStyle/>
          <a:p>
            <a:pPr algn="l"/>
            <a:r>
              <a:rPr sz="5200" b="1" i="0">
                <a:solidFill>
                  <a:srgbClr val="22D3EE"/>
                </a:solidFill>
                <a:latin typeface="Arial"/>
              </a:rPr>
              <a:t>The workforce of the future.</a:t>
            </a:r>
          </a:p>
        </p:txBody>
      </p:sp>
      <p:sp>
        <p:nvSpPr>
          <p:cNvPr id="4" name="TextBox 3"/>
          <p:cNvSpPr txBox="1"/>
          <p:nvPr/>
        </p:nvSpPr>
        <p:spPr>
          <a:xfrm>
            <a:off x="731520" y="2377440"/>
            <a:ext cx="10515600" cy="914400"/>
          </a:xfrm>
          <a:prstGeom prst="rect">
            <a:avLst/>
          </a:prstGeom>
          <a:noFill/>
        </p:spPr>
        <p:txBody>
          <a:bodyPr wrap="square">
            <a:spAutoFit/>
          </a:bodyPr>
          <a:lstStyle/>
          <a:p>
            <a:pPr algn="l"/>
            <a:r>
              <a:rPr sz="1600" b="0" i="0">
                <a:solidFill>
                  <a:srgbClr val="737373"/>
                </a:solidFill>
                <a:latin typeface="Arial"/>
              </a:rPr>
              <a:t>Built today. Deployed this week. Saving millions by next quarter.
Every company has the same bottleneck. We remove it.</a:t>
            </a:r>
          </a:p>
        </p:txBody>
      </p:sp>
      <p:sp>
        <p:nvSpPr>
          <p:cNvPr id="5" name="TextBox 4"/>
          <p:cNvSpPr txBox="1"/>
          <p:nvPr/>
        </p:nvSpPr>
        <p:spPr>
          <a:xfrm>
            <a:off x="731520" y="384048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34340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05840"/>
            <a:ext cx="10058400" cy="1463040"/>
          </a:xfrm>
          <a:prstGeom prst="rect">
            <a:avLst/>
          </a:prstGeom>
          <a:noFill/>
        </p:spPr>
        <p:txBody>
          <a:bodyPr wrap="square">
            <a:spAutoFit/>
          </a:bodyPr>
          <a:lstStyle/>
          <a:p>
            <a:r>
              <a:rPr sz="4600" b="1">
                <a:solidFill>
                  <a:srgbClr val="FFFFFF"/>
                </a:solidFill>
                <a:latin typeface="Arial"/>
              </a:rPr>
              <a:t>Managing the business</a:t>
            </a:r>
          </a:p>
          <a:p>
            <a:r>
              <a:rPr sz="4600" b="1">
                <a:solidFill>
                  <a:srgbClr val="22D3EE"/>
                </a:solidFill>
                <a:latin typeface="Arial"/>
              </a:rPr>
              <a:t>is a conversation.</a:t>
            </a:r>
          </a:p>
        </p:txBody>
      </p:sp>
      <p:sp>
        <p:nvSpPr>
          <p:cNvPr id="4" name="Rectangle 3"/>
          <p:cNvSpPr/>
          <p:nvPr/>
        </p:nvSpPr>
        <p:spPr>
          <a:xfrm>
            <a:off x="731520" y="257860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24912"/>
            <a:ext cx="6217920" cy="1188720"/>
          </a:xfrm>
          <a:prstGeom prst="rect">
            <a:avLst/>
          </a:prstGeom>
          <a:noFill/>
        </p:spPr>
        <p:txBody>
          <a:bodyPr wrap="square">
            <a:spAutoFit/>
          </a:bodyPr>
          <a:lstStyle/>
          <a:p>
            <a:pPr algn="l"/>
            <a:r>
              <a:rPr sz="1300" b="0" i="0">
                <a:solidFill>
                  <a:srgbClr val="737373"/>
                </a:solidFill>
                <a:latin typeface="Arial"/>
              </a:rPr>
              <a:t>Every Devolution Labs deployment includes a built-in chat interface that connects directly to your AI workforce. You do not log into a dashboard. You do not run reports manually. You ask a question and your AI workforce answers it — with live data from across your entire operation.</a:t>
            </a:r>
          </a:p>
        </p:txBody>
      </p:sp>
      <p:sp>
        <p:nvSpPr>
          <p:cNvPr id="6" name="Rectangle 5"/>
          <p:cNvSpPr/>
          <p:nvPr/>
        </p:nvSpPr>
        <p:spPr>
          <a:xfrm>
            <a:off x="7315200" y="1005840"/>
            <a:ext cx="4663440" cy="5394960"/>
          </a:xfrm>
          <a:prstGeom prst="rect">
            <a:avLst/>
          </a:prstGeom>
          <a:solidFill>
            <a:srgbClr val="080C14"/>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1143000"/>
            <a:ext cx="4297680" cy="274320"/>
          </a:xfrm>
          <a:prstGeom prst="rect">
            <a:avLst/>
          </a:prstGeom>
          <a:noFill/>
        </p:spPr>
        <p:txBody>
          <a:bodyPr wrap="square">
            <a:spAutoFit/>
          </a:bodyPr>
          <a:lstStyle/>
          <a:p>
            <a:pPr algn="l"/>
            <a:r>
              <a:rPr sz="900" b="1" i="0">
                <a:solidFill>
                  <a:srgbClr val="22D3EE"/>
                </a:solidFill>
                <a:latin typeface="Arial"/>
              </a:rPr>
              <a:t>DEVOLUTION LABS CHAT</a:t>
            </a:r>
          </a:p>
        </p:txBody>
      </p:sp>
      <p:sp>
        <p:nvSpPr>
          <p:cNvPr id="8" name="Rectangle 7"/>
          <p:cNvSpPr/>
          <p:nvPr/>
        </p:nvSpPr>
        <p:spPr>
          <a:xfrm>
            <a:off x="8686800" y="1554480"/>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1609344"/>
            <a:ext cx="2743200" cy="320040"/>
          </a:xfrm>
          <a:prstGeom prst="rect">
            <a:avLst/>
          </a:prstGeom>
          <a:noFill/>
        </p:spPr>
        <p:txBody>
          <a:bodyPr wrap="square">
            <a:spAutoFit/>
          </a:bodyPr>
          <a:lstStyle/>
          <a:p>
            <a:pPr algn="l"/>
            <a:r>
              <a:rPr sz="1000" b="0" i="0">
                <a:solidFill>
                  <a:srgbClr val="FFFFFF"/>
                </a:solidFill>
                <a:latin typeface="Arial"/>
              </a:rPr>
              <a:t>How many leads came in this week?</a:t>
            </a:r>
          </a:p>
        </p:txBody>
      </p:sp>
      <p:sp>
        <p:nvSpPr>
          <p:cNvPr id="10" name="Rectangle 9"/>
          <p:cNvSpPr/>
          <p:nvPr/>
        </p:nvSpPr>
        <p:spPr>
          <a:xfrm>
            <a:off x="7452360" y="2057400"/>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2112264"/>
            <a:ext cx="2926080" cy="475488"/>
          </a:xfrm>
          <a:prstGeom prst="rect">
            <a:avLst/>
          </a:prstGeom>
          <a:noFill/>
        </p:spPr>
        <p:txBody>
          <a:bodyPr wrap="square">
            <a:spAutoFit/>
          </a:bodyPr>
          <a:lstStyle/>
          <a:p>
            <a:pPr algn="l"/>
            <a:r>
              <a:rPr sz="1000" b="0" i="0">
                <a:solidFill>
                  <a:srgbClr val="737373"/>
                </a:solidFill>
                <a:latin typeface="Arial"/>
              </a:rPr>
              <a:t>47 inbound leads this week. 12 qualified and routed to sales. 6 test drives booked. 3 deals in progress.</a:t>
            </a:r>
          </a:p>
        </p:txBody>
      </p:sp>
      <p:sp>
        <p:nvSpPr>
          <p:cNvPr id="12" name="Rectangle 11"/>
          <p:cNvSpPr/>
          <p:nvPr/>
        </p:nvSpPr>
        <p:spPr>
          <a:xfrm>
            <a:off x="8686800" y="2715768"/>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2770632"/>
            <a:ext cx="2743200" cy="320040"/>
          </a:xfrm>
          <a:prstGeom prst="rect">
            <a:avLst/>
          </a:prstGeom>
          <a:noFill/>
        </p:spPr>
        <p:txBody>
          <a:bodyPr wrap="square">
            <a:spAutoFit/>
          </a:bodyPr>
          <a:lstStyle/>
          <a:p>
            <a:pPr algn="l"/>
            <a:r>
              <a:rPr sz="1000" b="0" i="0">
                <a:solidFill>
                  <a:srgbClr val="FFFFFF"/>
                </a:solidFill>
                <a:latin typeface="Arial"/>
              </a:rPr>
              <a:t>Flag any vendors who missed SLAs this month.</a:t>
            </a:r>
          </a:p>
        </p:txBody>
      </p:sp>
      <p:sp>
        <p:nvSpPr>
          <p:cNvPr id="14" name="Rectangle 13"/>
          <p:cNvSpPr/>
          <p:nvPr/>
        </p:nvSpPr>
        <p:spPr>
          <a:xfrm>
            <a:off x="7452360" y="3218688"/>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3273552"/>
            <a:ext cx="2926080" cy="475488"/>
          </a:xfrm>
          <a:prstGeom prst="rect">
            <a:avLst/>
          </a:prstGeom>
          <a:noFill/>
        </p:spPr>
        <p:txBody>
          <a:bodyPr wrap="square">
            <a:spAutoFit/>
          </a:bodyPr>
          <a:lstStyle/>
          <a:p>
            <a:pPr algn="l"/>
            <a:r>
              <a:rPr sz="1000" b="0" i="0">
                <a:solidFill>
                  <a:srgbClr val="737373"/>
                </a:solidFill>
                <a:latin typeface="Arial"/>
              </a:rPr>
              <a:t>2 vendors flagged: Apex Cleaning (3 late completions) and NorthShore HVAC (1 no-show). Escalation emails sent automatically.</a:t>
            </a:r>
          </a:p>
        </p:txBody>
      </p:sp>
      <p:sp>
        <p:nvSpPr>
          <p:cNvPr id="16" name="Rectangle 15"/>
          <p:cNvSpPr/>
          <p:nvPr/>
        </p:nvSpPr>
        <p:spPr>
          <a:xfrm>
            <a:off x="8686800" y="3877056"/>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3931920"/>
            <a:ext cx="2743200" cy="320040"/>
          </a:xfrm>
          <a:prstGeom prst="rect">
            <a:avLst/>
          </a:prstGeom>
          <a:noFill/>
        </p:spPr>
        <p:txBody>
          <a:bodyPr wrap="square">
            <a:spAutoFit/>
          </a:bodyPr>
          <a:lstStyle/>
          <a:p>
            <a:pPr algn="l"/>
            <a:r>
              <a:rPr sz="1000" b="0" i="0">
                <a:solidFill>
                  <a:srgbClr val="FFFFFF"/>
                </a:solidFill>
                <a:latin typeface="Arial"/>
              </a:rPr>
              <a:t>What is the revenue forecast for Q2?</a:t>
            </a:r>
          </a:p>
        </p:txBody>
      </p:sp>
      <p:sp>
        <p:nvSpPr>
          <p:cNvPr id="18" name="Rectangle 17"/>
          <p:cNvSpPr/>
          <p:nvPr/>
        </p:nvSpPr>
        <p:spPr>
          <a:xfrm>
            <a:off x="7452360" y="4379976"/>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4434840"/>
            <a:ext cx="2926080" cy="475488"/>
          </a:xfrm>
          <a:prstGeom prst="rect">
            <a:avLst/>
          </a:prstGeom>
          <a:noFill/>
        </p:spPr>
        <p:txBody>
          <a:bodyPr wrap="square">
            <a:spAutoFit/>
          </a:bodyPr>
          <a:lstStyle/>
          <a:p>
            <a:pPr algn="l"/>
            <a:r>
              <a:rPr sz="1000" b="0" i="0">
                <a:solidFill>
                  <a:srgbClr val="737373"/>
                </a:solidFill>
                <a:latin typeface="Arial"/>
              </a:rPr>
              <a:t>Based on current pipeline and historical close rates, Q2 revenue is projected at $2.1M — 14% above Q1.</a:t>
            </a:r>
          </a:p>
        </p:txBody>
      </p:sp>
      <p:sp>
        <p:nvSpPr>
          <p:cNvPr id="20" name="Rectangle 19"/>
          <p:cNvSpPr/>
          <p:nvPr/>
        </p:nvSpPr>
        <p:spPr>
          <a:xfrm>
            <a:off x="731520" y="4069080"/>
            <a:ext cx="6400800" cy="22860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069080"/>
            <a:ext cx="64008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60520"/>
            <a:ext cx="5943600" cy="292608"/>
          </a:xfrm>
          <a:prstGeom prst="rect">
            <a:avLst/>
          </a:prstGeom>
          <a:noFill/>
        </p:spPr>
        <p:txBody>
          <a:bodyPr wrap="square">
            <a:spAutoFit/>
          </a:bodyPr>
          <a:lstStyle/>
          <a:p>
            <a:pPr algn="l"/>
            <a:r>
              <a:rPr sz="1200" b="1" i="0">
                <a:solidFill>
                  <a:srgbClr val="FFFFFF"/>
                </a:solidFill>
                <a:latin typeface="Arial"/>
              </a:rPr>
              <a:t>What you can ask your AI workforce:</a:t>
            </a:r>
          </a:p>
        </p:txBody>
      </p:sp>
      <p:sp>
        <p:nvSpPr>
          <p:cNvPr id="23" name="TextBox 22"/>
          <p:cNvSpPr txBox="1"/>
          <p:nvPr/>
        </p:nvSpPr>
        <p:spPr>
          <a:xfrm>
            <a:off x="914400" y="4553712"/>
            <a:ext cx="5943600" cy="320040"/>
          </a:xfrm>
          <a:prstGeom prst="rect">
            <a:avLst/>
          </a:prstGeom>
          <a:noFill/>
        </p:spPr>
        <p:txBody>
          <a:bodyPr wrap="square">
            <a:spAutoFit/>
          </a:bodyPr>
          <a:lstStyle/>
          <a:p>
            <a:pPr algn="l"/>
            <a:r>
              <a:rPr sz="1100" b="0" i="1">
                <a:solidFill>
                  <a:srgbClr val="737373"/>
                </a:solidFill>
                <a:latin typeface="Arial"/>
              </a:rPr>
              <a:t>"Show me all open leads from this week"</a:t>
            </a:r>
          </a:p>
        </p:txBody>
      </p:sp>
      <p:sp>
        <p:nvSpPr>
          <p:cNvPr id="24" name="TextBox 23"/>
          <p:cNvSpPr txBox="1"/>
          <p:nvPr/>
        </p:nvSpPr>
        <p:spPr>
          <a:xfrm>
            <a:off x="914400" y="4901184"/>
            <a:ext cx="5943600" cy="320040"/>
          </a:xfrm>
          <a:prstGeom prst="rect">
            <a:avLst/>
          </a:prstGeom>
          <a:noFill/>
        </p:spPr>
        <p:txBody>
          <a:bodyPr wrap="square">
            <a:spAutoFit/>
          </a:bodyPr>
          <a:lstStyle/>
          <a:p>
            <a:pPr algn="l"/>
            <a:r>
              <a:rPr sz="1100" b="0" i="1">
                <a:solidFill>
                  <a:srgbClr val="737373"/>
                </a:solidFill>
                <a:latin typeface="Arial"/>
              </a:rPr>
              <a:t>"What did each department complete yesterday?"</a:t>
            </a:r>
          </a:p>
        </p:txBody>
      </p:sp>
      <p:sp>
        <p:nvSpPr>
          <p:cNvPr id="25" name="TextBox 24"/>
          <p:cNvSpPr txBox="1"/>
          <p:nvPr/>
        </p:nvSpPr>
        <p:spPr>
          <a:xfrm>
            <a:off x="914400" y="5248656"/>
            <a:ext cx="5943600" cy="320040"/>
          </a:xfrm>
          <a:prstGeom prst="rect">
            <a:avLst/>
          </a:prstGeom>
          <a:noFill/>
        </p:spPr>
        <p:txBody>
          <a:bodyPr wrap="square">
            <a:spAutoFit/>
          </a:bodyPr>
          <a:lstStyle/>
          <a:p>
            <a:pPr algn="l"/>
            <a:r>
              <a:rPr sz="1100" b="0" i="1">
                <a:solidFill>
                  <a:srgbClr val="737373"/>
                </a:solidFill>
                <a:latin typeface="Arial"/>
              </a:rPr>
              <a:t>"Which clients are up for renewal in 30 days?"</a:t>
            </a:r>
          </a:p>
        </p:txBody>
      </p:sp>
      <p:sp>
        <p:nvSpPr>
          <p:cNvPr id="26" name="TextBox 25"/>
          <p:cNvSpPr txBox="1"/>
          <p:nvPr/>
        </p:nvSpPr>
        <p:spPr>
          <a:xfrm>
            <a:off x="914400" y="5596128"/>
            <a:ext cx="5943600" cy="320040"/>
          </a:xfrm>
          <a:prstGeom prst="rect">
            <a:avLst/>
          </a:prstGeom>
          <a:noFill/>
        </p:spPr>
        <p:txBody>
          <a:bodyPr wrap="square">
            <a:spAutoFit/>
          </a:bodyPr>
          <a:lstStyle/>
          <a:p>
            <a:pPr algn="l"/>
            <a:r>
              <a:rPr sz="1100" b="0" i="1">
                <a:solidFill>
                  <a:srgbClr val="737373"/>
                </a:solidFill>
                <a:latin typeface="Arial"/>
              </a:rPr>
              <a:t>"Generate a financial summary for the board"</a:t>
            </a:r>
          </a:p>
        </p:txBody>
      </p:sp>
      <p:sp>
        <p:nvSpPr>
          <p:cNvPr id="27" name="TextBox 26"/>
          <p:cNvSpPr txBox="1"/>
          <p:nvPr/>
        </p:nvSpPr>
        <p:spPr>
          <a:xfrm>
            <a:off x="914400" y="5943600"/>
            <a:ext cx="5943600" cy="320040"/>
          </a:xfrm>
          <a:prstGeom prst="rect">
            <a:avLst/>
          </a:prstGeom>
          <a:noFill/>
        </p:spPr>
        <p:txBody>
          <a:bodyPr wrap="square">
            <a:spAutoFit/>
          </a:bodyPr>
          <a:lstStyle/>
          <a:p>
            <a:pPr algn="l"/>
            <a:r>
              <a:rPr sz="1100" b="0" i="1">
                <a:solidFill>
                  <a:srgbClr val="737373"/>
                </a:solidFill>
                <a:latin typeface="Arial"/>
              </a:rPr>
              <a:t>"Flag anything that needs my attention today"</a:t>
            </a:r>
          </a:p>
        </p:txBody>
      </p:sp>
      <p:sp>
        <p:nvSpPr>
          <p:cNvPr id="28" name="TextBox 27"/>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