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200" b="1">
                <a:solidFill>
                  <a:srgbClr val="FFFFFF"/>
                </a:solidFill>
                <a:latin typeface="Arial"/>
              </a:rPr>
              <a:t>The AI Workforce for the</a:t>
            </a:r>
          </a:p>
          <a:p>
            <a:r>
              <a:rPr sz="5200" b="1">
                <a:solidFill>
                  <a:srgbClr val="22D3EE"/>
                </a:solidFill>
                <a:latin typeface="Arial"/>
              </a:rPr>
              <a:t>Philadelphia 76ers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NBA Franchise  |  Wells Fargo Center  |  Philadelphia, PA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PHILADELPHIA 76ERS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of the NBA's most valuable franchises.</a:t>
            </a:r>
          </a:p>
          <a:p>
            <a:r>
              <a:rPr sz="3800" b="1">
                <a:solidFill>
                  <a:srgbClr val="22D3EE"/>
                </a:solidFill>
                <a:latin typeface="Arial"/>
              </a:rPr>
              <a:t>Massive operations. Massive opportunity.</a:t>
            </a:r>
          </a:p>
        </p:txBody>
      </p:sp>
      <p:sp>
        <p:nvSpPr>
          <p:cNvPr id="4" name="Rectangle 3"/>
          <p:cNvSpPr/>
          <p:nvPr/>
        </p:nvSpPr>
        <p:spPr>
          <a:xfrm>
            <a:off x="73152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3108960"/>
            <a:ext cx="2377440" cy="822960"/>
          </a:xfrm>
          <a:prstGeom prst="rect">
            <a:avLst/>
          </a:prstGeom>
          <a:noFill/>
        </p:spPr>
        <p:txBody>
          <a:bodyPr wrap="square">
            <a:spAutoFit/>
          </a:bodyPr>
          <a:lstStyle/>
          <a:p>
            <a:pPr algn="l"/>
            <a:r>
              <a:rPr sz="3200" b="1" i="0">
                <a:solidFill>
                  <a:srgbClr val="22D3EE"/>
                </a:solidFill>
                <a:latin typeface="Arial"/>
              </a:rPr>
              <a:t>$3.5B+</a:t>
            </a:r>
          </a:p>
        </p:txBody>
      </p:sp>
      <p:sp>
        <p:nvSpPr>
          <p:cNvPr id="6" name="TextBox 5"/>
          <p:cNvSpPr txBox="1"/>
          <p:nvPr/>
        </p:nvSpPr>
        <p:spPr>
          <a:xfrm>
            <a:off x="868680" y="3977639"/>
            <a:ext cx="2377440" cy="347472"/>
          </a:xfrm>
          <a:prstGeom prst="rect">
            <a:avLst/>
          </a:prstGeom>
          <a:noFill/>
        </p:spPr>
        <p:txBody>
          <a:bodyPr wrap="square">
            <a:spAutoFit/>
          </a:bodyPr>
          <a:lstStyle/>
          <a:p>
            <a:pPr algn="l"/>
            <a:r>
              <a:rPr sz="1300" b="1" i="0">
                <a:solidFill>
                  <a:srgbClr val="FFFFFF"/>
                </a:solidFill>
                <a:latin typeface="Arial"/>
              </a:rPr>
              <a:t>Franchise Value</a:t>
            </a:r>
          </a:p>
        </p:txBody>
      </p:sp>
      <p:sp>
        <p:nvSpPr>
          <p:cNvPr id="7" name="TextBox 6"/>
          <p:cNvSpPr txBox="1"/>
          <p:nvPr/>
        </p:nvSpPr>
        <p:spPr>
          <a:xfrm>
            <a:off x="868680" y="4370832"/>
            <a:ext cx="2377440" cy="640080"/>
          </a:xfrm>
          <a:prstGeom prst="rect">
            <a:avLst/>
          </a:prstGeom>
          <a:noFill/>
        </p:spPr>
        <p:txBody>
          <a:bodyPr wrap="square">
            <a:spAutoFit/>
          </a:bodyPr>
          <a:lstStyle/>
          <a:p>
            <a:pPr algn="l"/>
            <a:r>
              <a:rPr sz="1100" b="0" i="0">
                <a:solidFill>
                  <a:srgbClr val="737373"/>
                </a:solidFill>
                <a:latin typeface="Arial"/>
              </a:rPr>
              <a:t>One of the most valuable teams in the NBA</a:t>
            </a:r>
          </a:p>
        </p:txBody>
      </p:sp>
      <p:sp>
        <p:nvSpPr>
          <p:cNvPr id="8" name="Rectangle 7"/>
          <p:cNvSpPr/>
          <p:nvPr/>
        </p:nvSpPr>
        <p:spPr>
          <a:xfrm>
            <a:off x="356616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3108960"/>
            <a:ext cx="2377440" cy="822960"/>
          </a:xfrm>
          <a:prstGeom prst="rect">
            <a:avLst/>
          </a:prstGeom>
          <a:noFill/>
        </p:spPr>
        <p:txBody>
          <a:bodyPr wrap="square">
            <a:spAutoFit/>
          </a:bodyPr>
          <a:lstStyle/>
          <a:p>
            <a:pPr algn="l"/>
            <a:r>
              <a:rPr sz="3200" b="1" i="0">
                <a:solidFill>
                  <a:srgbClr val="22D3EE"/>
                </a:solidFill>
                <a:latin typeface="Arial"/>
              </a:rPr>
              <a:t>20,000+</a:t>
            </a:r>
          </a:p>
        </p:txBody>
      </p:sp>
      <p:sp>
        <p:nvSpPr>
          <p:cNvPr id="10" name="TextBox 9"/>
          <p:cNvSpPr txBox="1"/>
          <p:nvPr/>
        </p:nvSpPr>
        <p:spPr>
          <a:xfrm>
            <a:off x="3703320" y="3977639"/>
            <a:ext cx="2377440" cy="347472"/>
          </a:xfrm>
          <a:prstGeom prst="rect">
            <a:avLst/>
          </a:prstGeom>
          <a:noFill/>
        </p:spPr>
        <p:txBody>
          <a:bodyPr wrap="square">
            <a:spAutoFit/>
          </a:bodyPr>
          <a:lstStyle/>
          <a:p>
            <a:pPr algn="l"/>
            <a:r>
              <a:rPr sz="1300" b="1" i="0">
                <a:solidFill>
                  <a:srgbClr val="FFFFFF"/>
                </a:solidFill>
                <a:latin typeface="Arial"/>
              </a:rPr>
              <a:t>Seats Per Game</a:t>
            </a:r>
          </a:p>
        </p:txBody>
      </p:sp>
      <p:sp>
        <p:nvSpPr>
          <p:cNvPr id="11" name="TextBox 10"/>
          <p:cNvSpPr txBox="1"/>
          <p:nvPr/>
        </p:nvSpPr>
        <p:spPr>
          <a:xfrm>
            <a:off x="3703320" y="4370832"/>
            <a:ext cx="2377440" cy="640080"/>
          </a:xfrm>
          <a:prstGeom prst="rect">
            <a:avLst/>
          </a:prstGeom>
          <a:noFill/>
        </p:spPr>
        <p:txBody>
          <a:bodyPr wrap="square">
            <a:spAutoFit/>
          </a:bodyPr>
          <a:lstStyle/>
          <a:p>
            <a:pPr algn="l"/>
            <a:r>
              <a:rPr sz="1100" b="0" i="0">
                <a:solidFill>
                  <a:srgbClr val="737373"/>
                </a:solidFill>
                <a:latin typeface="Arial"/>
              </a:rPr>
              <a:t>Wells Fargo Center capacity</a:t>
            </a:r>
          </a:p>
        </p:txBody>
      </p:sp>
      <p:sp>
        <p:nvSpPr>
          <p:cNvPr id="12" name="Rectangle 11"/>
          <p:cNvSpPr/>
          <p:nvPr/>
        </p:nvSpPr>
        <p:spPr>
          <a:xfrm>
            <a:off x="640080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108960"/>
            <a:ext cx="2377440" cy="822960"/>
          </a:xfrm>
          <a:prstGeom prst="rect">
            <a:avLst/>
          </a:prstGeom>
          <a:noFill/>
        </p:spPr>
        <p:txBody>
          <a:bodyPr wrap="square">
            <a:spAutoFit/>
          </a:bodyPr>
          <a:lstStyle/>
          <a:p>
            <a:pPr algn="l"/>
            <a:r>
              <a:rPr sz="3200" b="1" i="0">
                <a:solidFill>
                  <a:srgbClr val="22D3EE"/>
                </a:solidFill>
                <a:latin typeface="Arial"/>
              </a:rPr>
              <a:t>82</a:t>
            </a:r>
          </a:p>
        </p:txBody>
      </p:sp>
      <p:sp>
        <p:nvSpPr>
          <p:cNvPr id="14" name="TextBox 13"/>
          <p:cNvSpPr txBox="1"/>
          <p:nvPr/>
        </p:nvSpPr>
        <p:spPr>
          <a:xfrm>
            <a:off x="6537960" y="3977639"/>
            <a:ext cx="2377440" cy="347472"/>
          </a:xfrm>
          <a:prstGeom prst="rect">
            <a:avLst/>
          </a:prstGeom>
          <a:noFill/>
        </p:spPr>
        <p:txBody>
          <a:bodyPr wrap="square">
            <a:spAutoFit/>
          </a:bodyPr>
          <a:lstStyle/>
          <a:p>
            <a:pPr algn="l"/>
            <a:r>
              <a:rPr sz="1300" b="1" i="0">
                <a:solidFill>
                  <a:srgbClr val="FFFFFF"/>
                </a:solidFill>
                <a:latin typeface="Arial"/>
              </a:rPr>
              <a:t>Games Per Season</a:t>
            </a:r>
          </a:p>
        </p:txBody>
      </p:sp>
      <p:sp>
        <p:nvSpPr>
          <p:cNvPr id="15" name="TextBox 14"/>
          <p:cNvSpPr txBox="1"/>
          <p:nvPr/>
        </p:nvSpPr>
        <p:spPr>
          <a:xfrm>
            <a:off x="6537960" y="4370832"/>
            <a:ext cx="2377440" cy="640080"/>
          </a:xfrm>
          <a:prstGeom prst="rect">
            <a:avLst/>
          </a:prstGeom>
          <a:noFill/>
        </p:spPr>
        <p:txBody>
          <a:bodyPr wrap="square">
            <a:spAutoFit/>
          </a:bodyPr>
          <a:lstStyle/>
          <a:p>
            <a:pPr algn="l"/>
            <a:r>
              <a:rPr sz="1100" b="0" i="0">
                <a:solidFill>
                  <a:srgbClr val="737373"/>
                </a:solidFill>
                <a:latin typeface="Arial"/>
              </a:rPr>
              <a:t>Home and away, year-round operations</a:t>
            </a:r>
          </a:p>
        </p:txBody>
      </p:sp>
      <p:sp>
        <p:nvSpPr>
          <p:cNvPr id="16" name="Rectangle 15"/>
          <p:cNvSpPr/>
          <p:nvPr/>
        </p:nvSpPr>
        <p:spPr>
          <a:xfrm>
            <a:off x="923544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3108960"/>
            <a:ext cx="2377440" cy="822960"/>
          </a:xfrm>
          <a:prstGeom prst="rect">
            <a:avLst/>
          </a:prstGeom>
          <a:noFill/>
        </p:spPr>
        <p:txBody>
          <a:bodyPr wrap="square">
            <a:spAutoFit/>
          </a:bodyPr>
          <a:lstStyle/>
          <a:p>
            <a:pPr algn="l"/>
            <a:r>
              <a:rPr sz="3200" b="1" i="0">
                <a:solidFill>
                  <a:srgbClr val="22D3EE"/>
                </a:solidFill>
                <a:latin typeface="Arial"/>
              </a:rPr>
              <a:t>300+</a:t>
            </a:r>
          </a:p>
        </p:txBody>
      </p:sp>
      <p:sp>
        <p:nvSpPr>
          <p:cNvPr id="18" name="TextBox 17"/>
          <p:cNvSpPr txBox="1"/>
          <p:nvPr/>
        </p:nvSpPr>
        <p:spPr>
          <a:xfrm>
            <a:off x="9372600" y="3977639"/>
            <a:ext cx="2377440" cy="347472"/>
          </a:xfrm>
          <a:prstGeom prst="rect">
            <a:avLst/>
          </a:prstGeom>
          <a:noFill/>
        </p:spPr>
        <p:txBody>
          <a:bodyPr wrap="square">
            <a:spAutoFit/>
          </a:bodyPr>
          <a:lstStyle/>
          <a:p>
            <a:pPr algn="l"/>
            <a:r>
              <a:rPr sz="1300" b="1" i="0">
                <a:solidFill>
                  <a:srgbClr val="FFFFFF"/>
                </a:solidFill>
                <a:latin typeface="Arial"/>
              </a:rPr>
              <a:t>Full-Time Staff</a:t>
            </a:r>
          </a:p>
        </p:txBody>
      </p:sp>
      <p:sp>
        <p:nvSpPr>
          <p:cNvPr id="19" name="TextBox 18"/>
          <p:cNvSpPr txBox="1"/>
          <p:nvPr/>
        </p:nvSpPr>
        <p:spPr>
          <a:xfrm>
            <a:off x="9372600" y="4370832"/>
            <a:ext cx="2377440" cy="640080"/>
          </a:xfrm>
          <a:prstGeom prst="rect">
            <a:avLst/>
          </a:prstGeom>
          <a:noFill/>
        </p:spPr>
        <p:txBody>
          <a:bodyPr wrap="square">
            <a:spAutoFit/>
          </a:bodyPr>
          <a:lstStyle/>
          <a:p>
            <a:pPr algn="l"/>
            <a:r>
              <a:rPr sz="1100" b="0" i="0">
                <a:solidFill>
                  <a:srgbClr val="737373"/>
                </a:solidFill>
                <a:latin typeface="Arial"/>
              </a:rPr>
              <a:t>Front office, arena, and operations teams</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76ers are a world-class team.</a:t>
            </a:r>
          </a:p>
          <a:p>
            <a:r>
              <a:rPr sz="3800" b="1">
                <a:solidFill>
                  <a:srgbClr val="22D3EE"/>
                </a:solidFill>
                <a:latin typeface="Arial"/>
              </a:rPr>
              <a:t>The back office runs like a mid-size company.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371600"/>
          </a:xfrm>
          <a:prstGeom prst="rect">
            <a:avLst/>
          </a:prstGeom>
          <a:noFill/>
        </p:spPr>
        <p:txBody>
          <a:bodyPr wrap="square">
            <a:spAutoFit/>
          </a:bodyPr>
          <a:lstStyle/>
          <a:p>
            <a:pPr algn="l"/>
            <a:r>
              <a:rPr sz="1400" b="0" i="0">
                <a:solidFill>
                  <a:srgbClr val="737373"/>
                </a:solidFill>
                <a:latin typeface="Arial"/>
              </a:rPr>
              <a:t>Behind the product on the court, the 76ers operate a full-scale media company, hospitality business, corporate sales organization, fan engagement platform, scouting operation, and venue management division. Most of these functions still rely on coordinators, analysts, and managers doing work that AI can own — ticket outreach, media monitoring, fan communications, contract tracking, schedule coordination, and performance reporting. Devolution Lab replaces that coordination layer with an AI workforce built for professional sports.</a:t>
            </a:r>
          </a:p>
        </p:txBody>
      </p:sp>
      <p:sp>
        <p:nvSpPr>
          <p:cNvPr id="6" name="TextBox 5"/>
          <p:cNvSpPr txBox="1"/>
          <p:nvPr/>
        </p:nvSpPr>
        <p:spPr>
          <a:xfrm>
            <a:off x="731520" y="4297680"/>
            <a:ext cx="10515600" cy="502920"/>
          </a:xfrm>
          <a:prstGeom prst="rect">
            <a:avLst/>
          </a:prstGeom>
          <a:noFill/>
        </p:spPr>
        <p:txBody>
          <a:bodyPr wrap="square">
            <a:spAutoFit/>
          </a:bodyPr>
          <a:lstStyle/>
          <a:p>
            <a:pPr algn="l"/>
            <a:r>
              <a:rPr sz="1500" b="1" i="0">
                <a:solidFill>
                  <a:srgbClr val="FFFFFF"/>
                </a:solidFill>
                <a:latin typeface="Arial"/>
              </a:rPr>
              <a:t>The playbook, the roster, and the coaching staff stay human. Everything surrounding it gets automated.</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BUILT FOR THE 76ERS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Twelve agents.</a:t>
            </a:r>
          </a:p>
          <a:p>
            <a:r>
              <a:rPr sz="3600" b="1">
                <a:solidFill>
                  <a:srgbClr val="22D3EE"/>
                </a:solidFill>
                <a:latin typeface="Arial"/>
              </a:rPr>
              <a:t>Every front 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TICKET SALES</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Ticket Sales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Monitors season ticket holder accounts, flags at-risk renewals, automates outreach campaigns for single-game tickets, and generates daily sales pipeline reports for the revenue team.</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FAN ENGAGEMENT</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Fan Communications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Manages all inbound fan messages across email, social DMs, and the team app. Responds instantly, routes escalations, and maintains the brand voice at scale across every touchpoint.</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MEDIA</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Media Monitoring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Tracks every mention of the 76ers across all major media outlets, social platforms, and podcasts in real time. Delivers a daily briefing to the comms team flagging key narratives, sentiment shifts, and opportunities.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SPONSORSHIPS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Sponsorship Coordination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Tracks all sponsor deliverables, activation deadlines, and contract milestones. Flags upcoming obligations, generates compliance reports, and ensures no sponsor commitment falls through the cracks.</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SCOUTING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Player Intelligence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Aggregates public scouting reports, box scores, injury updates, and trade rumors across all 30 NBA teams. Surfaces daily briefings to the front office on target players and market movements.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LEGAL AND COMPLIANCE</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Contract Tracking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Monitors player contract status, option deadlines, trade windows, and salary cap implications. Flags critical dates to legal and front office leadership before they become urgent.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FINANCE, ANALYTICS, AND OPERATIONS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Six more agents.</a:t>
            </a:r>
          </a:p>
          <a:p>
            <a:r>
              <a:rPr sz="3600" b="1">
                <a:solidFill>
                  <a:srgbClr val="22D3EE"/>
                </a:solidFill>
                <a:latin typeface="Arial"/>
              </a:rPr>
              <a:t>Finance, arena, marketing, and analytics.</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FINANCE</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Financial Reporting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Pulls revenue data across ticket sales, concessions, merchandise, and sponsorships. Generates weekly financial summaries and flags variances against forecast for ownership and finance leadership.</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COMMUNITY</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Community Relations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Coordinates charitable appearances, community events, and player outreach programs. Manages scheduling, logistics, and follow-up communications for all community initiatives.</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HR</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Recruiting and Onboarding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Screens inbound applications for front office roles, schedules interviews, tracks candidate pipelines, and manages onboarding workflows for new hires across all departments.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ARENA OPS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Arena Operations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Coordinates event-day logistics, vendor schedules, security briefings, and facility setup across all 82 home games and arena events. Flags issues before game time.</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MARKETING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Campaign Management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Manages digital marketing campaigns across all platforms, tracks performance against KPIs, and generates weekly reports for the marketing team. Adjusts targeting based on real-time data.</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ANALYTICS</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Performance Reporting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Delivers daily operational dashboards to department heads covering ticket sales, fan sentiment, media coverage, sponsorship status, and financial performance. No manual report pulling required.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PILOT</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One pilot. 12 agents.</a:t>
            </a:r>
          </a:p>
          <a:p>
            <a:r>
              <a:rPr sz="3400" b="1">
                <a:solidFill>
                  <a:srgbClr val="22D3EE"/>
                </a:solidFill>
                <a:latin typeface="Arial"/>
              </a:rPr>
              <a:t>$4M-$8M in value over 6 months.</a:t>
            </a:r>
          </a:p>
        </p:txBody>
      </p:sp>
      <p:sp>
        <p:nvSpPr>
          <p:cNvPr id="4" name="Rectangle 3"/>
          <p:cNvSpPr/>
          <p:nvPr/>
        </p:nvSpPr>
        <p:spPr>
          <a:xfrm>
            <a:off x="731520" y="2487168"/>
            <a:ext cx="420624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4206240" cy="256032"/>
          </a:xfrm>
          <a:prstGeom prst="rect">
            <a:avLst/>
          </a:prstGeom>
          <a:noFill/>
        </p:spPr>
        <p:txBody>
          <a:bodyPr wrap="square">
            <a:spAutoFit/>
          </a:bodyPr>
          <a:lstStyle/>
          <a:p>
            <a:pPr algn="l"/>
            <a:r>
              <a:rPr sz="1000" b="1" i="0">
                <a:solidFill>
                  <a:srgbClr val="373737"/>
                </a:solidFill>
                <a:latin typeface="Arial"/>
              </a:rPr>
              <a:t>Agent Group</a:t>
            </a:r>
          </a:p>
        </p:txBody>
      </p:sp>
      <p:sp>
        <p:nvSpPr>
          <p:cNvPr id="6" name="Rectangle 5"/>
          <p:cNvSpPr/>
          <p:nvPr/>
        </p:nvSpPr>
        <p:spPr>
          <a:xfrm>
            <a:off x="5120640" y="2487168"/>
            <a:ext cx="3749039"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2505456"/>
            <a:ext cx="3749039" cy="256032"/>
          </a:xfrm>
          <a:prstGeom prst="rect">
            <a:avLst/>
          </a:prstGeom>
          <a:noFill/>
        </p:spPr>
        <p:txBody>
          <a:bodyPr wrap="square">
            <a:spAutoFit/>
          </a:bodyPr>
          <a:lstStyle/>
          <a:p>
            <a:pPr algn="l"/>
            <a:r>
              <a:rPr sz="1000" b="1" i="0">
                <a:solidFill>
                  <a:srgbClr val="373737"/>
                </a:solidFill>
                <a:latin typeface="Arial"/>
              </a:rPr>
              <a:t>Impact</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10" name="Rectangle 9"/>
          <p:cNvSpPr/>
          <p:nvPr/>
        </p:nvSpPr>
        <p:spPr>
          <a:xfrm>
            <a:off x="731520" y="281635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80360"/>
            <a:ext cx="4114800" cy="274320"/>
          </a:xfrm>
          <a:prstGeom prst="rect">
            <a:avLst/>
          </a:prstGeom>
          <a:noFill/>
        </p:spPr>
        <p:txBody>
          <a:bodyPr wrap="square">
            <a:spAutoFit/>
          </a:bodyPr>
          <a:lstStyle/>
          <a:p>
            <a:pPr algn="l"/>
            <a:r>
              <a:rPr sz="1000" b="0" i="0">
                <a:solidFill>
                  <a:srgbClr val="FFFFFF"/>
                </a:solidFill>
                <a:latin typeface="Arial"/>
              </a:rPr>
              <a:t>Ticket Sales + Fan Comms</a:t>
            </a:r>
          </a:p>
        </p:txBody>
      </p:sp>
      <p:sp>
        <p:nvSpPr>
          <p:cNvPr id="12" name="Rectangle 11"/>
          <p:cNvSpPr/>
          <p:nvPr/>
        </p:nvSpPr>
        <p:spPr>
          <a:xfrm>
            <a:off x="5120640" y="281635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880360"/>
            <a:ext cx="3657599" cy="274320"/>
          </a:xfrm>
          <a:prstGeom prst="rect">
            <a:avLst/>
          </a:prstGeom>
          <a:noFill/>
        </p:spPr>
        <p:txBody>
          <a:bodyPr wrap="square">
            <a:spAutoFit/>
          </a:bodyPr>
          <a:lstStyle/>
          <a:p>
            <a:pPr algn="l"/>
            <a:r>
              <a:rPr sz="1000" b="0" i="0">
                <a:solidFill>
                  <a:srgbClr val="737373"/>
                </a:solidFill>
                <a:latin typeface="Arial"/>
              </a:rPr>
              <a:t>3-5 coordinator roles replaced</a:t>
            </a:r>
          </a:p>
        </p:txBody>
      </p:sp>
      <p:sp>
        <p:nvSpPr>
          <p:cNvPr id="14" name="Rectangle 13"/>
          <p:cNvSpPr/>
          <p:nvPr/>
        </p:nvSpPr>
        <p:spPr>
          <a:xfrm>
            <a:off x="9052560" y="281635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80360"/>
            <a:ext cx="2834640" cy="274320"/>
          </a:xfrm>
          <a:prstGeom prst="rect">
            <a:avLst/>
          </a:prstGeom>
          <a:noFill/>
        </p:spPr>
        <p:txBody>
          <a:bodyPr wrap="square">
            <a:spAutoFit/>
          </a:bodyPr>
          <a:lstStyle/>
          <a:p>
            <a:pPr algn="l"/>
            <a:r>
              <a:rPr sz="1000" b="0" i="0">
                <a:solidFill>
                  <a:srgbClr val="737373"/>
                </a:solidFill>
                <a:latin typeface="Arial"/>
              </a:rPr>
              <a:t>$600K-$1.1M</a:t>
            </a:r>
          </a:p>
        </p:txBody>
      </p:sp>
      <p:sp>
        <p:nvSpPr>
          <p:cNvPr id="16" name="Rectangle 15"/>
          <p:cNvSpPr/>
          <p:nvPr/>
        </p:nvSpPr>
        <p:spPr>
          <a:xfrm>
            <a:off x="731520" y="3218688"/>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82696"/>
            <a:ext cx="4114800" cy="274320"/>
          </a:xfrm>
          <a:prstGeom prst="rect">
            <a:avLst/>
          </a:prstGeom>
          <a:noFill/>
        </p:spPr>
        <p:txBody>
          <a:bodyPr wrap="square">
            <a:spAutoFit/>
          </a:bodyPr>
          <a:lstStyle/>
          <a:p>
            <a:pPr algn="l"/>
            <a:r>
              <a:rPr sz="1000" b="0" i="0">
                <a:solidFill>
                  <a:srgbClr val="FFFFFF"/>
                </a:solidFill>
                <a:latin typeface="Arial"/>
              </a:rPr>
              <a:t>Media Monitoring + Campaign Mgmt</a:t>
            </a:r>
          </a:p>
        </p:txBody>
      </p:sp>
      <p:sp>
        <p:nvSpPr>
          <p:cNvPr id="18" name="Rectangle 17"/>
          <p:cNvSpPr/>
          <p:nvPr/>
        </p:nvSpPr>
        <p:spPr>
          <a:xfrm>
            <a:off x="5120640" y="3218688"/>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3282696"/>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20" name="Rectangle 19"/>
          <p:cNvSpPr/>
          <p:nvPr/>
        </p:nvSpPr>
        <p:spPr>
          <a:xfrm>
            <a:off x="9052560" y="3218688"/>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282696"/>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2" name="Rectangle 21"/>
          <p:cNvSpPr/>
          <p:nvPr/>
        </p:nvSpPr>
        <p:spPr>
          <a:xfrm>
            <a:off x="731520" y="3621024"/>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685032"/>
            <a:ext cx="4114800" cy="274320"/>
          </a:xfrm>
          <a:prstGeom prst="rect">
            <a:avLst/>
          </a:prstGeom>
          <a:noFill/>
        </p:spPr>
        <p:txBody>
          <a:bodyPr wrap="square">
            <a:spAutoFit/>
          </a:bodyPr>
          <a:lstStyle/>
          <a:p>
            <a:pPr algn="l"/>
            <a:r>
              <a:rPr sz="1000" b="0" i="0">
                <a:solidFill>
                  <a:srgbClr val="FFFFFF"/>
                </a:solidFill>
                <a:latin typeface="Arial"/>
              </a:rPr>
              <a:t>Sponsorship + Contract Tracking</a:t>
            </a:r>
          </a:p>
        </p:txBody>
      </p:sp>
      <p:sp>
        <p:nvSpPr>
          <p:cNvPr id="24" name="Rectangle 23"/>
          <p:cNvSpPr/>
          <p:nvPr/>
        </p:nvSpPr>
        <p:spPr>
          <a:xfrm>
            <a:off x="5120640" y="3621024"/>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3792" y="3685032"/>
            <a:ext cx="3657599" cy="274320"/>
          </a:xfrm>
          <a:prstGeom prst="rect">
            <a:avLst/>
          </a:prstGeom>
          <a:noFill/>
        </p:spPr>
        <p:txBody>
          <a:bodyPr wrap="square">
            <a:spAutoFit/>
          </a:bodyPr>
          <a:lstStyle/>
          <a:p>
            <a:pPr algn="l"/>
            <a:r>
              <a:rPr sz="1000" b="0" i="0">
                <a:solidFill>
                  <a:srgbClr val="737373"/>
                </a:solidFill>
                <a:latin typeface="Arial"/>
              </a:rPr>
              <a:t>2-3 coordinator roles replaced</a:t>
            </a:r>
          </a:p>
        </p:txBody>
      </p:sp>
      <p:sp>
        <p:nvSpPr>
          <p:cNvPr id="26" name="Rectangle 25"/>
          <p:cNvSpPr/>
          <p:nvPr/>
        </p:nvSpPr>
        <p:spPr>
          <a:xfrm>
            <a:off x="9052560" y="3621024"/>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685032"/>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8" name="Rectangle 27"/>
          <p:cNvSpPr/>
          <p:nvPr/>
        </p:nvSpPr>
        <p:spPr>
          <a:xfrm>
            <a:off x="731520" y="4023360"/>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87368"/>
            <a:ext cx="4114800" cy="274320"/>
          </a:xfrm>
          <a:prstGeom prst="rect">
            <a:avLst/>
          </a:prstGeom>
          <a:noFill/>
        </p:spPr>
        <p:txBody>
          <a:bodyPr wrap="square">
            <a:spAutoFit/>
          </a:bodyPr>
          <a:lstStyle/>
          <a:p>
            <a:pPr algn="l"/>
            <a:r>
              <a:rPr sz="1000" b="0" i="0">
                <a:solidFill>
                  <a:srgbClr val="FFFFFF"/>
                </a:solidFill>
                <a:latin typeface="Arial"/>
              </a:rPr>
              <a:t>Player Intelligence + Scouting</a:t>
            </a:r>
          </a:p>
        </p:txBody>
      </p:sp>
      <p:sp>
        <p:nvSpPr>
          <p:cNvPr id="30" name="Rectangle 29"/>
          <p:cNvSpPr/>
          <p:nvPr/>
        </p:nvSpPr>
        <p:spPr>
          <a:xfrm>
            <a:off x="5120640" y="4023360"/>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93792" y="4087368"/>
            <a:ext cx="3657599" cy="274320"/>
          </a:xfrm>
          <a:prstGeom prst="rect">
            <a:avLst/>
          </a:prstGeom>
          <a:noFill/>
        </p:spPr>
        <p:txBody>
          <a:bodyPr wrap="square">
            <a:spAutoFit/>
          </a:bodyPr>
          <a:lstStyle/>
          <a:p>
            <a:pPr algn="l"/>
            <a:r>
              <a:rPr sz="1000" b="0" i="0">
                <a:solidFill>
                  <a:srgbClr val="737373"/>
                </a:solidFill>
                <a:latin typeface="Arial"/>
              </a:rPr>
              <a:t>1-2 analyst roles</a:t>
            </a:r>
          </a:p>
        </p:txBody>
      </p:sp>
      <p:sp>
        <p:nvSpPr>
          <p:cNvPr id="32" name="Rectangle 31"/>
          <p:cNvSpPr/>
          <p:nvPr/>
        </p:nvSpPr>
        <p:spPr>
          <a:xfrm>
            <a:off x="9052560" y="4023360"/>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4087368"/>
            <a:ext cx="2834640" cy="274320"/>
          </a:xfrm>
          <a:prstGeom prst="rect">
            <a:avLst/>
          </a:prstGeom>
          <a:noFill/>
        </p:spPr>
        <p:txBody>
          <a:bodyPr wrap="square">
            <a:spAutoFit/>
          </a:bodyPr>
          <a:lstStyle/>
          <a:p>
            <a:pPr algn="l"/>
            <a:r>
              <a:rPr sz="1000" b="0" i="0">
                <a:solidFill>
                  <a:srgbClr val="737373"/>
                </a:solidFill>
                <a:latin typeface="Arial"/>
              </a:rPr>
              <a:t>$300K-$500K</a:t>
            </a:r>
          </a:p>
        </p:txBody>
      </p:sp>
      <p:sp>
        <p:nvSpPr>
          <p:cNvPr id="34" name="Rectangle 33"/>
          <p:cNvSpPr/>
          <p:nvPr/>
        </p:nvSpPr>
        <p:spPr>
          <a:xfrm>
            <a:off x="731520" y="4425696"/>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89704"/>
            <a:ext cx="4114800" cy="274320"/>
          </a:xfrm>
          <a:prstGeom prst="rect">
            <a:avLst/>
          </a:prstGeom>
          <a:noFill/>
        </p:spPr>
        <p:txBody>
          <a:bodyPr wrap="square">
            <a:spAutoFit/>
          </a:bodyPr>
          <a:lstStyle/>
          <a:p>
            <a:pPr algn="l"/>
            <a:r>
              <a:rPr sz="1000" b="0" i="0">
                <a:solidFill>
                  <a:srgbClr val="FFFFFF"/>
                </a:solidFill>
                <a:latin typeface="Arial"/>
              </a:rPr>
              <a:t>Finance + Analytics Reporting</a:t>
            </a:r>
          </a:p>
        </p:txBody>
      </p:sp>
      <p:sp>
        <p:nvSpPr>
          <p:cNvPr id="36" name="Rectangle 35"/>
          <p:cNvSpPr/>
          <p:nvPr/>
        </p:nvSpPr>
        <p:spPr>
          <a:xfrm>
            <a:off x="5120640" y="4425696"/>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4489704"/>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38" name="Rectangle 37"/>
          <p:cNvSpPr/>
          <p:nvPr/>
        </p:nvSpPr>
        <p:spPr>
          <a:xfrm>
            <a:off x="9052560" y="4425696"/>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489704"/>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40" name="Rectangle 39"/>
          <p:cNvSpPr/>
          <p:nvPr/>
        </p:nvSpPr>
        <p:spPr>
          <a:xfrm>
            <a:off x="731520" y="482803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892040"/>
            <a:ext cx="4114800" cy="274320"/>
          </a:xfrm>
          <a:prstGeom prst="rect">
            <a:avLst/>
          </a:prstGeom>
          <a:noFill/>
        </p:spPr>
        <p:txBody>
          <a:bodyPr wrap="square">
            <a:spAutoFit/>
          </a:bodyPr>
          <a:lstStyle/>
          <a:p>
            <a:pPr algn="l"/>
            <a:r>
              <a:rPr sz="1000" b="0" i="0">
                <a:solidFill>
                  <a:srgbClr val="FFFFFF"/>
                </a:solidFill>
                <a:latin typeface="Arial"/>
              </a:rPr>
              <a:t>Arena Ops + HR + Community</a:t>
            </a:r>
          </a:p>
        </p:txBody>
      </p:sp>
      <p:sp>
        <p:nvSpPr>
          <p:cNvPr id="42" name="Rectangle 41"/>
          <p:cNvSpPr/>
          <p:nvPr/>
        </p:nvSpPr>
        <p:spPr>
          <a:xfrm>
            <a:off x="5120640" y="482803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4892040"/>
            <a:ext cx="3657599" cy="274320"/>
          </a:xfrm>
          <a:prstGeom prst="rect">
            <a:avLst/>
          </a:prstGeom>
          <a:noFill/>
        </p:spPr>
        <p:txBody>
          <a:bodyPr wrap="square">
            <a:spAutoFit/>
          </a:bodyPr>
          <a:lstStyle/>
          <a:p>
            <a:pPr algn="l"/>
            <a:r>
              <a:rPr sz="1000" b="0" i="0">
                <a:solidFill>
                  <a:srgbClr val="737373"/>
                </a:solidFill>
                <a:latin typeface="Arial"/>
              </a:rPr>
              <a:t>3-4 coordinator roles</a:t>
            </a:r>
          </a:p>
        </p:txBody>
      </p:sp>
      <p:sp>
        <p:nvSpPr>
          <p:cNvPr id="44" name="Rectangle 43"/>
          <p:cNvSpPr/>
          <p:nvPr/>
        </p:nvSpPr>
        <p:spPr>
          <a:xfrm>
            <a:off x="9052560" y="482803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892040"/>
            <a:ext cx="2834640" cy="274320"/>
          </a:xfrm>
          <a:prstGeom prst="rect">
            <a:avLst/>
          </a:prstGeom>
          <a:noFill/>
        </p:spPr>
        <p:txBody>
          <a:bodyPr wrap="square">
            <a:spAutoFit/>
          </a:bodyPr>
          <a:lstStyle/>
          <a:p>
            <a:pPr algn="l"/>
            <a:r>
              <a:rPr sz="1000" b="0" i="0">
                <a:solidFill>
                  <a:srgbClr val="737373"/>
                </a:solidFill>
                <a:latin typeface="Arial"/>
              </a:rPr>
              <a:t>$500K-$900K</a:t>
            </a:r>
          </a:p>
        </p:txBody>
      </p:sp>
      <p:sp>
        <p:nvSpPr>
          <p:cNvPr id="46" name="Rectangle 45"/>
          <p:cNvSpPr/>
          <p:nvPr/>
        </p:nvSpPr>
        <p:spPr>
          <a:xfrm>
            <a:off x="731520" y="5230368"/>
            <a:ext cx="420624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294376"/>
            <a:ext cx="4114800" cy="274320"/>
          </a:xfrm>
          <a:prstGeom prst="rect">
            <a:avLst/>
          </a:prstGeom>
          <a:noFill/>
        </p:spPr>
        <p:txBody>
          <a:bodyPr wrap="square">
            <a:spAutoFit/>
          </a:bodyPr>
          <a:lstStyle/>
          <a:p>
            <a:pPr algn="l"/>
            <a:r>
              <a:rPr sz="1200" b="1" i="0">
                <a:solidFill>
                  <a:srgbClr val="FFFFFF"/>
                </a:solidFill>
                <a:latin typeface="Arial"/>
              </a:rPr>
              <a:t>TOTAL (12 AGENTS)</a:t>
            </a:r>
          </a:p>
        </p:txBody>
      </p:sp>
      <p:sp>
        <p:nvSpPr>
          <p:cNvPr id="48" name="Rectangle 47"/>
          <p:cNvSpPr/>
          <p:nvPr/>
        </p:nvSpPr>
        <p:spPr>
          <a:xfrm>
            <a:off x="5120640" y="5230368"/>
            <a:ext cx="3749039"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93792" y="5294376"/>
            <a:ext cx="3657599" cy="274320"/>
          </a:xfrm>
          <a:prstGeom prst="rect">
            <a:avLst/>
          </a:prstGeom>
          <a:noFill/>
        </p:spPr>
        <p:txBody>
          <a:bodyPr wrap="square">
            <a:spAutoFit/>
          </a:bodyPr>
          <a:lstStyle/>
          <a:p>
            <a:pPr algn="l"/>
            <a:r>
              <a:rPr sz="1200" b="1" i="0">
                <a:solidFill>
                  <a:srgbClr val="FFFFFF"/>
                </a:solidFill>
                <a:latin typeface="Arial"/>
              </a:rPr>
              <a:t>13-20 roles replaced + revenue uplift</a:t>
            </a:r>
          </a:p>
        </p:txBody>
      </p:sp>
      <p:sp>
        <p:nvSpPr>
          <p:cNvPr id="50" name="Rectangle 49"/>
          <p:cNvSpPr/>
          <p:nvPr/>
        </p:nvSpPr>
        <p:spPr>
          <a:xfrm>
            <a:off x="9052560" y="5230368"/>
            <a:ext cx="292608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5294376"/>
            <a:ext cx="2834640" cy="274320"/>
          </a:xfrm>
          <a:prstGeom prst="rect">
            <a:avLst/>
          </a:prstGeom>
          <a:noFill/>
        </p:spPr>
        <p:txBody>
          <a:bodyPr wrap="square">
            <a:spAutoFit/>
          </a:bodyPr>
          <a:lstStyle/>
          <a:p>
            <a:pPr algn="l"/>
            <a:r>
              <a:rPr sz="1200" b="1" i="0">
                <a:solidFill>
                  <a:srgbClr val="22D3EE"/>
                </a:solidFill>
                <a:latin typeface="Arial"/>
              </a:rPr>
              <a:t>$2.6M-$4.6M</a:t>
            </a:r>
          </a:p>
        </p:txBody>
      </p:sp>
      <p:sp>
        <p:nvSpPr>
          <p:cNvPr id="52" name="TextBox 51"/>
          <p:cNvSpPr txBox="1"/>
          <p:nvPr/>
        </p:nvSpPr>
        <p:spPr>
          <a:xfrm>
            <a:off x="731520" y="6263640"/>
            <a:ext cx="10515600" cy="320040"/>
          </a:xfrm>
          <a:prstGeom prst="rect">
            <a:avLst/>
          </a:prstGeom>
          <a:noFill/>
        </p:spPr>
        <p:txBody>
          <a:bodyPr wrap="square">
            <a:spAutoFit/>
          </a:bodyPr>
          <a:lstStyle/>
          <a:p>
            <a:pPr algn="l"/>
            <a:r>
              <a:rPr sz="1100" b="0" i="0">
                <a:solidFill>
                  <a:srgbClr val="373737"/>
                </a:solidFill>
                <a:latin typeface="Arial"/>
              </a:rPr>
              <a:t>Deployment cost (6 months): $200K-$400K   |   Net value: $2.2M-$4.2M   |   Payback: 45-60 days</a:t>
            </a:r>
          </a:p>
        </p:txBody>
      </p:sp>
      <p:sp>
        <p:nvSpPr>
          <p:cNvPr id="53" name="TextBox 52"/>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pilot. 30 days to go live.</a:t>
            </a:r>
          </a:p>
          <a:p>
            <a:r>
              <a:rPr sz="3800" b="1">
                <a:solidFill>
                  <a:srgbClr val="22D3EE"/>
                </a:solidFill>
                <a:latin typeface="Arial"/>
              </a:rPr>
              <a:t>Scaled across the full front office in 6 months.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Ticket Sales + Fan Comms</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Ticket Sales Agent and Fan Communications Agent go live. Every fan touchpoint automated. Sales pipeline reporting daily. Results visible before end of month.</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600" b="1" i="0">
                <a:solidFill>
                  <a:srgbClr val="22D3EE"/>
                </a:solidFill>
                <a:latin typeface="Arial"/>
              </a:rPr>
              <a:t>$600K-$1.1M annualized</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2-3</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Media + Sponsorships + Finance</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Media monitoring, sponsorship tracking, contract management, and financial reporting agents deployed. Front office gets daily briefings automatically.</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600" b="1" i="0">
                <a:solidFill>
                  <a:srgbClr val="22D3EE"/>
                </a:solidFill>
                <a:latin typeface="Arial"/>
              </a:rPr>
              <a:t>$1.5M-$2.7M by month 3</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4-6</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Full 12-Agent Coverage</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Scouting intelligence, arena operations, HR, community, marketing, and analytics agents fully operational. Complete AI workforce running across the entire front office.</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600" b="1" i="0">
                <a:solidFill>
                  <a:srgbClr val="22D3EE"/>
                </a:solidFill>
                <a:latin typeface="Arial"/>
              </a:rPr>
              <a:t>$2.6M-$4.6M by month 6</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5000" b="1">
                <a:solidFill>
                  <a:srgbClr val="22D3EE"/>
                </a:solidFill>
                <a:latin typeface="Arial"/>
              </a:rPr>
              <a:t>$2.6M-$4.6M in value.</a:t>
            </a:r>
          </a:p>
          <a:p>
            <a:r>
              <a:rPr sz="5000" b="1">
                <a:solidFill>
                  <a:srgbClr val="FFFFFF"/>
                </a:solidFill>
                <a:latin typeface="Arial"/>
              </a:rPr>
              <a:t>12 agents. 30 days to live.</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players keep playing. The coaches keep coaching.
The AI workforce handles every coordinator, analyst, and back-office function surrounding them.</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