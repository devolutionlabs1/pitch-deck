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4" r:id="rId15"/>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502920"/>
            <a:ext cx="7315200" cy="365760"/>
          </a:xfrm>
          <a:prstGeom prst="rect">
            <a:avLst/>
          </a:prstGeom>
          <a:noFill/>
        </p:spPr>
        <p:txBody>
          <a:bodyPr wrap="square">
            <a:spAutoFit/>
          </a:bodyPr>
          <a:lstStyle/>
          <a:p>
            <a:pPr algn="l"/>
            <a:r>
              <a:rPr sz="1000" b="1" i="0">
                <a:solidFill>
                  <a:srgbClr val="22D3EE"/>
                </a:solidFill>
                <a:latin typeface="Arial"/>
              </a:rPr>
              <a:t>DEVOLUTION LAB  |  PROPOSAL</a:t>
            </a:r>
          </a:p>
        </p:txBody>
      </p:sp>
      <p:sp>
        <p:nvSpPr>
          <p:cNvPr id="3" name="TextBox 2"/>
          <p:cNvSpPr txBox="1"/>
          <p:nvPr/>
        </p:nvSpPr>
        <p:spPr>
          <a:xfrm>
            <a:off x="731520" y="1188720"/>
            <a:ext cx="10058400" cy="2286000"/>
          </a:xfrm>
          <a:prstGeom prst="rect">
            <a:avLst/>
          </a:prstGeom>
          <a:noFill/>
        </p:spPr>
        <p:txBody>
          <a:bodyPr wrap="square">
            <a:spAutoFit/>
          </a:bodyPr>
          <a:lstStyle/>
          <a:p>
            <a:r>
              <a:rPr sz="5200" b="1">
                <a:solidFill>
                  <a:srgbClr val="FFFFFF"/>
                </a:solidFill>
                <a:latin typeface="Arial"/>
              </a:rPr>
              <a:t>The AI Workforce for the</a:t>
            </a:r>
          </a:p>
          <a:p>
            <a:r>
              <a:rPr sz="5200" b="1">
                <a:solidFill>
                  <a:srgbClr val="22D3EE"/>
                </a:solidFill>
                <a:latin typeface="Arial"/>
              </a:rPr>
              <a:t>Philadelphia 76ers</a:t>
            </a:r>
          </a:p>
        </p:txBody>
      </p:sp>
      <p:sp>
        <p:nvSpPr>
          <p:cNvPr id="4" name="TextBox 3"/>
          <p:cNvSpPr txBox="1"/>
          <p:nvPr/>
        </p:nvSpPr>
        <p:spPr>
          <a:xfrm>
            <a:off x="731520" y="4754880"/>
            <a:ext cx="10058400" cy="457200"/>
          </a:xfrm>
          <a:prstGeom prst="rect">
            <a:avLst/>
          </a:prstGeom>
          <a:noFill/>
        </p:spPr>
        <p:txBody>
          <a:bodyPr wrap="square">
            <a:spAutoFit/>
          </a:bodyPr>
          <a:lstStyle/>
          <a:p>
            <a:pPr algn="l"/>
            <a:r>
              <a:rPr sz="1300" b="0" i="0">
                <a:solidFill>
                  <a:srgbClr val="373737"/>
                </a:solidFill>
                <a:latin typeface="Arial"/>
              </a:rPr>
              <a:t>NBA Franchise  |  Wells Fargo Center  |  Philadelphia, PA  |  2026</a:t>
            </a:r>
          </a:p>
        </p:txBody>
      </p:sp>
      <p:sp>
        <p:nvSpPr>
          <p:cNvPr id="5" name="TextBox 4"/>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9144000" cy="320040"/>
          </a:xfrm>
          <a:prstGeom prst="rect">
            <a:avLst/>
          </a:prstGeom>
          <a:noFill/>
        </p:spPr>
        <p:txBody>
          <a:bodyPr wrap="square">
            <a:spAutoFit/>
          </a:bodyPr>
          <a:lstStyle/>
          <a:p>
            <a:pPr algn="l"/>
            <a:r>
              <a:rPr sz="900" b="1" i="0">
                <a:solidFill>
                  <a:srgbClr val="22D3EE"/>
                </a:solidFill>
                <a:latin typeface="Arial"/>
              </a:rPr>
              <a:t>THE PHILADELPHIA 76ERS AT A GLANCE</a:t>
            </a:r>
          </a:p>
        </p:txBody>
      </p:sp>
      <p:sp>
        <p:nvSpPr>
          <p:cNvPr id="3" name="TextBox 2"/>
          <p:cNvSpPr txBox="1"/>
          <p:nvPr/>
        </p:nvSpPr>
        <p:spPr>
          <a:xfrm>
            <a:off x="731520" y="822960"/>
            <a:ext cx="10515600" cy="1828800"/>
          </a:xfrm>
          <a:prstGeom prst="rect">
            <a:avLst/>
          </a:prstGeom>
          <a:noFill/>
        </p:spPr>
        <p:txBody>
          <a:bodyPr wrap="square">
            <a:spAutoFit/>
          </a:bodyPr>
          <a:lstStyle/>
          <a:p>
            <a:r>
              <a:rPr sz="3800" b="1">
                <a:solidFill>
                  <a:srgbClr val="FFFFFF"/>
                </a:solidFill>
                <a:latin typeface="Arial"/>
              </a:rPr>
              <a:t>One of the NBA's most valuable franchises.</a:t>
            </a:r>
          </a:p>
          <a:p>
            <a:r>
              <a:rPr sz="3800" b="1">
                <a:solidFill>
                  <a:srgbClr val="22D3EE"/>
                </a:solidFill>
                <a:latin typeface="Arial"/>
              </a:rPr>
              <a:t>Massive operations. Massive opportunity.</a:t>
            </a:r>
          </a:p>
        </p:txBody>
      </p:sp>
      <p:sp>
        <p:nvSpPr>
          <p:cNvPr id="4" name="Rectangle 3"/>
          <p:cNvSpPr/>
          <p:nvPr/>
        </p:nvSpPr>
        <p:spPr>
          <a:xfrm>
            <a:off x="731520" y="2926080"/>
            <a:ext cx="2651760" cy="256032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3108960"/>
            <a:ext cx="2377440" cy="822960"/>
          </a:xfrm>
          <a:prstGeom prst="rect">
            <a:avLst/>
          </a:prstGeom>
          <a:noFill/>
        </p:spPr>
        <p:txBody>
          <a:bodyPr wrap="square">
            <a:spAutoFit/>
          </a:bodyPr>
          <a:lstStyle/>
          <a:p>
            <a:pPr algn="l"/>
            <a:r>
              <a:rPr sz="3200" b="1" i="0">
                <a:solidFill>
                  <a:srgbClr val="22D3EE"/>
                </a:solidFill>
                <a:latin typeface="Arial"/>
              </a:rPr>
              <a:t>$3.5B+</a:t>
            </a:r>
          </a:p>
        </p:txBody>
      </p:sp>
      <p:sp>
        <p:nvSpPr>
          <p:cNvPr id="6" name="TextBox 5"/>
          <p:cNvSpPr txBox="1"/>
          <p:nvPr/>
        </p:nvSpPr>
        <p:spPr>
          <a:xfrm>
            <a:off x="868680" y="3977639"/>
            <a:ext cx="2377440" cy="347472"/>
          </a:xfrm>
          <a:prstGeom prst="rect">
            <a:avLst/>
          </a:prstGeom>
          <a:noFill/>
        </p:spPr>
        <p:txBody>
          <a:bodyPr wrap="square">
            <a:spAutoFit/>
          </a:bodyPr>
          <a:lstStyle/>
          <a:p>
            <a:pPr algn="l"/>
            <a:r>
              <a:rPr sz="1300" b="1" i="0">
                <a:solidFill>
                  <a:srgbClr val="FFFFFF"/>
                </a:solidFill>
                <a:latin typeface="Arial"/>
              </a:rPr>
              <a:t>Franchise Value</a:t>
            </a:r>
          </a:p>
        </p:txBody>
      </p:sp>
      <p:sp>
        <p:nvSpPr>
          <p:cNvPr id="7" name="TextBox 6"/>
          <p:cNvSpPr txBox="1"/>
          <p:nvPr/>
        </p:nvSpPr>
        <p:spPr>
          <a:xfrm>
            <a:off x="868680" y="4370832"/>
            <a:ext cx="2377440" cy="640080"/>
          </a:xfrm>
          <a:prstGeom prst="rect">
            <a:avLst/>
          </a:prstGeom>
          <a:noFill/>
        </p:spPr>
        <p:txBody>
          <a:bodyPr wrap="square">
            <a:spAutoFit/>
          </a:bodyPr>
          <a:lstStyle/>
          <a:p>
            <a:pPr algn="l"/>
            <a:r>
              <a:rPr sz="1100" b="0" i="0">
                <a:solidFill>
                  <a:srgbClr val="737373"/>
                </a:solidFill>
                <a:latin typeface="Arial"/>
              </a:rPr>
              <a:t>One of the most valuable teams in the NBA</a:t>
            </a:r>
          </a:p>
        </p:txBody>
      </p:sp>
      <p:sp>
        <p:nvSpPr>
          <p:cNvPr id="8" name="Rectangle 7"/>
          <p:cNvSpPr/>
          <p:nvPr/>
        </p:nvSpPr>
        <p:spPr>
          <a:xfrm>
            <a:off x="3566160" y="2926080"/>
            <a:ext cx="2651760" cy="256032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703320" y="3108960"/>
            <a:ext cx="2377440" cy="822960"/>
          </a:xfrm>
          <a:prstGeom prst="rect">
            <a:avLst/>
          </a:prstGeom>
          <a:noFill/>
        </p:spPr>
        <p:txBody>
          <a:bodyPr wrap="square">
            <a:spAutoFit/>
          </a:bodyPr>
          <a:lstStyle/>
          <a:p>
            <a:pPr algn="l"/>
            <a:r>
              <a:rPr sz="3200" b="1" i="0">
                <a:solidFill>
                  <a:srgbClr val="22D3EE"/>
                </a:solidFill>
                <a:latin typeface="Arial"/>
              </a:rPr>
              <a:t>20,000+</a:t>
            </a:r>
          </a:p>
        </p:txBody>
      </p:sp>
      <p:sp>
        <p:nvSpPr>
          <p:cNvPr id="10" name="TextBox 9"/>
          <p:cNvSpPr txBox="1"/>
          <p:nvPr/>
        </p:nvSpPr>
        <p:spPr>
          <a:xfrm>
            <a:off x="3703320" y="3977639"/>
            <a:ext cx="2377440" cy="347472"/>
          </a:xfrm>
          <a:prstGeom prst="rect">
            <a:avLst/>
          </a:prstGeom>
          <a:noFill/>
        </p:spPr>
        <p:txBody>
          <a:bodyPr wrap="square">
            <a:spAutoFit/>
          </a:bodyPr>
          <a:lstStyle/>
          <a:p>
            <a:pPr algn="l"/>
            <a:r>
              <a:rPr sz="1300" b="1" i="0">
                <a:solidFill>
                  <a:srgbClr val="FFFFFF"/>
                </a:solidFill>
                <a:latin typeface="Arial"/>
              </a:rPr>
              <a:t>Seats Per Game</a:t>
            </a:r>
          </a:p>
        </p:txBody>
      </p:sp>
      <p:sp>
        <p:nvSpPr>
          <p:cNvPr id="11" name="TextBox 10"/>
          <p:cNvSpPr txBox="1"/>
          <p:nvPr/>
        </p:nvSpPr>
        <p:spPr>
          <a:xfrm>
            <a:off x="3703320" y="4370832"/>
            <a:ext cx="2377440" cy="640080"/>
          </a:xfrm>
          <a:prstGeom prst="rect">
            <a:avLst/>
          </a:prstGeom>
          <a:noFill/>
        </p:spPr>
        <p:txBody>
          <a:bodyPr wrap="square">
            <a:spAutoFit/>
          </a:bodyPr>
          <a:lstStyle/>
          <a:p>
            <a:pPr algn="l"/>
            <a:r>
              <a:rPr sz="1100" b="0" i="0">
                <a:solidFill>
                  <a:srgbClr val="737373"/>
                </a:solidFill>
                <a:latin typeface="Arial"/>
              </a:rPr>
              <a:t>Wells Fargo Center capacity</a:t>
            </a:r>
          </a:p>
        </p:txBody>
      </p:sp>
      <p:sp>
        <p:nvSpPr>
          <p:cNvPr id="12" name="Rectangle 11"/>
          <p:cNvSpPr/>
          <p:nvPr/>
        </p:nvSpPr>
        <p:spPr>
          <a:xfrm>
            <a:off x="6400800" y="2926080"/>
            <a:ext cx="2651760" cy="256032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37960" y="3108960"/>
            <a:ext cx="2377440" cy="822960"/>
          </a:xfrm>
          <a:prstGeom prst="rect">
            <a:avLst/>
          </a:prstGeom>
          <a:noFill/>
        </p:spPr>
        <p:txBody>
          <a:bodyPr wrap="square">
            <a:spAutoFit/>
          </a:bodyPr>
          <a:lstStyle/>
          <a:p>
            <a:pPr algn="l"/>
            <a:r>
              <a:rPr sz="3200" b="1" i="0">
                <a:solidFill>
                  <a:srgbClr val="22D3EE"/>
                </a:solidFill>
                <a:latin typeface="Arial"/>
              </a:rPr>
              <a:t>82</a:t>
            </a:r>
          </a:p>
        </p:txBody>
      </p:sp>
      <p:sp>
        <p:nvSpPr>
          <p:cNvPr id="14" name="TextBox 13"/>
          <p:cNvSpPr txBox="1"/>
          <p:nvPr/>
        </p:nvSpPr>
        <p:spPr>
          <a:xfrm>
            <a:off x="6537960" y="3977639"/>
            <a:ext cx="2377440" cy="347472"/>
          </a:xfrm>
          <a:prstGeom prst="rect">
            <a:avLst/>
          </a:prstGeom>
          <a:noFill/>
        </p:spPr>
        <p:txBody>
          <a:bodyPr wrap="square">
            <a:spAutoFit/>
          </a:bodyPr>
          <a:lstStyle/>
          <a:p>
            <a:pPr algn="l"/>
            <a:r>
              <a:rPr sz="1300" b="1" i="0">
                <a:solidFill>
                  <a:srgbClr val="FFFFFF"/>
                </a:solidFill>
                <a:latin typeface="Arial"/>
              </a:rPr>
              <a:t>Games Per Season</a:t>
            </a:r>
          </a:p>
        </p:txBody>
      </p:sp>
      <p:sp>
        <p:nvSpPr>
          <p:cNvPr id="15" name="TextBox 14"/>
          <p:cNvSpPr txBox="1"/>
          <p:nvPr/>
        </p:nvSpPr>
        <p:spPr>
          <a:xfrm>
            <a:off x="6537960" y="4370832"/>
            <a:ext cx="2377440" cy="640080"/>
          </a:xfrm>
          <a:prstGeom prst="rect">
            <a:avLst/>
          </a:prstGeom>
          <a:noFill/>
        </p:spPr>
        <p:txBody>
          <a:bodyPr wrap="square">
            <a:spAutoFit/>
          </a:bodyPr>
          <a:lstStyle/>
          <a:p>
            <a:pPr algn="l"/>
            <a:r>
              <a:rPr sz="1100" b="0" i="0">
                <a:solidFill>
                  <a:srgbClr val="737373"/>
                </a:solidFill>
                <a:latin typeface="Arial"/>
              </a:rPr>
              <a:t>Home and away, year-round operations</a:t>
            </a:r>
          </a:p>
        </p:txBody>
      </p:sp>
      <p:sp>
        <p:nvSpPr>
          <p:cNvPr id="16" name="Rectangle 15"/>
          <p:cNvSpPr/>
          <p:nvPr/>
        </p:nvSpPr>
        <p:spPr>
          <a:xfrm>
            <a:off x="9235440" y="2926080"/>
            <a:ext cx="2651760" cy="256032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72600" y="3108960"/>
            <a:ext cx="2377440" cy="822960"/>
          </a:xfrm>
          <a:prstGeom prst="rect">
            <a:avLst/>
          </a:prstGeom>
          <a:noFill/>
        </p:spPr>
        <p:txBody>
          <a:bodyPr wrap="square">
            <a:spAutoFit/>
          </a:bodyPr>
          <a:lstStyle/>
          <a:p>
            <a:pPr algn="l"/>
            <a:r>
              <a:rPr sz="3200" b="1" i="0">
                <a:solidFill>
                  <a:srgbClr val="22D3EE"/>
                </a:solidFill>
                <a:latin typeface="Arial"/>
              </a:rPr>
              <a:t>300+</a:t>
            </a:r>
          </a:p>
        </p:txBody>
      </p:sp>
      <p:sp>
        <p:nvSpPr>
          <p:cNvPr id="18" name="TextBox 17"/>
          <p:cNvSpPr txBox="1"/>
          <p:nvPr/>
        </p:nvSpPr>
        <p:spPr>
          <a:xfrm>
            <a:off x="9372600" y="3977639"/>
            <a:ext cx="2377440" cy="347472"/>
          </a:xfrm>
          <a:prstGeom prst="rect">
            <a:avLst/>
          </a:prstGeom>
          <a:noFill/>
        </p:spPr>
        <p:txBody>
          <a:bodyPr wrap="square">
            <a:spAutoFit/>
          </a:bodyPr>
          <a:lstStyle/>
          <a:p>
            <a:pPr algn="l"/>
            <a:r>
              <a:rPr sz="1300" b="1" i="0">
                <a:solidFill>
                  <a:srgbClr val="FFFFFF"/>
                </a:solidFill>
                <a:latin typeface="Arial"/>
              </a:rPr>
              <a:t>Full-Time Staff</a:t>
            </a:r>
          </a:p>
        </p:txBody>
      </p:sp>
      <p:sp>
        <p:nvSpPr>
          <p:cNvPr id="19" name="TextBox 18"/>
          <p:cNvSpPr txBox="1"/>
          <p:nvPr/>
        </p:nvSpPr>
        <p:spPr>
          <a:xfrm>
            <a:off x="9372600" y="4370832"/>
            <a:ext cx="2377440" cy="640080"/>
          </a:xfrm>
          <a:prstGeom prst="rect">
            <a:avLst/>
          </a:prstGeom>
          <a:noFill/>
        </p:spPr>
        <p:txBody>
          <a:bodyPr wrap="square">
            <a:spAutoFit/>
          </a:bodyPr>
          <a:lstStyle/>
          <a:p>
            <a:pPr algn="l"/>
            <a:r>
              <a:rPr sz="1100" b="0" i="0">
                <a:solidFill>
                  <a:srgbClr val="737373"/>
                </a:solidFill>
                <a:latin typeface="Arial"/>
              </a:rPr>
              <a:t>Front office, arena, and operations teams</a:t>
            </a:r>
          </a:p>
        </p:txBody>
      </p:sp>
      <p:sp>
        <p:nvSpPr>
          <p:cNvPr id="20" name="TextBox 19"/>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9144000" cy="320040"/>
          </a:xfrm>
          <a:prstGeom prst="rect">
            <a:avLst/>
          </a:prstGeom>
          <a:noFill/>
        </p:spPr>
        <p:txBody>
          <a:bodyPr wrap="square">
            <a:spAutoFit/>
          </a:bodyPr>
          <a:lstStyle/>
          <a:p>
            <a:pPr algn="l"/>
            <a:r>
              <a:rPr sz="900" b="1" i="0">
                <a:solidFill>
                  <a:srgbClr val="22D3EE"/>
                </a:solidFill>
                <a:latin typeface="Arial"/>
              </a:rPr>
              <a:t>THE OPPORTUNITY</a:t>
            </a:r>
          </a:p>
        </p:txBody>
      </p:sp>
      <p:sp>
        <p:nvSpPr>
          <p:cNvPr id="3" name="TextBox 2"/>
          <p:cNvSpPr txBox="1"/>
          <p:nvPr/>
        </p:nvSpPr>
        <p:spPr>
          <a:xfrm>
            <a:off x="731520" y="822960"/>
            <a:ext cx="10515600" cy="1828800"/>
          </a:xfrm>
          <a:prstGeom prst="rect">
            <a:avLst/>
          </a:prstGeom>
          <a:noFill/>
        </p:spPr>
        <p:txBody>
          <a:bodyPr wrap="square">
            <a:spAutoFit/>
          </a:bodyPr>
          <a:lstStyle/>
          <a:p>
            <a:r>
              <a:rPr sz="3800" b="1">
                <a:solidFill>
                  <a:srgbClr val="FFFFFF"/>
                </a:solidFill>
                <a:latin typeface="Arial"/>
              </a:rPr>
              <a:t>The 76ers are a world-class team.</a:t>
            </a:r>
          </a:p>
          <a:p>
            <a:r>
              <a:rPr sz="3800" b="1">
                <a:solidFill>
                  <a:srgbClr val="22D3EE"/>
                </a:solidFill>
                <a:latin typeface="Arial"/>
              </a:rPr>
              <a:t>The back office runs like a mid-size company.</a:t>
            </a:r>
          </a:p>
        </p:txBody>
      </p:sp>
      <p:sp>
        <p:nvSpPr>
          <p:cNvPr id="4" name="Rectangle 3"/>
          <p:cNvSpPr/>
          <p:nvPr/>
        </p:nvSpPr>
        <p:spPr>
          <a:xfrm>
            <a:off x="731520" y="2633472"/>
            <a:ext cx="41148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788920"/>
            <a:ext cx="10515600" cy="1371600"/>
          </a:xfrm>
          <a:prstGeom prst="rect">
            <a:avLst/>
          </a:prstGeom>
          <a:noFill/>
        </p:spPr>
        <p:txBody>
          <a:bodyPr wrap="square">
            <a:spAutoFit/>
          </a:bodyPr>
          <a:lstStyle/>
          <a:p>
            <a:pPr algn="l"/>
            <a:r>
              <a:rPr sz="1400" b="0" i="0">
                <a:solidFill>
                  <a:srgbClr val="737373"/>
                </a:solidFill>
                <a:latin typeface="Arial"/>
              </a:rPr>
              <a:t>Behind the product on the court, the 76ers operate a full-scale media company, hospitality business, corporate sales organization, fan engagement platform, scouting operation, and venue management division. Most of these functions still rely on coordinators, analysts, and managers doing work that AI can own — ticket outreach, media monitoring, fan communications, contract tracking, schedule coordination, and performance reporting. Devolution Lab replaces that coordination layer with an AI workforce built for professional sports.</a:t>
            </a:r>
          </a:p>
        </p:txBody>
      </p:sp>
      <p:sp>
        <p:nvSpPr>
          <p:cNvPr id="6" name="TextBox 5"/>
          <p:cNvSpPr txBox="1"/>
          <p:nvPr/>
        </p:nvSpPr>
        <p:spPr>
          <a:xfrm>
            <a:off x="731520" y="4297680"/>
            <a:ext cx="10515600" cy="502920"/>
          </a:xfrm>
          <a:prstGeom prst="rect">
            <a:avLst/>
          </a:prstGeom>
          <a:noFill/>
        </p:spPr>
        <p:txBody>
          <a:bodyPr wrap="square">
            <a:spAutoFit/>
          </a:bodyPr>
          <a:lstStyle/>
          <a:p>
            <a:pPr algn="l"/>
            <a:r>
              <a:rPr sz="1500" b="1" i="0">
                <a:solidFill>
                  <a:srgbClr val="FFFFFF"/>
                </a:solidFill>
                <a:latin typeface="Arial"/>
              </a:rPr>
              <a:t>The playbook, the roster, and the coaching staff stay human. Everything surrounding it gets automated.</a:t>
            </a:r>
          </a:p>
        </p:txBody>
      </p:sp>
      <p:sp>
        <p:nvSpPr>
          <p:cNvPr id="7" name="TextBox 6"/>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9144000" cy="320040"/>
          </a:xfrm>
          <a:prstGeom prst="rect">
            <a:avLst/>
          </a:prstGeom>
          <a:noFill/>
        </p:spPr>
        <p:txBody>
          <a:bodyPr wrap="square">
            <a:spAutoFit/>
          </a:bodyPr>
          <a:lstStyle/>
          <a:p>
            <a:pPr algn="l"/>
            <a:r>
              <a:rPr sz="900" b="1" i="0">
                <a:solidFill>
                  <a:srgbClr val="22D3EE"/>
                </a:solidFill>
                <a:latin typeface="Arial"/>
              </a:rPr>
              <a:t>THE AI WORKFORCE BUILT FOR THE 76ERS</a:t>
            </a:r>
          </a:p>
        </p:txBody>
      </p:sp>
      <p:sp>
        <p:nvSpPr>
          <p:cNvPr id="3" name="TextBox 2"/>
          <p:cNvSpPr txBox="1"/>
          <p:nvPr/>
        </p:nvSpPr>
        <p:spPr>
          <a:xfrm>
            <a:off x="731520" y="822960"/>
            <a:ext cx="10515600" cy="1828800"/>
          </a:xfrm>
          <a:prstGeom prst="rect">
            <a:avLst/>
          </a:prstGeom>
          <a:noFill/>
        </p:spPr>
        <p:txBody>
          <a:bodyPr wrap="square">
            <a:spAutoFit/>
          </a:bodyPr>
          <a:lstStyle/>
          <a:p>
            <a:r>
              <a:rPr sz="3600" b="1">
                <a:solidFill>
                  <a:srgbClr val="FFFFFF"/>
                </a:solidFill>
                <a:latin typeface="Arial"/>
              </a:rPr>
              <a:t>Twelve agents.</a:t>
            </a:r>
          </a:p>
          <a:p>
            <a:r>
              <a:rPr sz="3600" b="1">
                <a:solidFill>
                  <a:srgbClr val="22D3EE"/>
                </a:solidFill>
                <a:latin typeface="Arial"/>
              </a:rPr>
              <a:t>Every front office function covered.</a:t>
            </a:r>
          </a:p>
        </p:txBody>
      </p:sp>
      <p:sp>
        <p:nvSpPr>
          <p:cNvPr id="4" name="Rectangle 3"/>
          <p:cNvSpPr/>
          <p:nvPr/>
        </p:nvSpPr>
        <p:spPr>
          <a:xfrm>
            <a:off x="731520" y="2578608"/>
            <a:ext cx="3493008" cy="1417320"/>
          </a:xfrm>
          <a:prstGeom prst="rect">
            <a:avLst/>
          </a:prstGeom>
          <a:solidFill>
            <a:srgbClr val="0D0D0D"/>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2578608"/>
            <a:ext cx="3493008"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670048"/>
            <a:ext cx="3310128" cy="228600"/>
          </a:xfrm>
          <a:prstGeom prst="rect">
            <a:avLst/>
          </a:prstGeom>
          <a:noFill/>
        </p:spPr>
        <p:txBody>
          <a:bodyPr wrap="square">
            <a:spAutoFit/>
          </a:bodyPr>
          <a:lstStyle/>
          <a:p>
            <a:pPr algn="l"/>
            <a:r>
              <a:rPr sz="900" b="1" i="0">
                <a:solidFill>
                  <a:srgbClr val="22D3EE"/>
                </a:solidFill>
                <a:latin typeface="Arial"/>
              </a:rPr>
              <a:t>TICKET SALES</a:t>
            </a:r>
          </a:p>
        </p:txBody>
      </p:sp>
      <p:sp>
        <p:nvSpPr>
          <p:cNvPr id="7" name="TextBox 6"/>
          <p:cNvSpPr txBox="1"/>
          <p:nvPr/>
        </p:nvSpPr>
        <p:spPr>
          <a:xfrm>
            <a:off x="868680" y="2926080"/>
            <a:ext cx="3310128" cy="347472"/>
          </a:xfrm>
          <a:prstGeom prst="rect">
            <a:avLst/>
          </a:prstGeom>
          <a:noFill/>
        </p:spPr>
        <p:txBody>
          <a:bodyPr wrap="square">
            <a:spAutoFit/>
          </a:bodyPr>
          <a:lstStyle/>
          <a:p>
            <a:pPr algn="l"/>
            <a:r>
              <a:rPr sz="1300" b="1" i="0">
                <a:solidFill>
                  <a:srgbClr val="FFFFFF"/>
                </a:solidFill>
                <a:latin typeface="Arial"/>
              </a:rPr>
              <a:t>Ticket Sales Agent</a:t>
            </a:r>
          </a:p>
        </p:txBody>
      </p:sp>
      <p:sp>
        <p:nvSpPr>
          <p:cNvPr id="8" name="TextBox 7"/>
          <p:cNvSpPr txBox="1"/>
          <p:nvPr/>
        </p:nvSpPr>
        <p:spPr>
          <a:xfrm>
            <a:off x="868680" y="3328416"/>
            <a:ext cx="3310128" cy="594360"/>
          </a:xfrm>
          <a:prstGeom prst="rect">
            <a:avLst/>
          </a:prstGeom>
          <a:noFill/>
        </p:spPr>
        <p:txBody>
          <a:bodyPr wrap="square">
            <a:spAutoFit/>
          </a:bodyPr>
          <a:lstStyle/>
          <a:p>
            <a:pPr algn="l"/>
            <a:r>
              <a:rPr sz="1100" b="0" i="0">
                <a:solidFill>
                  <a:srgbClr val="737373"/>
                </a:solidFill>
                <a:latin typeface="Arial"/>
              </a:rPr>
              <a:t>Monitors season ticket holder accounts, flags at-risk renewals, automates outreach campaigns for single-game tickets, and generates daily sales pipeline reports for the revenue team.</a:t>
            </a:r>
          </a:p>
        </p:txBody>
      </p:sp>
      <p:sp>
        <p:nvSpPr>
          <p:cNvPr id="9" name="Rectangle 8"/>
          <p:cNvSpPr/>
          <p:nvPr/>
        </p:nvSpPr>
        <p:spPr>
          <a:xfrm>
            <a:off x="4352544" y="2578608"/>
            <a:ext cx="3493008" cy="1417320"/>
          </a:xfrm>
          <a:prstGeom prst="rect">
            <a:avLst/>
          </a:prstGeom>
          <a:solidFill>
            <a:srgbClr val="0D0D0D"/>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52544" y="2578608"/>
            <a:ext cx="3493008" cy="4572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9704" y="2670048"/>
            <a:ext cx="3310128" cy="228600"/>
          </a:xfrm>
          <a:prstGeom prst="rect">
            <a:avLst/>
          </a:prstGeom>
          <a:noFill/>
        </p:spPr>
        <p:txBody>
          <a:bodyPr wrap="square">
            <a:spAutoFit/>
          </a:bodyPr>
          <a:lstStyle/>
          <a:p>
            <a:pPr algn="l"/>
            <a:r>
              <a:rPr sz="900" b="1" i="0">
                <a:solidFill>
                  <a:srgbClr val="8B5CF6"/>
                </a:solidFill>
                <a:latin typeface="Arial"/>
              </a:rPr>
              <a:t>FAN ENGAGEMENT</a:t>
            </a:r>
          </a:p>
        </p:txBody>
      </p:sp>
      <p:sp>
        <p:nvSpPr>
          <p:cNvPr id="12" name="TextBox 11"/>
          <p:cNvSpPr txBox="1"/>
          <p:nvPr/>
        </p:nvSpPr>
        <p:spPr>
          <a:xfrm>
            <a:off x="4489704" y="2926080"/>
            <a:ext cx="3310128" cy="347472"/>
          </a:xfrm>
          <a:prstGeom prst="rect">
            <a:avLst/>
          </a:prstGeom>
          <a:noFill/>
        </p:spPr>
        <p:txBody>
          <a:bodyPr wrap="square">
            <a:spAutoFit/>
          </a:bodyPr>
          <a:lstStyle/>
          <a:p>
            <a:pPr algn="l"/>
            <a:r>
              <a:rPr sz="1300" b="1" i="0">
                <a:solidFill>
                  <a:srgbClr val="FFFFFF"/>
                </a:solidFill>
                <a:latin typeface="Arial"/>
              </a:rPr>
              <a:t>Fan Communications Agent</a:t>
            </a:r>
          </a:p>
        </p:txBody>
      </p:sp>
      <p:sp>
        <p:nvSpPr>
          <p:cNvPr id="13" name="TextBox 12"/>
          <p:cNvSpPr txBox="1"/>
          <p:nvPr/>
        </p:nvSpPr>
        <p:spPr>
          <a:xfrm>
            <a:off x="4489704" y="3328416"/>
            <a:ext cx="3310128" cy="594360"/>
          </a:xfrm>
          <a:prstGeom prst="rect">
            <a:avLst/>
          </a:prstGeom>
          <a:noFill/>
        </p:spPr>
        <p:txBody>
          <a:bodyPr wrap="square">
            <a:spAutoFit/>
          </a:bodyPr>
          <a:lstStyle/>
          <a:p>
            <a:pPr algn="l"/>
            <a:r>
              <a:rPr sz="1100" b="0" i="0">
                <a:solidFill>
                  <a:srgbClr val="737373"/>
                </a:solidFill>
                <a:latin typeface="Arial"/>
              </a:rPr>
              <a:t>Manages all inbound fan messages across email, social DMs, and the team app. Responds instantly, routes escalations, and maintains the brand voice at scale across every touchpoint.</a:t>
            </a:r>
          </a:p>
        </p:txBody>
      </p:sp>
      <p:sp>
        <p:nvSpPr>
          <p:cNvPr id="14" name="Rectangle 13"/>
          <p:cNvSpPr/>
          <p:nvPr/>
        </p:nvSpPr>
        <p:spPr>
          <a:xfrm>
            <a:off x="7973568" y="2578608"/>
            <a:ext cx="3493008" cy="1417320"/>
          </a:xfrm>
          <a:prstGeom prst="rect">
            <a:avLst/>
          </a:prstGeom>
          <a:solidFill>
            <a:srgbClr val="0D0D0D"/>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73568" y="2578608"/>
            <a:ext cx="3493008"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10728" y="2670048"/>
            <a:ext cx="3310128" cy="228600"/>
          </a:xfrm>
          <a:prstGeom prst="rect">
            <a:avLst/>
          </a:prstGeom>
          <a:noFill/>
        </p:spPr>
        <p:txBody>
          <a:bodyPr wrap="square">
            <a:spAutoFit/>
          </a:bodyPr>
          <a:lstStyle/>
          <a:p>
            <a:pPr algn="l"/>
            <a:r>
              <a:rPr sz="900" b="1" i="0">
                <a:solidFill>
                  <a:srgbClr val="3B82F6"/>
                </a:solidFill>
                <a:latin typeface="Arial"/>
              </a:rPr>
              <a:t>MEDIA</a:t>
            </a:r>
          </a:p>
        </p:txBody>
      </p:sp>
      <p:sp>
        <p:nvSpPr>
          <p:cNvPr id="17" name="TextBox 16"/>
          <p:cNvSpPr txBox="1"/>
          <p:nvPr/>
        </p:nvSpPr>
        <p:spPr>
          <a:xfrm>
            <a:off x="8110728" y="2926080"/>
            <a:ext cx="3310128" cy="347472"/>
          </a:xfrm>
          <a:prstGeom prst="rect">
            <a:avLst/>
          </a:prstGeom>
          <a:noFill/>
        </p:spPr>
        <p:txBody>
          <a:bodyPr wrap="square">
            <a:spAutoFit/>
          </a:bodyPr>
          <a:lstStyle/>
          <a:p>
            <a:pPr algn="l"/>
            <a:r>
              <a:rPr sz="1300" b="1" i="0">
                <a:solidFill>
                  <a:srgbClr val="FFFFFF"/>
                </a:solidFill>
                <a:latin typeface="Arial"/>
              </a:rPr>
              <a:t>Media Monitoring Agent</a:t>
            </a:r>
          </a:p>
        </p:txBody>
      </p:sp>
      <p:sp>
        <p:nvSpPr>
          <p:cNvPr id="18" name="TextBox 17"/>
          <p:cNvSpPr txBox="1"/>
          <p:nvPr/>
        </p:nvSpPr>
        <p:spPr>
          <a:xfrm>
            <a:off x="8110728" y="3328416"/>
            <a:ext cx="3310128" cy="594360"/>
          </a:xfrm>
          <a:prstGeom prst="rect">
            <a:avLst/>
          </a:prstGeom>
          <a:noFill/>
        </p:spPr>
        <p:txBody>
          <a:bodyPr wrap="square">
            <a:spAutoFit/>
          </a:bodyPr>
          <a:lstStyle/>
          <a:p>
            <a:pPr algn="l"/>
            <a:r>
              <a:rPr sz="1100" b="0" i="0">
                <a:solidFill>
                  <a:srgbClr val="737373"/>
                </a:solidFill>
                <a:latin typeface="Arial"/>
              </a:rPr>
              <a:t>Tracks every mention of the 76ers across all major media outlets, social platforms, and podcasts in real time. Delivers a daily briefing to the comms team flagging key narratives, sentiment shifts, and opportunities.</a:t>
            </a:r>
          </a:p>
        </p:txBody>
      </p:sp>
      <p:sp>
        <p:nvSpPr>
          <p:cNvPr id="19" name="Rectangle 18"/>
          <p:cNvSpPr/>
          <p:nvPr/>
        </p:nvSpPr>
        <p:spPr>
          <a:xfrm>
            <a:off x="731520" y="4114800"/>
            <a:ext cx="3493008" cy="1417320"/>
          </a:xfrm>
          <a:prstGeom prst="rect">
            <a:avLst/>
          </a:prstGeom>
          <a:solidFill>
            <a:srgbClr val="0D0D0D"/>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1520" y="4114800"/>
            <a:ext cx="3493008"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4206240"/>
            <a:ext cx="3310128" cy="228600"/>
          </a:xfrm>
          <a:prstGeom prst="rect">
            <a:avLst/>
          </a:prstGeom>
          <a:noFill/>
        </p:spPr>
        <p:txBody>
          <a:bodyPr wrap="square">
            <a:spAutoFit/>
          </a:bodyPr>
          <a:lstStyle/>
          <a:p>
            <a:pPr algn="l"/>
            <a:r>
              <a:rPr sz="900" b="1" i="0">
                <a:solidFill>
                  <a:srgbClr val="10B981"/>
                </a:solidFill>
                <a:latin typeface="Arial"/>
              </a:rPr>
              <a:t>SPONSORSHIPS</a:t>
            </a:r>
          </a:p>
        </p:txBody>
      </p:sp>
      <p:sp>
        <p:nvSpPr>
          <p:cNvPr id="22" name="TextBox 21"/>
          <p:cNvSpPr txBox="1"/>
          <p:nvPr/>
        </p:nvSpPr>
        <p:spPr>
          <a:xfrm>
            <a:off x="868680" y="4462272"/>
            <a:ext cx="3310128" cy="347472"/>
          </a:xfrm>
          <a:prstGeom prst="rect">
            <a:avLst/>
          </a:prstGeom>
          <a:noFill/>
        </p:spPr>
        <p:txBody>
          <a:bodyPr wrap="square">
            <a:spAutoFit/>
          </a:bodyPr>
          <a:lstStyle/>
          <a:p>
            <a:pPr algn="l"/>
            <a:r>
              <a:rPr sz="1300" b="1" i="0">
                <a:solidFill>
                  <a:srgbClr val="FFFFFF"/>
                </a:solidFill>
                <a:latin typeface="Arial"/>
              </a:rPr>
              <a:t>Sponsorship Coordination Agent</a:t>
            </a:r>
          </a:p>
        </p:txBody>
      </p:sp>
      <p:sp>
        <p:nvSpPr>
          <p:cNvPr id="23" name="TextBox 22"/>
          <p:cNvSpPr txBox="1"/>
          <p:nvPr/>
        </p:nvSpPr>
        <p:spPr>
          <a:xfrm>
            <a:off x="868680" y="4864608"/>
            <a:ext cx="3310128" cy="594360"/>
          </a:xfrm>
          <a:prstGeom prst="rect">
            <a:avLst/>
          </a:prstGeom>
          <a:noFill/>
        </p:spPr>
        <p:txBody>
          <a:bodyPr wrap="square">
            <a:spAutoFit/>
          </a:bodyPr>
          <a:lstStyle/>
          <a:p>
            <a:pPr algn="l"/>
            <a:r>
              <a:rPr sz="1100" b="0" i="0">
                <a:solidFill>
                  <a:srgbClr val="737373"/>
                </a:solidFill>
                <a:latin typeface="Arial"/>
              </a:rPr>
              <a:t>Tracks all sponsor deliverables, activation deadlines, and contract milestones. Flags upcoming obligations, generates compliance reports, and ensures no sponsor commitment falls through the cracks.</a:t>
            </a:r>
          </a:p>
        </p:txBody>
      </p:sp>
      <p:sp>
        <p:nvSpPr>
          <p:cNvPr id="24" name="Rectangle 23"/>
          <p:cNvSpPr/>
          <p:nvPr/>
        </p:nvSpPr>
        <p:spPr>
          <a:xfrm>
            <a:off x="4352544" y="4114800"/>
            <a:ext cx="3493008" cy="1417320"/>
          </a:xfrm>
          <a:prstGeom prst="rect">
            <a:avLst/>
          </a:prstGeom>
          <a:solidFill>
            <a:srgbClr val="0D0D0D"/>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52544" y="4114800"/>
            <a:ext cx="3493008"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89704" y="4206240"/>
            <a:ext cx="3310128" cy="228600"/>
          </a:xfrm>
          <a:prstGeom prst="rect">
            <a:avLst/>
          </a:prstGeom>
          <a:noFill/>
        </p:spPr>
        <p:txBody>
          <a:bodyPr wrap="square">
            <a:spAutoFit/>
          </a:bodyPr>
          <a:lstStyle/>
          <a:p>
            <a:pPr algn="l"/>
            <a:r>
              <a:rPr sz="900" b="1" i="0">
                <a:solidFill>
                  <a:srgbClr val="F59E0B"/>
                </a:solidFill>
                <a:latin typeface="Arial"/>
              </a:rPr>
              <a:t>SCOUTING</a:t>
            </a:r>
          </a:p>
        </p:txBody>
      </p:sp>
      <p:sp>
        <p:nvSpPr>
          <p:cNvPr id="27" name="TextBox 26"/>
          <p:cNvSpPr txBox="1"/>
          <p:nvPr/>
        </p:nvSpPr>
        <p:spPr>
          <a:xfrm>
            <a:off x="4489704" y="4462272"/>
            <a:ext cx="3310128" cy="347472"/>
          </a:xfrm>
          <a:prstGeom prst="rect">
            <a:avLst/>
          </a:prstGeom>
          <a:noFill/>
        </p:spPr>
        <p:txBody>
          <a:bodyPr wrap="square">
            <a:spAutoFit/>
          </a:bodyPr>
          <a:lstStyle/>
          <a:p>
            <a:pPr algn="l"/>
            <a:r>
              <a:rPr sz="1300" b="1" i="0">
                <a:solidFill>
                  <a:srgbClr val="FFFFFF"/>
                </a:solidFill>
                <a:latin typeface="Arial"/>
              </a:rPr>
              <a:t>Player Intelligence Agent</a:t>
            </a:r>
          </a:p>
        </p:txBody>
      </p:sp>
      <p:sp>
        <p:nvSpPr>
          <p:cNvPr id="28" name="TextBox 27"/>
          <p:cNvSpPr txBox="1"/>
          <p:nvPr/>
        </p:nvSpPr>
        <p:spPr>
          <a:xfrm>
            <a:off x="4489704" y="4864608"/>
            <a:ext cx="3310128" cy="594360"/>
          </a:xfrm>
          <a:prstGeom prst="rect">
            <a:avLst/>
          </a:prstGeom>
          <a:noFill/>
        </p:spPr>
        <p:txBody>
          <a:bodyPr wrap="square">
            <a:spAutoFit/>
          </a:bodyPr>
          <a:lstStyle/>
          <a:p>
            <a:pPr algn="l"/>
            <a:r>
              <a:rPr sz="1100" b="0" i="0">
                <a:solidFill>
                  <a:srgbClr val="737373"/>
                </a:solidFill>
                <a:latin typeface="Arial"/>
              </a:rPr>
              <a:t>Aggregates public scouting reports, box scores, injury updates, and trade rumors across all 30 NBA teams. Surfaces daily briefings to the front office on target players and market movements.</a:t>
            </a:r>
          </a:p>
        </p:txBody>
      </p:sp>
      <p:sp>
        <p:nvSpPr>
          <p:cNvPr id="29" name="Rectangle 28"/>
          <p:cNvSpPr/>
          <p:nvPr/>
        </p:nvSpPr>
        <p:spPr>
          <a:xfrm>
            <a:off x="7973568" y="4114800"/>
            <a:ext cx="3493008" cy="1417320"/>
          </a:xfrm>
          <a:prstGeom prst="rect">
            <a:avLst/>
          </a:prstGeom>
          <a:solidFill>
            <a:srgbClr val="0D0D0D"/>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973568" y="4114800"/>
            <a:ext cx="3493008" cy="4572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10728" y="4206240"/>
            <a:ext cx="3310128" cy="228600"/>
          </a:xfrm>
          <a:prstGeom prst="rect">
            <a:avLst/>
          </a:prstGeom>
          <a:noFill/>
        </p:spPr>
        <p:txBody>
          <a:bodyPr wrap="square">
            <a:spAutoFit/>
          </a:bodyPr>
          <a:lstStyle/>
          <a:p>
            <a:pPr algn="l"/>
            <a:r>
              <a:rPr sz="900" b="1" i="0">
                <a:solidFill>
                  <a:srgbClr val="EF4444"/>
                </a:solidFill>
                <a:latin typeface="Arial"/>
              </a:rPr>
              <a:t>LEGAL AND COMPLIANCE</a:t>
            </a:r>
          </a:p>
        </p:txBody>
      </p:sp>
      <p:sp>
        <p:nvSpPr>
          <p:cNvPr id="32" name="TextBox 31"/>
          <p:cNvSpPr txBox="1"/>
          <p:nvPr/>
        </p:nvSpPr>
        <p:spPr>
          <a:xfrm>
            <a:off x="8110728" y="4462272"/>
            <a:ext cx="3310128" cy="347472"/>
          </a:xfrm>
          <a:prstGeom prst="rect">
            <a:avLst/>
          </a:prstGeom>
          <a:noFill/>
        </p:spPr>
        <p:txBody>
          <a:bodyPr wrap="square">
            <a:spAutoFit/>
          </a:bodyPr>
          <a:lstStyle/>
          <a:p>
            <a:pPr algn="l"/>
            <a:r>
              <a:rPr sz="1300" b="1" i="0">
                <a:solidFill>
                  <a:srgbClr val="FFFFFF"/>
                </a:solidFill>
                <a:latin typeface="Arial"/>
              </a:rPr>
              <a:t>Contract Tracking Agent</a:t>
            </a:r>
          </a:p>
        </p:txBody>
      </p:sp>
      <p:sp>
        <p:nvSpPr>
          <p:cNvPr id="33" name="TextBox 32"/>
          <p:cNvSpPr txBox="1"/>
          <p:nvPr/>
        </p:nvSpPr>
        <p:spPr>
          <a:xfrm>
            <a:off x="8110728" y="4864608"/>
            <a:ext cx="3310128" cy="594360"/>
          </a:xfrm>
          <a:prstGeom prst="rect">
            <a:avLst/>
          </a:prstGeom>
          <a:noFill/>
        </p:spPr>
        <p:txBody>
          <a:bodyPr wrap="square">
            <a:spAutoFit/>
          </a:bodyPr>
          <a:lstStyle/>
          <a:p>
            <a:pPr algn="l"/>
            <a:r>
              <a:rPr sz="1100" b="0" i="0">
                <a:solidFill>
                  <a:srgbClr val="737373"/>
                </a:solidFill>
                <a:latin typeface="Arial"/>
              </a:rPr>
              <a:t>Monitors player contract status, option deadlines, trade windows, and salary cap implications. Flags critical dates to legal and front office leadership before they become urgent.</a:t>
            </a:r>
          </a:p>
        </p:txBody>
      </p:sp>
      <p:sp>
        <p:nvSpPr>
          <p:cNvPr id="34" name="TextBox 33"/>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9144000" cy="320040"/>
          </a:xfrm>
          <a:prstGeom prst="rect">
            <a:avLst/>
          </a:prstGeom>
          <a:noFill/>
        </p:spPr>
        <p:txBody>
          <a:bodyPr wrap="square">
            <a:spAutoFit/>
          </a:bodyPr>
          <a:lstStyle/>
          <a:p>
            <a:pPr algn="l"/>
            <a:r>
              <a:rPr sz="900" b="1" i="0">
                <a:solidFill>
                  <a:srgbClr val="22D3EE"/>
                </a:solidFill>
                <a:latin typeface="Arial"/>
              </a:rPr>
              <a:t>THE AI WORKFORCE — FINANCE, ANALYTICS, AND OPERATIONS</a:t>
            </a:r>
          </a:p>
        </p:txBody>
      </p:sp>
      <p:sp>
        <p:nvSpPr>
          <p:cNvPr id="3" name="TextBox 2"/>
          <p:cNvSpPr txBox="1"/>
          <p:nvPr/>
        </p:nvSpPr>
        <p:spPr>
          <a:xfrm>
            <a:off x="731520" y="822960"/>
            <a:ext cx="10515600" cy="1828800"/>
          </a:xfrm>
          <a:prstGeom prst="rect">
            <a:avLst/>
          </a:prstGeom>
          <a:noFill/>
        </p:spPr>
        <p:txBody>
          <a:bodyPr wrap="square">
            <a:spAutoFit/>
          </a:bodyPr>
          <a:lstStyle/>
          <a:p>
            <a:r>
              <a:rPr sz="3600" b="1">
                <a:solidFill>
                  <a:srgbClr val="FFFFFF"/>
                </a:solidFill>
                <a:latin typeface="Arial"/>
              </a:rPr>
              <a:t>Six more agents.</a:t>
            </a:r>
          </a:p>
          <a:p>
            <a:r>
              <a:rPr sz="3600" b="1">
                <a:solidFill>
                  <a:srgbClr val="22D3EE"/>
                </a:solidFill>
                <a:latin typeface="Arial"/>
              </a:rPr>
              <a:t>Finance, arena, marketing, and analytics.</a:t>
            </a:r>
          </a:p>
        </p:txBody>
      </p:sp>
      <p:sp>
        <p:nvSpPr>
          <p:cNvPr id="4" name="Rectangle 3"/>
          <p:cNvSpPr/>
          <p:nvPr/>
        </p:nvSpPr>
        <p:spPr>
          <a:xfrm>
            <a:off x="731520" y="2578608"/>
            <a:ext cx="3493008" cy="1417320"/>
          </a:xfrm>
          <a:prstGeom prst="rect">
            <a:avLst/>
          </a:prstGeom>
          <a:solidFill>
            <a:srgbClr val="0D0D0D"/>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2578608"/>
            <a:ext cx="3493008"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670048"/>
            <a:ext cx="3310128" cy="228600"/>
          </a:xfrm>
          <a:prstGeom prst="rect">
            <a:avLst/>
          </a:prstGeom>
          <a:noFill/>
        </p:spPr>
        <p:txBody>
          <a:bodyPr wrap="square">
            <a:spAutoFit/>
          </a:bodyPr>
          <a:lstStyle/>
          <a:p>
            <a:pPr algn="l"/>
            <a:r>
              <a:rPr sz="900" b="1" i="0">
                <a:solidFill>
                  <a:srgbClr val="22D3EE"/>
                </a:solidFill>
                <a:latin typeface="Arial"/>
              </a:rPr>
              <a:t>FINANCE</a:t>
            </a:r>
          </a:p>
        </p:txBody>
      </p:sp>
      <p:sp>
        <p:nvSpPr>
          <p:cNvPr id="7" name="TextBox 6"/>
          <p:cNvSpPr txBox="1"/>
          <p:nvPr/>
        </p:nvSpPr>
        <p:spPr>
          <a:xfrm>
            <a:off x="868680" y="2926080"/>
            <a:ext cx="3310128" cy="347472"/>
          </a:xfrm>
          <a:prstGeom prst="rect">
            <a:avLst/>
          </a:prstGeom>
          <a:noFill/>
        </p:spPr>
        <p:txBody>
          <a:bodyPr wrap="square">
            <a:spAutoFit/>
          </a:bodyPr>
          <a:lstStyle/>
          <a:p>
            <a:pPr algn="l"/>
            <a:r>
              <a:rPr sz="1300" b="1" i="0">
                <a:solidFill>
                  <a:srgbClr val="FFFFFF"/>
                </a:solidFill>
                <a:latin typeface="Arial"/>
              </a:rPr>
              <a:t>Financial Reporting Agent</a:t>
            </a:r>
          </a:p>
        </p:txBody>
      </p:sp>
      <p:sp>
        <p:nvSpPr>
          <p:cNvPr id="8" name="TextBox 7"/>
          <p:cNvSpPr txBox="1"/>
          <p:nvPr/>
        </p:nvSpPr>
        <p:spPr>
          <a:xfrm>
            <a:off x="868680" y="3328416"/>
            <a:ext cx="3310128" cy="594360"/>
          </a:xfrm>
          <a:prstGeom prst="rect">
            <a:avLst/>
          </a:prstGeom>
          <a:noFill/>
        </p:spPr>
        <p:txBody>
          <a:bodyPr wrap="square">
            <a:spAutoFit/>
          </a:bodyPr>
          <a:lstStyle/>
          <a:p>
            <a:pPr algn="l"/>
            <a:r>
              <a:rPr sz="1100" b="0" i="0">
                <a:solidFill>
                  <a:srgbClr val="737373"/>
                </a:solidFill>
                <a:latin typeface="Arial"/>
              </a:rPr>
              <a:t>Pulls revenue data across ticket sales, concessions, merchandise, and sponsorships. Generates weekly financial summaries and flags variances against forecast for ownership and finance leadership.</a:t>
            </a:r>
          </a:p>
        </p:txBody>
      </p:sp>
      <p:sp>
        <p:nvSpPr>
          <p:cNvPr id="9" name="Rectangle 8"/>
          <p:cNvSpPr/>
          <p:nvPr/>
        </p:nvSpPr>
        <p:spPr>
          <a:xfrm>
            <a:off x="4352544" y="2578608"/>
            <a:ext cx="3493008" cy="1417320"/>
          </a:xfrm>
          <a:prstGeom prst="rect">
            <a:avLst/>
          </a:prstGeom>
          <a:solidFill>
            <a:srgbClr val="0D0D0D"/>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52544" y="2578608"/>
            <a:ext cx="3493008" cy="4572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9704" y="2670048"/>
            <a:ext cx="3310128" cy="228600"/>
          </a:xfrm>
          <a:prstGeom prst="rect">
            <a:avLst/>
          </a:prstGeom>
          <a:noFill/>
        </p:spPr>
        <p:txBody>
          <a:bodyPr wrap="square">
            <a:spAutoFit/>
          </a:bodyPr>
          <a:lstStyle/>
          <a:p>
            <a:pPr algn="l"/>
            <a:r>
              <a:rPr sz="900" b="1" i="0">
                <a:solidFill>
                  <a:srgbClr val="8B5CF6"/>
                </a:solidFill>
                <a:latin typeface="Arial"/>
              </a:rPr>
              <a:t>COMMUNITY</a:t>
            </a:r>
          </a:p>
        </p:txBody>
      </p:sp>
      <p:sp>
        <p:nvSpPr>
          <p:cNvPr id="12" name="TextBox 11"/>
          <p:cNvSpPr txBox="1"/>
          <p:nvPr/>
        </p:nvSpPr>
        <p:spPr>
          <a:xfrm>
            <a:off x="4489704" y="2926080"/>
            <a:ext cx="3310128" cy="347472"/>
          </a:xfrm>
          <a:prstGeom prst="rect">
            <a:avLst/>
          </a:prstGeom>
          <a:noFill/>
        </p:spPr>
        <p:txBody>
          <a:bodyPr wrap="square">
            <a:spAutoFit/>
          </a:bodyPr>
          <a:lstStyle/>
          <a:p>
            <a:pPr algn="l"/>
            <a:r>
              <a:rPr sz="1300" b="1" i="0">
                <a:solidFill>
                  <a:srgbClr val="FFFFFF"/>
                </a:solidFill>
                <a:latin typeface="Arial"/>
              </a:rPr>
              <a:t>Community Relations Agent</a:t>
            </a:r>
          </a:p>
        </p:txBody>
      </p:sp>
      <p:sp>
        <p:nvSpPr>
          <p:cNvPr id="13" name="TextBox 12"/>
          <p:cNvSpPr txBox="1"/>
          <p:nvPr/>
        </p:nvSpPr>
        <p:spPr>
          <a:xfrm>
            <a:off x="4489704" y="3328416"/>
            <a:ext cx="3310128" cy="594360"/>
          </a:xfrm>
          <a:prstGeom prst="rect">
            <a:avLst/>
          </a:prstGeom>
          <a:noFill/>
        </p:spPr>
        <p:txBody>
          <a:bodyPr wrap="square">
            <a:spAutoFit/>
          </a:bodyPr>
          <a:lstStyle/>
          <a:p>
            <a:pPr algn="l"/>
            <a:r>
              <a:rPr sz="1100" b="0" i="0">
                <a:solidFill>
                  <a:srgbClr val="737373"/>
                </a:solidFill>
                <a:latin typeface="Arial"/>
              </a:rPr>
              <a:t>Coordinates charitable appearances, community events, and player outreach programs. Manages scheduling, logistics, and follow-up communications for all community initiatives.</a:t>
            </a:r>
          </a:p>
        </p:txBody>
      </p:sp>
      <p:sp>
        <p:nvSpPr>
          <p:cNvPr id="14" name="Rectangle 13"/>
          <p:cNvSpPr/>
          <p:nvPr/>
        </p:nvSpPr>
        <p:spPr>
          <a:xfrm>
            <a:off x="7973568" y="2578608"/>
            <a:ext cx="3493008" cy="1417320"/>
          </a:xfrm>
          <a:prstGeom prst="rect">
            <a:avLst/>
          </a:prstGeom>
          <a:solidFill>
            <a:srgbClr val="0D0D0D"/>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73568" y="2578608"/>
            <a:ext cx="3493008"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10728" y="2670048"/>
            <a:ext cx="3310128" cy="228600"/>
          </a:xfrm>
          <a:prstGeom prst="rect">
            <a:avLst/>
          </a:prstGeom>
          <a:noFill/>
        </p:spPr>
        <p:txBody>
          <a:bodyPr wrap="square">
            <a:spAutoFit/>
          </a:bodyPr>
          <a:lstStyle/>
          <a:p>
            <a:pPr algn="l"/>
            <a:r>
              <a:rPr sz="900" b="1" i="0">
                <a:solidFill>
                  <a:srgbClr val="3B82F6"/>
                </a:solidFill>
                <a:latin typeface="Arial"/>
              </a:rPr>
              <a:t>HR</a:t>
            </a:r>
          </a:p>
        </p:txBody>
      </p:sp>
      <p:sp>
        <p:nvSpPr>
          <p:cNvPr id="17" name="TextBox 16"/>
          <p:cNvSpPr txBox="1"/>
          <p:nvPr/>
        </p:nvSpPr>
        <p:spPr>
          <a:xfrm>
            <a:off x="8110728" y="2926080"/>
            <a:ext cx="3310128" cy="347472"/>
          </a:xfrm>
          <a:prstGeom prst="rect">
            <a:avLst/>
          </a:prstGeom>
          <a:noFill/>
        </p:spPr>
        <p:txBody>
          <a:bodyPr wrap="square">
            <a:spAutoFit/>
          </a:bodyPr>
          <a:lstStyle/>
          <a:p>
            <a:pPr algn="l"/>
            <a:r>
              <a:rPr sz="1300" b="1" i="0">
                <a:solidFill>
                  <a:srgbClr val="FFFFFF"/>
                </a:solidFill>
                <a:latin typeface="Arial"/>
              </a:rPr>
              <a:t>Recruiting and Onboarding Agent</a:t>
            </a:r>
          </a:p>
        </p:txBody>
      </p:sp>
      <p:sp>
        <p:nvSpPr>
          <p:cNvPr id="18" name="TextBox 17"/>
          <p:cNvSpPr txBox="1"/>
          <p:nvPr/>
        </p:nvSpPr>
        <p:spPr>
          <a:xfrm>
            <a:off x="8110728" y="3328416"/>
            <a:ext cx="3310128" cy="594360"/>
          </a:xfrm>
          <a:prstGeom prst="rect">
            <a:avLst/>
          </a:prstGeom>
          <a:noFill/>
        </p:spPr>
        <p:txBody>
          <a:bodyPr wrap="square">
            <a:spAutoFit/>
          </a:bodyPr>
          <a:lstStyle/>
          <a:p>
            <a:pPr algn="l"/>
            <a:r>
              <a:rPr sz="1100" b="0" i="0">
                <a:solidFill>
                  <a:srgbClr val="737373"/>
                </a:solidFill>
                <a:latin typeface="Arial"/>
              </a:rPr>
              <a:t>Screens inbound applications for front office roles, schedules interviews, tracks candidate pipelines, and manages onboarding workflows for new hires across all departments.</a:t>
            </a:r>
          </a:p>
        </p:txBody>
      </p:sp>
      <p:sp>
        <p:nvSpPr>
          <p:cNvPr id="19" name="Rectangle 18"/>
          <p:cNvSpPr/>
          <p:nvPr/>
        </p:nvSpPr>
        <p:spPr>
          <a:xfrm>
            <a:off x="731520" y="4114800"/>
            <a:ext cx="3493008" cy="1417320"/>
          </a:xfrm>
          <a:prstGeom prst="rect">
            <a:avLst/>
          </a:prstGeom>
          <a:solidFill>
            <a:srgbClr val="0D0D0D"/>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1520" y="4114800"/>
            <a:ext cx="3493008"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4206240"/>
            <a:ext cx="3310128" cy="228600"/>
          </a:xfrm>
          <a:prstGeom prst="rect">
            <a:avLst/>
          </a:prstGeom>
          <a:noFill/>
        </p:spPr>
        <p:txBody>
          <a:bodyPr wrap="square">
            <a:spAutoFit/>
          </a:bodyPr>
          <a:lstStyle/>
          <a:p>
            <a:pPr algn="l"/>
            <a:r>
              <a:rPr sz="900" b="1" i="0">
                <a:solidFill>
                  <a:srgbClr val="10B981"/>
                </a:solidFill>
                <a:latin typeface="Arial"/>
              </a:rPr>
              <a:t>ARENA OPS</a:t>
            </a:r>
          </a:p>
        </p:txBody>
      </p:sp>
      <p:sp>
        <p:nvSpPr>
          <p:cNvPr id="22" name="TextBox 21"/>
          <p:cNvSpPr txBox="1"/>
          <p:nvPr/>
        </p:nvSpPr>
        <p:spPr>
          <a:xfrm>
            <a:off x="868680" y="4462272"/>
            <a:ext cx="3310128" cy="347472"/>
          </a:xfrm>
          <a:prstGeom prst="rect">
            <a:avLst/>
          </a:prstGeom>
          <a:noFill/>
        </p:spPr>
        <p:txBody>
          <a:bodyPr wrap="square">
            <a:spAutoFit/>
          </a:bodyPr>
          <a:lstStyle/>
          <a:p>
            <a:pPr algn="l"/>
            <a:r>
              <a:rPr sz="1300" b="1" i="0">
                <a:solidFill>
                  <a:srgbClr val="FFFFFF"/>
                </a:solidFill>
                <a:latin typeface="Arial"/>
              </a:rPr>
              <a:t>Arena Operations Agent</a:t>
            </a:r>
          </a:p>
        </p:txBody>
      </p:sp>
      <p:sp>
        <p:nvSpPr>
          <p:cNvPr id="23" name="TextBox 22"/>
          <p:cNvSpPr txBox="1"/>
          <p:nvPr/>
        </p:nvSpPr>
        <p:spPr>
          <a:xfrm>
            <a:off x="868680" y="4864608"/>
            <a:ext cx="3310128" cy="594360"/>
          </a:xfrm>
          <a:prstGeom prst="rect">
            <a:avLst/>
          </a:prstGeom>
          <a:noFill/>
        </p:spPr>
        <p:txBody>
          <a:bodyPr wrap="square">
            <a:spAutoFit/>
          </a:bodyPr>
          <a:lstStyle/>
          <a:p>
            <a:pPr algn="l"/>
            <a:r>
              <a:rPr sz="1100" b="0" i="0">
                <a:solidFill>
                  <a:srgbClr val="737373"/>
                </a:solidFill>
                <a:latin typeface="Arial"/>
              </a:rPr>
              <a:t>Coordinates event-day logistics, vendor schedules, security briefings, and facility setup across all 82 home games and arena events. Flags issues before game time.</a:t>
            </a:r>
          </a:p>
        </p:txBody>
      </p:sp>
      <p:sp>
        <p:nvSpPr>
          <p:cNvPr id="24" name="Rectangle 23"/>
          <p:cNvSpPr/>
          <p:nvPr/>
        </p:nvSpPr>
        <p:spPr>
          <a:xfrm>
            <a:off x="4352544" y="4114800"/>
            <a:ext cx="3493008" cy="1417320"/>
          </a:xfrm>
          <a:prstGeom prst="rect">
            <a:avLst/>
          </a:prstGeom>
          <a:solidFill>
            <a:srgbClr val="0D0D0D"/>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52544" y="4114800"/>
            <a:ext cx="3493008"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89704" y="4206240"/>
            <a:ext cx="3310128" cy="228600"/>
          </a:xfrm>
          <a:prstGeom prst="rect">
            <a:avLst/>
          </a:prstGeom>
          <a:noFill/>
        </p:spPr>
        <p:txBody>
          <a:bodyPr wrap="square">
            <a:spAutoFit/>
          </a:bodyPr>
          <a:lstStyle/>
          <a:p>
            <a:pPr algn="l"/>
            <a:r>
              <a:rPr sz="900" b="1" i="0">
                <a:solidFill>
                  <a:srgbClr val="F59E0B"/>
                </a:solidFill>
                <a:latin typeface="Arial"/>
              </a:rPr>
              <a:t>MARKETING</a:t>
            </a:r>
          </a:p>
        </p:txBody>
      </p:sp>
      <p:sp>
        <p:nvSpPr>
          <p:cNvPr id="27" name="TextBox 26"/>
          <p:cNvSpPr txBox="1"/>
          <p:nvPr/>
        </p:nvSpPr>
        <p:spPr>
          <a:xfrm>
            <a:off x="4489704" y="4462272"/>
            <a:ext cx="3310128" cy="347472"/>
          </a:xfrm>
          <a:prstGeom prst="rect">
            <a:avLst/>
          </a:prstGeom>
          <a:noFill/>
        </p:spPr>
        <p:txBody>
          <a:bodyPr wrap="square">
            <a:spAutoFit/>
          </a:bodyPr>
          <a:lstStyle/>
          <a:p>
            <a:pPr algn="l"/>
            <a:r>
              <a:rPr sz="1300" b="1" i="0">
                <a:solidFill>
                  <a:srgbClr val="FFFFFF"/>
                </a:solidFill>
                <a:latin typeface="Arial"/>
              </a:rPr>
              <a:t>Campaign Management Agent</a:t>
            </a:r>
          </a:p>
        </p:txBody>
      </p:sp>
      <p:sp>
        <p:nvSpPr>
          <p:cNvPr id="28" name="TextBox 27"/>
          <p:cNvSpPr txBox="1"/>
          <p:nvPr/>
        </p:nvSpPr>
        <p:spPr>
          <a:xfrm>
            <a:off x="4489704" y="4864608"/>
            <a:ext cx="3310128" cy="594360"/>
          </a:xfrm>
          <a:prstGeom prst="rect">
            <a:avLst/>
          </a:prstGeom>
          <a:noFill/>
        </p:spPr>
        <p:txBody>
          <a:bodyPr wrap="square">
            <a:spAutoFit/>
          </a:bodyPr>
          <a:lstStyle/>
          <a:p>
            <a:pPr algn="l"/>
            <a:r>
              <a:rPr sz="1100" b="0" i="0">
                <a:solidFill>
                  <a:srgbClr val="737373"/>
                </a:solidFill>
                <a:latin typeface="Arial"/>
              </a:rPr>
              <a:t>Manages digital marketing campaigns across all platforms, tracks performance against KPIs, and generates weekly reports for the marketing team. Adjusts targeting based on real-time data.</a:t>
            </a:r>
          </a:p>
        </p:txBody>
      </p:sp>
      <p:sp>
        <p:nvSpPr>
          <p:cNvPr id="29" name="Rectangle 28"/>
          <p:cNvSpPr/>
          <p:nvPr/>
        </p:nvSpPr>
        <p:spPr>
          <a:xfrm>
            <a:off x="7973568" y="4114800"/>
            <a:ext cx="3493008" cy="1417320"/>
          </a:xfrm>
          <a:prstGeom prst="rect">
            <a:avLst/>
          </a:prstGeom>
          <a:solidFill>
            <a:srgbClr val="0D0D0D"/>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973568" y="4114800"/>
            <a:ext cx="3493008" cy="4572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10728" y="4206240"/>
            <a:ext cx="3310128" cy="228600"/>
          </a:xfrm>
          <a:prstGeom prst="rect">
            <a:avLst/>
          </a:prstGeom>
          <a:noFill/>
        </p:spPr>
        <p:txBody>
          <a:bodyPr wrap="square">
            <a:spAutoFit/>
          </a:bodyPr>
          <a:lstStyle/>
          <a:p>
            <a:pPr algn="l"/>
            <a:r>
              <a:rPr sz="900" b="1" i="0">
                <a:solidFill>
                  <a:srgbClr val="EF4444"/>
                </a:solidFill>
                <a:latin typeface="Arial"/>
              </a:rPr>
              <a:t>ANALYTICS</a:t>
            </a:r>
          </a:p>
        </p:txBody>
      </p:sp>
      <p:sp>
        <p:nvSpPr>
          <p:cNvPr id="32" name="TextBox 31"/>
          <p:cNvSpPr txBox="1"/>
          <p:nvPr/>
        </p:nvSpPr>
        <p:spPr>
          <a:xfrm>
            <a:off x="8110728" y="4462272"/>
            <a:ext cx="3310128" cy="347472"/>
          </a:xfrm>
          <a:prstGeom prst="rect">
            <a:avLst/>
          </a:prstGeom>
          <a:noFill/>
        </p:spPr>
        <p:txBody>
          <a:bodyPr wrap="square">
            <a:spAutoFit/>
          </a:bodyPr>
          <a:lstStyle/>
          <a:p>
            <a:pPr algn="l"/>
            <a:r>
              <a:rPr sz="1300" b="1" i="0">
                <a:solidFill>
                  <a:srgbClr val="FFFFFF"/>
                </a:solidFill>
                <a:latin typeface="Arial"/>
              </a:rPr>
              <a:t>Performance Reporting Agent</a:t>
            </a:r>
          </a:p>
        </p:txBody>
      </p:sp>
      <p:sp>
        <p:nvSpPr>
          <p:cNvPr id="33" name="TextBox 32"/>
          <p:cNvSpPr txBox="1"/>
          <p:nvPr/>
        </p:nvSpPr>
        <p:spPr>
          <a:xfrm>
            <a:off x="8110728" y="4864608"/>
            <a:ext cx="3310128" cy="594360"/>
          </a:xfrm>
          <a:prstGeom prst="rect">
            <a:avLst/>
          </a:prstGeom>
          <a:noFill/>
        </p:spPr>
        <p:txBody>
          <a:bodyPr wrap="square">
            <a:spAutoFit/>
          </a:bodyPr>
          <a:lstStyle/>
          <a:p>
            <a:pPr algn="l"/>
            <a:r>
              <a:rPr sz="1100" b="0" i="0">
                <a:solidFill>
                  <a:srgbClr val="737373"/>
                </a:solidFill>
                <a:latin typeface="Arial"/>
              </a:rPr>
              <a:t>Delivers daily operational dashboards to department heads covering ticket sales, fan sentiment, media coverage, sponsorship status, and financial performance. No manual report pulling required.</a:t>
            </a:r>
          </a:p>
        </p:txBody>
      </p:sp>
      <p:sp>
        <p:nvSpPr>
          <p:cNvPr id="34" name="TextBox 33"/>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9144000" cy="320040"/>
          </a:xfrm>
          <a:prstGeom prst="rect">
            <a:avLst/>
          </a:prstGeom>
          <a:noFill/>
        </p:spPr>
        <p:txBody>
          <a:bodyPr wrap="square">
            <a:spAutoFit/>
          </a:bodyPr>
          <a:lstStyle/>
          <a:p>
            <a:pPr algn="l"/>
            <a:r>
              <a:rPr sz="900" b="1" i="0">
                <a:solidFill>
                  <a:srgbClr val="22D3EE"/>
                </a:solidFill>
                <a:latin typeface="Arial"/>
              </a:rPr>
              <a:t>FINANCIAL MODEL — 6 MONTH PILOT</a:t>
            </a:r>
          </a:p>
        </p:txBody>
      </p:sp>
      <p:sp>
        <p:nvSpPr>
          <p:cNvPr id="3" name="TextBox 2"/>
          <p:cNvSpPr txBox="1"/>
          <p:nvPr/>
        </p:nvSpPr>
        <p:spPr>
          <a:xfrm>
            <a:off x="731520" y="822960"/>
            <a:ext cx="10515600" cy="1828800"/>
          </a:xfrm>
          <a:prstGeom prst="rect">
            <a:avLst/>
          </a:prstGeom>
          <a:noFill/>
        </p:spPr>
        <p:txBody>
          <a:bodyPr wrap="square">
            <a:spAutoFit/>
          </a:bodyPr>
          <a:lstStyle/>
          <a:p>
            <a:r>
              <a:rPr sz="3400" b="1">
                <a:solidFill>
                  <a:srgbClr val="FFFFFF"/>
                </a:solidFill>
                <a:latin typeface="Arial"/>
              </a:rPr>
              <a:t>One pilot. 12 agents.</a:t>
            </a:r>
          </a:p>
          <a:p>
            <a:r>
              <a:rPr sz="3400" b="1">
                <a:solidFill>
                  <a:srgbClr val="22D3EE"/>
                </a:solidFill>
                <a:latin typeface="Arial"/>
              </a:rPr>
              <a:t>$4M-$8M in value over 6 months.</a:t>
            </a:r>
          </a:p>
        </p:txBody>
      </p:sp>
      <p:sp>
        <p:nvSpPr>
          <p:cNvPr id="4" name="Rectangle 3"/>
          <p:cNvSpPr/>
          <p:nvPr/>
        </p:nvSpPr>
        <p:spPr>
          <a:xfrm>
            <a:off x="731520" y="2487168"/>
            <a:ext cx="4206240" cy="292608"/>
          </a:xfrm>
          <a:prstGeom prst="rect">
            <a:avLst/>
          </a:prstGeom>
          <a:solidFill>
            <a:srgbClr val="141414"/>
          </a:solidFill>
          <a:ln w="12700">
            <a:solidFill>
              <a:srgbClr val="2323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505456"/>
            <a:ext cx="4206240" cy="256032"/>
          </a:xfrm>
          <a:prstGeom prst="rect">
            <a:avLst/>
          </a:prstGeom>
          <a:noFill/>
        </p:spPr>
        <p:txBody>
          <a:bodyPr wrap="square">
            <a:spAutoFit/>
          </a:bodyPr>
          <a:lstStyle/>
          <a:p>
            <a:pPr algn="l"/>
            <a:r>
              <a:rPr sz="1000" b="1" i="0">
                <a:solidFill>
                  <a:srgbClr val="373737"/>
                </a:solidFill>
                <a:latin typeface="Arial"/>
              </a:rPr>
              <a:t>Agent Group</a:t>
            </a:r>
          </a:p>
        </p:txBody>
      </p:sp>
      <p:sp>
        <p:nvSpPr>
          <p:cNvPr id="6" name="Rectangle 5"/>
          <p:cNvSpPr/>
          <p:nvPr/>
        </p:nvSpPr>
        <p:spPr>
          <a:xfrm>
            <a:off x="5120640" y="2487168"/>
            <a:ext cx="3749039" cy="292608"/>
          </a:xfrm>
          <a:prstGeom prst="rect">
            <a:avLst/>
          </a:prstGeom>
          <a:solidFill>
            <a:srgbClr val="141414"/>
          </a:solidFill>
          <a:ln w="12700">
            <a:solidFill>
              <a:srgbClr val="2323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212080" y="2505456"/>
            <a:ext cx="3749039" cy="256032"/>
          </a:xfrm>
          <a:prstGeom prst="rect">
            <a:avLst/>
          </a:prstGeom>
          <a:noFill/>
        </p:spPr>
        <p:txBody>
          <a:bodyPr wrap="square">
            <a:spAutoFit/>
          </a:bodyPr>
          <a:lstStyle/>
          <a:p>
            <a:pPr algn="l"/>
            <a:r>
              <a:rPr sz="1000" b="1" i="0">
                <a:solidFill>
                  <a:srgbClr val="373737"/>
                </a:solidFill>
                <a:latin typeface="Arial"/>
              </a:rPr>
              <a:t>Impact</a:t>
            </a:r>
          </a:p>
        </p:txBody>
      </p:sp>
      <p:sp>
        <p:nvSpPr>
          <p:cNvPr id="8" name="Rectangle 7"/>
          <p:cNvSpPr/>
          <p:nvPr/>
        </p:nvSpPr>
        <p:spPr>
          <a:xfrm>
            <a:off x="9052560" y="2487168"/>
            <a:ext cx="2926080" cy="292608"/>
          </a:xfrm>
          <a:prstGeom prst="rect">
            <a:avLst/>
          </a:prstGeom>
          <a:solidFill>
            <a:srgbClr val="141414"/>
          </a:solidFill>
          <a:ln w="12700">
            <a:solidFill>
              <a:srgbClr val="2323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0" y="2505456"/>
            <a:ext cx="2926080" cy="256032"/>
          </a:xfrm>
          <a:prstGeom prst="rect">
            <a:avLst/>
          </a:prstGeom>
          <a:noFill/>
        </p:spPr>
        <p:txBody>
          <a:bodyPr wrap="square">
            <a:spAutoFit/>
          </a:bodyPr>
          <a:lstStyle/>
          <a:p>
            <a:pPr algn="l"/>
            <a:r>
              <a:rPr sz="1000" b="1" i="0">
                <a:solidFill>
                  <a:srgbClr val="373737"/>
                </a:solidFill>
                <a:latin typeface="Arial"/>
              </a:rPr>
              <a:t>6-Month Value</a:t>
            </a:r>
          </a:p>
        </p:txBody>
      </p:sp>
      <p:sp>
        <p:nvSpPr>
          <p:cNvPr id="10" name="Rectangle 9"/>
          <p:cNvSpPr/>
          <p:nvPr/>
        </p:nvSpPr>
        <p:spPr>
          <a:xfrm>
            <a:off x="731520" y="2816352"/>
            <a:ext cx="4206240" cy="365760"/>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2880360"/>
            <a:ext cx="4114800" cy="274320"/>
          </a:xfrm>
          <a:prstGeom prst="rect">
            <a:avLst/>
          </a:prstGeom>
          <a:noFill/>
        </p:spPr>
        <p:txBody>
          <a:bodyPr wrap="square">
            <a:spAutoFit/>
          </a:bodyPr>
          <a:lstStyle/>
          <a:p>
            <a:pPr algn="l"/>
            <a:r>
              <a:rPr sz="1000" b="0" i="0">
                <a:solidFill>
                  <a:srgbClr val="FFFFFF"/>
                </a:solidFill>
                <a:latin typeface="Arial"/>
              </a:rPr>
              <a:t>Ticket Sales + Fan Comms</a:t>
            </a:r>
          </a:p>
        </p:txBody>
      </p:sp>
      <p:sp>
        <p:nvSpPr>
          <p:cNvPr id="12" name="Rectangle 11"/>
          <p:cNvSpPr/>
          <p:nvPr/>
        </p:nvSpPr>
        <p:spPr>
          <a:xfrm>
            <a:off x="5120640" y="2816352"/>
            <a:ext cx="3749039" cy="365760"/>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93792" y="2880360"/>
            <a:ext cx="3657599" cy="274320"/>
          </a:xfrm>
          <a:prstGeom prst="rect">
            <a:avLst/>
          </a:prstGeom>
          <a:noFill/>
        </p:spPr>
        <p:txBody>
          <a:bodyPr wrap="square">
            <a:spAutoFit/>
          </a:bodyPr>
          <a:lstStyle/>
          <a:p>
            <a:pPr algn="l"/>
            <a:r>
              <a:rPr sz="1000" b="0" i="0">
                <a:solidFill>
                  <a:srgbClr val="737373"/>
                </a:solidFill>
                <a:latin typeface="Arial"/>
              </a:rPr>
              <a:t>3-5 coordinator roles replaced</a:t>
            </a:r>
          </a:p>
        </p:txBody>
      </p:sp>
      <p:sp>
        <p:nvSpPr>
          <p:cNvPr id="14" name="Rectangle 13"/>
          <p:cNvSpPr/>
          <p:nvPr/>
        </p:nvSpPr>
        <p:spPr>
          <a:xfrm>
            <a:off x="9052560" y="2816352"/>
            <a:ext cx="2926080" cy="365760"/>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25712" y="2880360"/>
            <a:ext cx="2834640" cy="274320"/>
          </a:xfrm>
          <a:prstGeom prst="rect">
            <a:avLst/>
          </a:prstGeom>
          <a:noFill/>
        </p:spPr>
        <p:txBody>
          <a:bodyPr wrap="square">
            <a:spAutoFit/>
          </a:bodyPr>
          <a:lstStyle/>
          <a:p>
            <a:pPr algn="l"/>
            <a:r>
              <a:rPr sz="1000" b="0" i="0">
                <a:solidFill>
                  <a:srgbClr val="737373"/>
                </a:solidFill>
                <a:latin typeface="Arial"/>
              </a:rPr>
              <a:t>$600K-$1.1M</a:t>
            </a:r>
          </a:p>
        </p:txBody>
      </p:sp>
      <p:sp>
        <p:nvSpPr>
          <p:cNvPr id="16" name="Rectangle 15"/>
          <p:cNvSpPr/>
          <p:nvPr/>
        </p:nvSpPr>
        <p:spPr>
          <a:xfrm>
            <a:off x="731520" y="3218688"/>
            <a:ext cx="4206240" cy="365760"/>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 y="3282696"/>
            <a:ext cx="4114800" cy="274320"/>
          </a:xfrm>
          <a:prstGeom prst="rect">
            <a:avLst/>
          </a:prstGeom>
          <a:noFill/>
        </p:spPr>
        <p:txBody>
          <a:bodyPr wrap="square">
            <a:spAutoFit/>
          </a:bodyPr>
          <a:lstStyle/>
          <a:p>
            <a:pPr algn="l"/>
            <a:r>
              <a:rPr sz="1000" b="0" i="0">
                <a:solidFill>
                  <a:srgbClr val="FFFFFF"/>
                </a:solidFill>
                <a:latin typeface="Arial"/>
              </a:rPr>
              <a:t>Media Monitoring + Campaign Mgmt</a:t>
            </a:r>
          </a:p>
        </p:txBody>
      </p:sp>
      <p:sp>
        <p:nvSpPr>
          <p:cNvPr id="18" name="Rectangle 17"/>
          <p:cNvSpPr/>
          <p:nvPr/>
        </p:nvSpPr>
        <p:spPr>
          <a:xfrm>
            <a:off x="5120640" y="3218688"/>
            <a:ext cx="3749039" cy="365760"/>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93792" y="3282696"/>
            <a:ext cx="3657599" cy="274320"/>
          </a:xfrm>
          <a:prstGeom prst="rect">
            <a:avLst/>
          </a:prstGeom>
          <a:noFill/>
        </p:spPr>
        <p:txBody>
          <a:bodyPr wrap="square">
            <a:spAutoFit/>
          </a:bodyPr>
          <a:lstStyle/>
          <a:p>
            <a:pPr algn="l"/>
            <a:r>
              <a:rPr sz="1000" b="0" i="0">
                <a:solidFill>
                  <a:srgbClr val="737373"/>
                </a:solidFill>
                <a:latin typeface="Arial"/>
              </a:rPr>
              <a:t>2-3 analyst roles replaced</a:t>
            </a:r>
          </a:p>
        </p:txBody>
      </p:sp>
      <p:sp>
        <p:nvSpPr>
          <p:cNvPr id="20" name="Rectangle 19"/>
          <p:cNvSpPr/>
          <p:nvPr/>
        </p:nvSpPr>
        <p:spPr>
          <a:xfrm>
            <a:off x="9052560" y="3218688"/>
            <a:ext cx="2926080" cy="365760"/>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25712" y="3282696"/>
            <a:ext cx="2834640" cy="274320"/>
          </a:xfrm>
          <a:prstGeom prst="rect">
            <a:avLst/>
          </a:prstGeom>
          <a:noFill/>
        </p:spPr>
        <p:txBody>
          <a:bodyPr wrap="square">
            <a:spAutoFit/>
          </a:bodyPr>
          <a:lstStyle/>
          <a:p>
            <a:pPr algn="l"/>
            <a:r>
              <a:rPr sz="1000" b="0" i="0">
                <a:solidFill>
                  <a:srgbClr val="737373"/>
                </a:solidFill>
                <a:latin typeface="Arial"/>
              </a:rPr>
              <a:t>$400K-$700K</a:t>
            </a:r>
          </a:p>
        </p:txBody>
      </p:sp>
      <p:sp>
        <p:nvSpPr>
          <p:cNvPr id="22" name="Rectangle 21"/>
          <p:cNvSpPr/>
          <p:nvPr/>
        </p:nvSpPr>
        <p:spPr>
          <a:xfrm>
            <a:off x="731520" y="3621024"/>
            <a:ext cx="4206240" cy="365760"/>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672" y="3685032"/>
            <a:ext cx="4114800" cy="274320"/>
          </a:xfrm>
          <a:prstGeom prst="rect">
            <a:avLst/>
          </a:prstGeom>
          <a:noFill/>
        </p:spPr>
        <p:txBody>
          <a:bodyPr wrap="square">
            <a:spAutoFit/>
          </a:bodyPr>
          <a:lstStyle/>
          <a:p>
            <a:pPr algn="l"/>
            <a:r>
              <a:rPr sz="1000" b="0" i="0">
                <a:solidFill>
                  <a:srgbClr val="FFFFFF"/>
                </a:solidFill>
                <a:latin typeface="Arial"/>
              </a:rPr>
              <a:t>Sponsorship + Contract Tracking</a:t>
            </a:r>
          </a:p>
        </p:txBody>
      </p:sp>
      <p:sp>
        <p:nvSpPr>
          <p:cNvPr id="24" name="Rectangle 23"/>
          <p:cNvSpPr/>
          <p:nvPr/>
        </p:nvSpPr>
        <p:spPr>
          <a:xfrm>
            <a:off x="5120640" y="3621024"/>
            <a:ext cx="3749039" cy="365760"/>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193792" y="3685032"/>
            <a:ext cx="3657599" cy="274320"/>
          </a:xfrm>
          <a:prstGeom prst="rect">
            <a:avLst/>
          </a:prstGeom>
          <a:noFill/>
        </p:spPr>
        <p:txBody>
          <a:bodyPr wrap="square">
            <a:spAutoFit/>
          </a:bodyPr>
          <a:lstStyle/>
          <a:p>
            <a:pPr algn="l"/>
            <a:r>
              <a:rPr sz="1000" b="0" i="0">
                <a:solidFill>
                  <a:srgbClr val="737373"/>
                </a:solidFill>
                <a:latin typeface="Arial"/>
              </a:rPr>
              <a:t>2-3 coordinator roles replaced</a:t>
            </a:r>
          </a:p>
        </p:txBody>
      </p:sp>
      <p:sp>
        <p:nvSpPr>
          <p:cNvPr id="26" name="Rectangle 25"/>
          <p:cNvSpPr/>
          <p:nvPr/>
        </p:nvSpPr>
        <p:spPr>
          <a:xfrm>
            <a:off x="9052560" y="3621024"/>
            <a:ext cx="2926080" cy="365760"/>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25712" y="3685032"/>
            <a:ext cx="2834640" cy="274320"/>
          </a:xfrm>
          <a:prstGeom prst="rect">
            <a:avLst/>
          </a:prstGeom>
          <a:noFill/>
        </p:spPr>
        <p:txBody>
          <a:bodyPr wrap="square">
            <a:spAutoFit/>
          </a:bodyPr>
          <a:lstStyle/>
          <a:p>
            <a:pPr algn="l"/>
            <a:r>
              <a:rPr sz="1000" b="0" i="0">
                <a:solidFill>
                  <a:srgbClr val="737373"/>
                </a:solidFill>
                <a:latin typeface="Arial"/>
              </a:rPr>
              <a:t>$400K-$700K</a:t>
            </a:r>
          </a:p>
        </p:txBody>
      </p:sp>
      <p:sp>
        <p:nvSpPr>
          <p:cNvPr id="28" name="Rectangle 27"/>
          <p:cNvSpPr/>
          <p:nvPr/>
        </p:nvSpPr>
        <p:spPr>
          <a:xfrm>
            <a:off x="731520" y="4023360"/>
            <a:ext cx="4206240" cy="365760"/>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4672" y="4087368"/>
            <a:ext cx="4114800" cy="274320"/>
          </a:xfrm>
          <a:prstGeom prst="rect">
            <a:avLst/>
          </a:prstGeom>
          <a:noFill/>
        </p:spPr>
        <p:txBody>
          <a:bodyPr wrap="square">
            <a:spAutoFit/>
          </a:bodyPr>
          <a:lstStyle/>
          <a:p>
            <a:pPr algn="l"/>
            <a:r>
              <a:rPr sz="1000" b="0" i="0">
                <a:solidFill>
                  <a:srgbClr val="FFFFFF"/>
                </a:solidFill>
                <a:latin typeface="Arial"/>
              </a:rPr>
              <a:t>Player Intelligence + Scouting</a:t>
            </a:r>
          </a:p>
        </p:txBody>
      </p:sp>
      <p:sp>
        <p:nvSpPr>
          <p:cNvPr id="30" name="Rectangle 29"/>
          <p:cNvSpPr/>
          <p:nvPr/>
        </p:nvSpPr>
        <p:spPr>
          <a:xfrm>
            <a:off x="5120640" y="4023360"/>
            <a:ext cx="3749039" cy="365760"/>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193792" y="4087368"/>
            <a:ext cx="3657599" cy="274320"/>
          </a:xfrm>
          <a:prstGeom prst="rect">
            <a:avLst/>
          </a:prstGeom>
          <a:noFill/>
        </p:spPr>
        <p:txBody>
          <a:bodyPr wrap="square">
            <a:spAutoFit/>
          </a:bodyPr>
          <a:lstStyle/>
          <a:p>
            <a:pPr algn="l"/>
            <a:r>
              <a:rPr sz="1000" b="0" i="0">
                <a:solidFill>
                  <a:srgbClr val="737373"/>
                </a:solidFill>
                <a:latin typeface="Arial"/>
              </a:rPr>
              <a:t>1-2 analyst roles</a:t>
            </a:r>
          </a:p>
        </p:txBody>
      </p:sp>
      <p:sp>
        <p:nvSpPr>
          <p:cNvPr id="32" name="Rectangle 31"/>
          <p:cNvSpPr/>
          <p:nvPr/>
        </p:nvSpPr>
        <p:spPr>
          <a:xfrm>
            <a:off x="9052560" y="4023360"/>
            <a:ext cx="2926080" cy="365760"/>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125712" y="4087368"/>
            <a:ext cx="2834640" cy="274320"/>
          </a:xfrm>
          <a:prstGeom prst="rect">
            <a:avLst/>
          </a:prstGeom>
          <a:noFill/>
        </p:spPr>
        <p:txBody>
          <a:bodyPr wrap="square">
            <a:spAutoFit/>
          </a:bodyPr>
          <a:lstStyle/>
          <a:p>
            <a:pPr algn="l"/>
            <a:r>
              <a:rPr sz="1000" b="0" i="0">
                <a:solidFill>
                  <a:srgbClr val="737373"/>
                </a:solidFill>
                <a:latin typeface="Arial"/>
              </a:rPr>
              <a:t>$300K-$500K</a:t>
            </a:r>
          </a:p>
        </p:txBody>
      </p:sp>
      <p:sp>
        <p:nvSpPr>
          <p:cNvPr id="34" name="Rectangle 33"/>
          <p:cNvSpPr/>
          <p:nvPr/>
        </p:nvSpPr>
        <p:spPr>
          <a:xfrm>
            <a:off x="731520" y="4425696"/>
            <a:ext cx="4206240" cy="365760"/>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4672" y="4489704"/>
            <a:ext cx="4114800" cy="274320"/>
          </a:xfrm>
          <a:prstGeom prst="rect">
            <a:avLst/>
          </a:prstGeom>
          <a:noFill/>
        </p:spPr>
        <p:txBody>
          <a:bodyPr wrap="square">
            <a:spAutoFit/>
          </a:bodyPr>
          <a:lstStyle/>
          <a:p>
            <a:pPr algn="l"/>
            <a:r>
              <a:rPr sz="1000" b="0" i="0">
                <a:solidFill>
                  <a:srgbClr val="FFFFFF"/>
                </a:solidFill>
                <a:latin typeface="Arial"/>
              </a:rPr>
              <a:t>Finance + Analytics Reporting</a:t>
            </a:r>
          </a:p>
        </p:txBody>
      </p:sp>
      <p:sp>
        <p:nvSpPr>
          <p:cNvPr id="36" name="Rectangle 35"/>
          <p:cNvSpPr/>
          <p:nvPr/>
        </p:nvSpPr>
        <p:spPr>
          <a:xfrm>
            <a:off x="5120640" y="4425696"/>
            <a:ext cx="3749039" cy="365760"/>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193792" y="4489704"/>
            <a:ext cx="3657599" cy="274320"/>
          </a:xfrm>
          <a:prstGeom prst="rect">
            <a:avLst/>
          </a:prstGeom>
          <a:noFill/>
        </p:spPr>
        <p:txBody>
          <a:bodyPr wrap="square">
            <a:spAutoFit/>
          </a:bodyPr>
          <a:lstStyle/>
          <a:p>
            <a:pPr algn="l"/>
            <a:r>
              <a:rPr sz="1000" b="0" i="0">
                <a:solidFill>
                  <a:srgbClr val="737373"/>
                </a:solidFill>
                <a:latin typeface="Arial"/>
              </a:rPr>
              <a:t>2-3 analyst roles replaced</a:t>
            </a:r>
          </a:p>
        </p:txBody>
      </p:sp>
      <p:sp>
        <p:nvSpPr>
          <p:cNvPr id="38" name="Rectangle 37"/>
          <p:cNvSpPr/>
          <p:nvPr/>
        </p:nvSpPr>
        <p:spPr>
          <a:xfrm>
            <a:off x="9052560" y="4425696"/>
            <a:ext cx="2926080" cy="365760"/>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125712" y="4489704"/>
            <a:ext cx="2834640" cy="274320"/>
          </a:xfrm>
          <a:prstGeom prst="rect">
            <a:avLst/>
          </a:prstGeom>
          <a:noFill/>
        </p:spPr>
        <p:txBody>
          <a:bodyPr wrap="square">
            <a:spAutoFit/>
          </a:bodyPr>
          <a:lstStyle/>
          <a:p>
            <a:pPr algn="l"/>
            <a:r>
              <a:rPr sz="1000" b="0" i="0">
                <a:solidFill>
                  <a:srgbClr val="737373"/>
                </a:solidFill>
                <a:latin typeface="Arial"/>
              </a:rPr>
              <a:t>$400K-$700K</a:t>
            </a:r>
          </a:p>
        </p:txBody>
      </p:sp>
      <p:sp>
        <p:nvSpPr>
          <p:cNvPr id="40" name="Rectangle 39"/>
          <p:cNvSpPr/>
          <p:nvPr/>
        </p:nvSpPr>
        <p:spPr>
          <a:xfrm>
            <a:off x="731520" y="4828032"/>
            <a:ext cx="4206240" cy="365760"/>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04672" y="4892040"/>
            <a:ext cx="4114800" cy="274320"/>
          </a:xfrm>
          <a:prstGeom prst="rect">
            <a:avLst/>
          </a:prstGeom>
          <a:noFill/>
        </p:spPr>
        <p:txBody>
          <a:bodyPr wrap="square">
            <a:spAutoFit/>
          </a:bodyPr>
          <a:lstStyle/>
          <a:p>
            <a:pPr algn="l"/>
            <a:r>
              <a:rPr sz="1000" b="0" i="0">
                <a:solidFill>
                  <a:srgbClr val="FFFFFF"/>
                </a:solidFill>
                <a:latin typeface="Arial"/>
              </a:rPr>
              <a:t>Arena Ops + HR + Community</a:t>
            </a:r>
          </a:p>
        </p:txBody>
      </p:sp>
      <p:sp>
        <p:nvSpPr>
          <p:cNvPr id="42" name="Rectangle 41"/>
          <p:cNvSpPr/>
          <p:nvPr/>
        </p:nvSpPr>
        <p:spPr>
          <a:xfrm>
            <a:off x="5120640" y="4828032"/>
            <a:ext cx="3749039" cy="365760"/>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193792" y="4892040"/>
            <a:ext cx="3657599" cy="274320"/>
          </a:xfrm>
          <a:prstGeom prst="rect">
            <a:avLst/>
          </a:prstGeom>
          <a:noFill/>
        </p:spPr>
        <p:txBody>
          <a:bodyPr wrap="square">
            <a:spAutoFit/>
          </a:bodyPr>
          <a:lstStyle/>
          <a:p>
            <a:pPr algn="l"/>
            <a:r>
              <a:rPr sz="1000" b="0" i="0">
                <a:solidFill>
                  <a:srgbClr val="737373"/>
                </a:solidFill>
                <a:latin typeface="Arial"/>
              </a:rPr>
              <a:t>3-4 coordinator roles</a:t>
            </a:r>
          </a:p>
        </p:txBody>
      </p:sp>
      <p:sp>
        <p:nvSpPr>
          <p:cNvPr id="44" name="Rectangle 43"/>
          <p:cNvSpPr/>
          <p:nvPr/>
        </p:nvSpPr>
        <p:spPr>
          <a:xfrm>
            <a:off x="9052560" y="4828032"/>
            <a:ext cx="2926080" cy="365760"/>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125712" y="4892040"/>
            <a:ext cx="2834640" cy="274320"/>
          </a:xfrm>
          <a:prstGeom prst="rect">
            <a:avLst/>
          </a:prstGeom>
          <a:noFill/>
        </p:spPr>
        <p:txBody>
          <a:bodyPr wrap="square">
            <a:spAutoFit/>
          </a:bodyPr>
          <a:lstStyle/>
          <a:p>
            <a:pPr algn="l"/>
            <a:r>
              <a:rPr sz="1000" b="0" i="0">
                <a:solidFill>
                  <a:srgbClr val="737373"/>
                </a:solidFill>
                <a:latin typeface="Arial"/>
              </a:rPr>
              <a:t>$500K-$900K</a:t>
            </a:r>
          </a:p>
        </p:txBody>
      </p:sp>
      <p:sp>
        <p:nvSpPr>
          <p:cNvPr id="46" name="Rectangle 45"/>
          <p:cNvSpPr/>
          <p:nvPr/>
        </p:nvSpPr>
        <p:spPr>
          <a:xfrm>
            <a:off x="731520" y="5230368"/>
            <a:ext cx="4206240" cy="365760"/>
          </a:xfrm>
          <a:prstGeom prst="rect">
            <a:avLst/>
          </a:prstGeom>
          <a:solidFill>
            <a:srgbClr val="06121A"/>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04672" y="5294376"/>
            <a:ext cx="4114800" cy="274320"/>
          </a:xfrm>
          <a:prstGeom prst="rect">
            <a:avLst/>
          </a:prstGeom>
          <a:noFill/>
        </p:spPr>
        <p:txBody>
          <a:bodyPr wrap="square">
            <a:spAutoFit/>
          </a:bodyPr>
          <a:lstStyle/>
          <a:p>
            <a:pPr algn="l"/>
            <a:r>
              <a:rPr sz="1200" b="1" i="0">
                <a:solidFill>
                  <a:srgbClr val="FFFFFF"/>
                </a:solidFill>
                <a:latin typeface="Arial"/>
              </a:rPr>
              <a:t>TOTAL (12 AGENTS)</a:t>
            </a:r>
          </a:p>
        </p:txBody>
      </p:sp>
      <p:sp>
        <p:nvSpPr>
          <p:cNvPr id="48" name="Rectangle 47"/>
          <p:cNvSpPr/>
          <p:nvPr/>
        </p:nvSpPr>
        <p:spPr>
          <a:xfrm>
            <a:off x="5120640" y="5230368"/>
            <a:ext cx="3749039" cy="365760"/>
          </a:xfrm>
          <a:prstGeom prst="rect">
            <a:avLst/>
          </a:prstGeom>
          <a:solidFill>
            <a:srgbClr val="06121A"/>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193792" y="5294376"/>
            <a:ext cx="3657599" cy="274320"/>
          </a:xfrm>
          <a:prstGeom prst="rect">
            <a:avLst/>
          </a:prstGeom>
          <a:noFill/>
        </p:spPr>
        <p:txBody>
          <a:bodyPr wrap="square">
            <a:spAutoFit/>
          </a:bodyPr>
          <a:lstStyle/>
          <a:p>
            <a:pPr algn="l"/>
            <a:r>
              <a:rPr sz="1200" b="1" i="0">
                <a:solidFill>
                  <a:srgbClr val="FFFFFF"/>
                </a:solidFill>
                <a:latin typeface="Arial"/>
              </a:rPr>
              <a:t>13-20 roles replaced + revenue uplift</a:t>
            </a:r>
          </a:p>
        </p:txBody>
      </p:sp>
      <p:sp>
        <p:nvSpPr>
          <p:cNvPr id="50" name="Rectangle 49"/>
          <p:cNvSpPr/>
          <p:nvPr/>
        </p:nvSpPr>
        <p:spPr>
          <a:xfrm>
            <a:off x="9052560" y="5230368"/>
            <a:ext cx="2926080" cy="365760"/>
          </a:xfrm>
          <a:prstGeom prst="rect">
            <a:avLst/>
          </a:prstGeom>
          <a:solidFill>
            <a:srgbClr val="06121A"/>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125712" y="5294376"/>
            <a:ext cx="2834640" cy="274320"/>
          </a:xfrm>
          <a:prstGeom prst="rect">
            <a:avLst/>
          </a:prstGeom>
          <a:noFill/>
        </p:spPr>
        <p:txBody>
          <a:bodyPr wrap="square">
            <a:spAutoFit/>
          </a:bodyPr>
          <a:lstStyle/>
          <a:p>
            <a:pPr algn="l"/>
            <a:r>
              <a:rPr sz="1200" b="1" i="0">
                <a:solidFill>
                  <a:srgbClr val="22D3EE"/>
                </a:solidFill>
                <a:latin typeface="Arial"/>
              </a:rPr>
              <a:t>$2.6M-$4.6M</a:t>
            </a:r>
          </a:p>
        </p:txBody>
      </p:sp>
      <p:sp>
        <p:nvSpPr>
          <p:cNvPr id="52" name="TextBox 51"/>
          <p:cNvSpPr txBox="1"/>
          <p:nvPr/>
        </p:nvSpPr>
        <p:spPr>
          <a:xfrm>
            <a:off x="731520" y="6263640"/>
            <a:ext cx="10515600" cy="320040"/>
          </a:xfrm>
          <a:prstGeom prst="rect">
            <a:avLst/>
          </a:prstGeom>
          <a:noFill/>
        </p:spPr>
        <p:txBody>
          <a:bodyPr wrap="square">
            <a:spAutoFit/>
          </a:bodyPr>
          <a:lstStyle/>
          <a:p>
            <a:pPr algn="l"/>
            <a:r>
              <a:rPr sz="1100" b="0" i="0">
                <a:solidFill>
                  <a:srgbClr val="373737"/>
                </a:solidFill>
                <a:latin typeface="Arial"/>
              </a:rPr>
              <a:t>Deployment cost (6 months): $200K-$400K   |   Net value: $2.2M-$4.2M   |   Payback: 45-60 days</a:t>
            </a:r>
          </a:p>
        </p:txBody>
      </p:sp>
      <p:sp>
        <p:nvSpPr>
          <p:cNvPr id="53" name="TextBox 52"/>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9144000" cy="320040"/>
          </a:xfrm>
          <a:prstGeom prst="rect">
            <a:avLst/>
          </a:prstGeom>
          <a:noFill/>
        </p:spPr>
        <p:txBody>
          <a:bodyPr wrap="square">
            <a:spAutoFit/>
          </a:bodyPr>
          <a:lstStyle/>
          <a:p>
            <a:pPr algn="l"/>
            <a:r>
              <a:rPr sz="900" b="1" i="0">
                <a:solidFill>
                  <a:srgbClr val="22D3EE"/>
                </a:solidFill>
                <a:latin typeface="Arial"/>
              </a:rPr>
              <a:t>DEPLOYMENT PLAN</a:t>
            </a:r>
          </a:p>
        </p:txBody>
      </p:sp>
      <p:sp>
        <p:nvSpPr>
          <p:cNvPr id="3" name="TextBox 2"/>
          <p:cNvSpPr txBox="1"/>
          <p:nvPr/>
        </p:nvSpPr>
        <p:spPr>
          <a:xfrm>
            <a:off x="731520" y="822960"/>
            <a:ext cx="10515600" cy="1828800"/>
          </a:xfrm>
          <a:prstGeom prst="rect">
            <a:avLst/>
          </a:prstGeom>
          <a:noFill/>
        </p:spPr>
        <p:txBody>
          <a:bodyPr wrap="square">
            <a:spAutoFit/>
          </a:bodyPr>
          <a:lstStyle/>
          <a:p>
            <a:r>
              <a:rPr sz="3800" b="1">
                <a:solidFill>
                  <a:srgbClr val="FFFFFF"/>
                </a:solidFill>
                <a:latin typeface="Arial"/>
              </a:rPr>
              <a:t>One pilot. 30 days to go live.</a:t>
            </a:r>
          </a:p>
          <a:p>
            <a:r>
              <a:rPr sz="3800" b="1">
                <a:solidFill>
                  <a:srgbClr val="22D3EE"/>
                </a:solidFill>
                <a:latin typeface="Arial"/>
              </a:rPr>
              <a:t>Scaled across the full front office in 6 months.</a:t>
            </a:r>
          </a:p>
        </p:txBody>
      </p:sp>
      <p:sp>
        <p:nvSpPr>
          <p:cNvPr id="4" name="Rectangle 3"/>
          <p:cNvSpPr/>
          <p:nvPr/>
        </p:nvSpPr>
        <p:spPr>
          <a:xfrm>
            <a:off x="731520" y="2651760"/>
            <a:ext cx="3566160" cy="356616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2651760"/>
            <a:ext cx="356616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788920"/>
            <a:ext cx="3200400" cy="256032"/>
          </a:xfrm>
          <a:prstGeom prst="rect">
            <a:avLst/>
          </a:prstGeom>
          <a:noFill/>
        </p:spPr>
        <p:txBody>
          <a:bodyPr wrap="square">
            <a:spAutoFit/>
          </a:bodyPr>
          <a:lstStyle/>
          <a:p>
            <a:pPr algn="l"/>
            <a:r>
              <a:rPr sz="1000" b="1" i="0">
                <a:solidFill>
                  <a:srgbClr val="22D3EE"/>
                </a:solidFill>
                <a:latin typeface="Arial"/>
              </a:rPr>
              <a:t>PHASE 1 — DAYS 1-30</a:t>
            </a:r>
          </a:p>
        </p:txBody>
      </p:sp>
      <p:sp>
        <p:nvSpPr>
          <p:cNvPr id="7" name="TextBox 6"/>
          <p:cNvSpPr txBox="1"/>
          <p:nvPr/>
        </p:nvSpPr>
        <p:spPr>
          <a:xfrm>
            <a:off x="914400" y="3090672"/>
            <a:ext cx="3200400" cy="411480"/>
          </a:xfrm>
          <a:prstGeom prst="rect">
            <a:avLst/>
          </a:prstGeom>
          <a:noFill/>
        </p:spPr>
        <p:txBody>
          <a:bodyPr wrap="square">
            <a:spAutoFit/>
          </a:bodyPr>
          <a:lstStyle/>
          <a:p>
            <a:pPr algn="l"/>
            <a:r>
              <a:rPr sz="1700" b="1" i="0">
                <a:solidFill>
                  <a:srgbClr val="FFFFFF"/>
                </a:solidFill>
                <a:latin typeface="Arial"/>
              </a:rPr>
              <a:t>Ticket Sales + Fan Comms</a:t>
            </a:r>
          </a:p>
        </p:txBody>
      </p:sp>
      <p:sp>
        <p:nvSpPr>
          <p:cNvPr id="8" name="TextBox 7"/>
          <p:cNvSpPr txBox="1"/>
          <p:nvPr/>
        </p:nvSpPr>
        <p:spPr>
          <a:xfrm>
            <a:off x="914400" y="3611880"/>
            <a:ext cx="3200400" cy="1234440"/>
          </a:xfrm>
          <a:prstGeom prst="rect">
            <a:avLst/>
          </a:prstGeom>
          <a:noFill/>
        </p:spPr>
        <p:txBody>
          <a:bodyPr wrap="square">
            <a:spAutoFit/>
          </a:bodyPr>
          <a:lstStyle/>
          <a:p>
            <a:pPr algn="l"/>
            <a:r>
              <a:rPr sz="1200" b="0" i="0">
                <a:solidFill>
                  <a:srgbClr val="737373"/>
                </a:solidFill>
                <a:latin typeface="Arial"/>
              </a:rPr>
              <a:t>Ticket Sales Agent and Fan Communications Agent go live. Every fan touchpoint automated. Sales pipeline reporting daily. Results visible before end of month.</a:t>
            </a:r>
          </a:p>
        </p:txBody>
      </p:sp>
      <p:sp>
        <p:nvSpPr>
          <p:cNvPr id="9" name="TextBox 8"/>
          <p:cNvSpPr txBox="1"/>
          <p:nvPr/>
        </p:nvSpPr>
        <p:spPr>
          <a:xfrm>
            <a:off x="914400" y="5440680"/>
            <a:ext cx="3200400" cy="457200"/>
          </a:xfrm>
          <a:prstGeom prst="rect">
            <a:avLst/>
          </a:prstGeom>
          <a:noFill/>
        </p:spPr>
        <p:txBody>
          <a:bodyPr wrap="square">
            <a:spAutoFit/>
          </a:bodyPr>
          <a:lstStyle/>
          <a:p>
            <a:pPr algn="l"/>
            <a:r>
              <a:rPr sz="1600" b="1" i="0">
                <a:solidFill>
                  <a:srgbClr val="22D3EE"/>
                </a:solidFill>
                <a:latin typeface="Arial"/>
              </a:rPr>
              <a:t>$600K-$1.1M annualized</a:t>
            </a:r>
          </a:p>
        </p:txBody>
      </p:sp>
      <p:sp>
        <p:nvSpPr>
          <p:cNvPr id="10" name="Rectangle 9"/>
          <p:cNvSpPr/>
          <p:nvPr/>
        </p:nvSpPr>
        <p:spPr>
          <a:xfrm>
            <a:off x="4526280" y="2651760"/>
            <a:ext cx="3566160" cy="356616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26280" y="2651760"/>
            <a:ext cx="356616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09160" y="2788920"/>
            <a:ext cx="3200400" cy="256032"/>
          </a:xfrm>
          <a:prstGeom prst="rect">
            <a:avLst/>
          </a:prstGeom>
          <a:noFill/>
        </p:spPr>
        <p:txBody>
          <a:bodyPr wrap="square">
            <a:spAutoFit/>
          </a:bodyPr>
          <a:lstStyle/>
          <a:p>
            <a:pPr algn="l"/>
            <a:r>
              <a:rPr sz="1000" b="1" i="0">
                <a:solidFill>
                  <a:srgbClr val="22D3EE"/>
                </a:solidFill>
                <a:latin typeface="Arial"/>
              </a:rPr>
              <a:t>PHASE 2 — MONTH 2-3</a:t>
            </a:r>
          </a:p>
        </p:txBody>
      </p:sp>
      <p:sp>
        <p:nvSpPr>
          <p:cNvPr id="13" name="TextBox 12"/>
          <p:cNvSpPr txBox="1"/>
          <p:nvPr/>
        </p:nvSpPr>
        <p:spPr>
          <a:xfrm>
            <a:off x="4709160" y="3090672"/>
            <a:ext cx="3200400" cy="411480"/>
          </a:xfrm>
          <a:prstGeom prst="rect">
            <a:avLst/>
          </a:prstGeom>
          <a:noFill/>
        </p:spPr>
        <p:txBody>
          <a:bodyPr wrap="square">
            <a:spAutoFit/>
          </a:bodyPr>
          <a:lstStyle/>
          <a:p>
            <a:pPr algn="l"/>
            <a:r>
              <a:rPr sz="1700" b="1" i="0">
                <a:solidFill>
                  <a:srgbClr val="FFFFFF"/>
                </a:solidFill>
                <a:latin typeface="Arial"/>
              </a:rPr>
              <a:t>Media + Sponsorships + Finance</a:t>
            </a:r>
          </a:p>
        </p:txBody>
      </p:sp>
      <p:sp>
        <p:nvSpPr>
          <p:cNvPr id="14" name="TextBox 13"/>
          <p:cNvSpPr txBox="1"/>
          <p:nvPr/>
        </p:nvSpPr>
        <p:spPr>
          <a:xfrm>
            <a:off x="4709160" y="3611880"/>
            <a:ext cx="3200400" cy="1234440"/>
          </a:xfrm>
          <a:prstGeom prst="rect">
            <a:avLst/>
          </a:prstGeom>
          <a:noFill/>
        </p:spPr>
        <p:txBody>
          <a:bodyPr wrap="square">
            <a:spAutoFit/>
          </a:bodyPr>
          <a:lstStyle/>
          <a:p>
            <a:pPr algn="l"/>
            <a:r>
              <a:rPr sz="1200" b="0" i="0">
                <a:solidFill>
                  <a:srgbClr val="737373"/>
                </a:solidFill>
                <a:latin typeface="Arial"/>
              </a:rPr>
              <a:t>Media monitoring, sponsorship tracking, contract management, and financial reporting agents deployed. Front office gets daily briefings automatically.</a:t>
            </a:r>
          </a:p>
        </p:txBody>
      </p:sp>
      <p:sp>
        <p:nvSpPr>
          <p:cNvPr id="15" name="TextBox 14"/>
          <p:cNvSpPr txBox="1"/>
          <p:nvPr/>
        </p:nvSpPr>
        <p:spPr>
          <a:xfrm>
            <a:off x="4709160" y="5440680"/>
            <a:ext cx="3200400" cy="457200"/>
          </a:xfrm>
          <a:prstGeom prst="rect">
            <a:avLst/>
          </a:prstGeom>
          <a:noFill/>
        </p:spPr>
        <p:txBody>
          <a:bodyPr wrap="square">
            <a:spAutoFit/>
          </a:bodyPr>
          <a:lstStyle/>
          <a:p>
            <a:pPr algn="l"/>
            <a:r>
              <a:rPr sz="1600" b="1" i="0">
                <a:solidFill>
                  <a:srgbClr val="22D3EE"/>
                </a:solidFill>
                <a:latin typeface="Arial"/>
              </a:rPr>
              <a:t>$1.5M-$2.7M by month 3</a:t>
            </a:r>
          </a:p>
        </p:txBody>
      </p:sp>
      <p:sp>
        <p:nvSpPr>
          <p:cNvPr id="16" name="Rectangle 15"/>
          <p:cNvSpPr/>
          <p:nvPr/>
        </p:nvSpPr>
        <p:spPr>
          <a:xfrm>
            <a:off x="8321040" y="2651760"/>
            <a:ext cx="3566160" cy="356616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21040" y="2651760"/>
            <a:ext cx="356616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0" y="2788920"/>
            <a:ext cx="3200400" cy="256032"/>
          </a:xfrm>
          <a:prstGeom prst="rect">
            <a:avLst/>
          </a:prstGeom>
          <a:noFill/>
        </p:spPr>
        <p:txBody>
          <a:bodyPr wrap="square">
            <a:spAutoFit/>
          </a:bodyPr>
          <a:lstStyle/>
          <a:p>
            <a:pPr algn="l"/>
            <a:r>
              <a:rPr sz="1000" b="1" i="0">
                <a:solidFill>
                  <a:srgbClr val="22D3EE"/>
                </a:solidFill>
                <a:latin typeface="Arial"/>
              </a:rPr>
              <a:t>PHASE 3 — MONTH 4-6</a:t>
            </a:r>
          </a:p>
        </p:txBody>
      </p:sp>
      <p:sp>
        <p:nvSpPr>
          <p:cNvPr id="19" name="TextBox 18"/>
          <p:cNvSpPr txBox="1"/>
          <p:nvPr/>
        </p:nvSpPr>
        <p:spPr>
          <a:xfrm>
            <a:off x="8503920" y="3090672"/>
            <a:ext cx="3200400" cy="411480"/>
          </a:xfrm>
          <a:prstGeom prst="rect">
            <a:avLst/>
          </a:prstGeom>
          <a:noFill/>
        </p:spPr>
        <p:txBody>
          <a:bodyPr wrap="square">
            <a:spAutoFit/>
          </a:bodyPr>
          <a:lstStyle/>
          <a:p>
            <a:pPr algn="l"/>
            <a:r>
              <a:rPr sz="1700" b="1" i="0">
                <a:solidFill>
                  <a:srgbClr val="FFFFFF"/>
                </a:solidFill>
                <a:latin typeface="Arial"/>
              </a:rPr>
              <a:t>Full 12-Agent Coverage</a:t>
            </a:r>
          </a:p>
        </p:txBody>
      </p:sp>
      <p:sp>
        <p:nvSpPr>
          <p:cNvPr id="20" name="TextBox 19"/>
          <p:cNvSpPr txBox="1"/>
          <p:nvPr/>
        </p:nvSpPr>
        <p:spPr>
          <a:xfrm>
            <a:off x="8503920" y="3611880"/>
            <a:ext cx="3200400" cy="1234440"/>
          </a:xfrm>
          <a:prstGeom prst="rect">
            <a:avLst/>
          </a:prstGeom>
          <a:noFill/>
        </p:spPr>
        <p:txBody>
          <a:bodyPr wrap="square">
            <a:spAutoFit/>
          </a:bodyPr>
          <a:lstStyle/>
          <a:p>
            <a:pPr algn="l"/>
            <a:r>
              <a:rPr sz="1200" b="0" i="0">
                <a:solidFill>
                  <a:srgbClr val="737373"/>
                </a:solidFill>
                <a:latin typeface="Arial"/>
              </a:rPr>
              <a:t>Scouting intelligence, arena operations, HR, community, marketing, and analytics agents fully operational. Complete AI workforce running across the entire front office.</a:t>
            </a:r>
          </a:p>
        </p:txBody>
      </p:sp>
      <p:sp>
        <p:nvSpPr>
          <p:cNvPr id="21" name="TextBox 20"/>
          <p:cNvSpPr txBox="1"/>
          <p:nvPr/>
        </p:nvSpPr>
        <p:spPr>
          <a:xfrm>
            <a:off x="8503920" y="5440680"/>
            <a:ext cx="3200400" cy="457200"/>
          </a:xfrm>
          <a:prstGeom prst="rect">
            <a:avLst/>
          </a:prstGeom>
          <a:noFill/>
        </p:spPr>
        <p:txBody>
          <a:bodyPr wrap="square">
            <a:spAutoFit/>
          </a:bodyPr>
          <a:lstStyle/>
          <a:p>
            <a:pPr algn="l"/>
            <a:r>
              <a:rPr sz="1600" b="1" i="0">
                <a:solidFill>
                  <a:srgbClr val="22D3EE"/>
                </a:solidFill>
                <a:latin typeface="Arial"/>
              </a:rPr>
              <a:t>$2.6M-$4.6M by month 6</a:t>
            </a:r>
          </a:p>
        </p:txBody>
      </p:sp>
      <p:sp>
        <p:nvSpPr>
          <p:cNvPr id="22" name="TextBox 21"/>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5486400" cy="365760"/>
          </a:xfrm>
          <a:prstGeom prst="rect">
            <a:avLst/>
          </a:prstGeom>
          <a:noFill/>
        </p:spPr>
        <p:txBody>
          <a:bodyPr wrap="square">
            <a:spAutoFit/>
          </a:bodyPr>
          <a:lstStyle/>
          <a:p>
            <a:pPr algn="l"/>
            <a:r>
              <a:rPr sz="1000" b="1" i="0">
                <a:solidFill>
                  <a:srgbClr val="22D3EE"/>
                </a:solidFill>
                <a:latin typeface="Arial"/>
              </a:rPr>
              <a:t>DEVOLUTION LAB</a:t>
            </a:r>
          </a:p>
        </p:txBody>
      </p:sp>
      <p:sp>
        <p:nvSpPr>
          <p:cNvPr id="3" name="TextBox 2"/>
          <p:cNvSpPr txBox="1"/>
          <p:nvPr/>
        </p:nvSpPr>
        <p:spPr>
          <a:xfrm>
            <a:off x="731520" y="1097280"/>
            <a:ext cx="10058400" cy="1828800"/>
          </a:xfrm>
          <a:prstGeom prst="rect">
            <a:avLst/>
          </a:prstGeom>
          <a:noFill/>
        </p:spPr>
        <p:txBody>
          <a:bodyPr wrap="square">
            <a:spAutoFit/>
          </a:bodyPr>
          <a:lstStyle/>
          <a:p>
            <a:r>
              <a:rPr sz="5000" b="1">
                <a:solidFill>
                  <a:srgbClr val="22D3EE"/>
                </a:solidFill>
                <a:latin typeface="Arial"/>
              </a:rPr>
              <a:t>$2.6M-$4.6M in value.</a:t>
            </a:r>
          </a:p>
          <a:p>
            <a:r>
              <a:rPr sz="5000" b="1">
                <a:solidFill>
                  <a:srgbClr val="FFFFFF"/>
                </a:solidFill>
                <a:latin typeface="Arial"/>
              </a:rPr>
              <a:t>12 agents. 30 days to live.</a:t>
            </a:r>
          </a:p>
        </p:txBody>
      </p:sp>
      <p:sp>
        <p:nvSpPr>
          <p:cNvPr id="4" name="TextBox 3"/>
          <p:cNvSpPr txBox="1"/>
          <p:nvPr/>
        </p:nvSpPr>
        <p:spPr>
          <a:xfrm>
            <a:off x="731520" y="3063240"/>
            <a:ext cx="10515600" cy="914400"/>
          </a:xfrm>
          <a:prstGeom prst="rect">
            <a:avLst/>
          </a:prstGeom>
          <a:noFill/>
        </p:spPr>
        <p:txBody>
          <a:bodyPr wrap="square">
            <a:spAutoFit/>
          </a:bodyPr>
          <a:lstStyle/>
          <a:p>
            <a:pPr algn="l"/>
            <a:r>
              <a:rPr sz="1600" b="0" i="0">
                <a:solidFill>
                  <a:srgbClr val="737373"/>
                </a:solidFill>
                <a:latin typeface="Arial"/>
              </a:rPr>
              <a:t>The players keep playing. The coaches keep coaching.
The AI workforce handles every coordinator, analyst, and back-office function surrounding them.</a:t>
            </a:r>
          </a:p>
        </p:txBody>
      </p:sp>
      <p:sp>
        <p:nvSpPr>
          <p:cNvPr id="5" name="TextBox 4"/>
          <p:cNvSpPr txBox="1"/>
          <p:nvPr/>
        </p:nvSpPr>
        <p:spPr>
          <a:xfrm>
            <a:off x="731520" y="4389120"/>
            <a:ext cx="4572000" cy="365760"/>
          </a:xfrm>
          <a:prstGeom prst="rect">
            <a:avLst/>
          </a:prstGeom>
          <a:noFill/>
        </p:spPr>
        <p:txBody>
          <a:bodyPr wrap="square">
            <a:spAutoFit/>
          </a:bodyPr>
          <a:lstStyle/>
          <a:p>
            <a:pPr algn="l"/>
            <a:r>
              <a:rPr sz="1600" b="0" i="0">
                <a:solidFill>
                  <a:srgbClr val="22D3EE"/>
                </a:solidFill>
                <a:latin typeface="Arial"/>
              </a:rPr>
              <a:t>info@devolutionlab.com</a:t>
            </a:r>
          </a:p>
        </p:txBody>
      </p:sp>
      <p:sp>
        <p:nvSpPr>
          <p:cNvPr id="6" name="TextBox 5"/>
          <p:cNvSpPr txBox="1"/>
          <p:nvPr/>
        </p:nvSpPr>
        <p:spPr>
          <a:xfrm>
            <a:off x="731520" y="4892040"/>
            <a:ext cx="4572000" cy="365760"/>
          </a:xfrm>
          <a:prstGeom prst="rect">
            <a:avLst/>
          </a:prstGeom>
          <a:noFill/>
        </p:spPr>
        <p:txBody>
          <a:bodyPr wrap="square">
            <a:spAutoFit/>
          </a:bodyPr>
          <a:lstStyle/>
          <a:p>
            <a:pPr algn="l"/>
            <a:r>
              <a:rPr sz="1400" b="0" i="0">
                <a:solidFill>
                  <a:srgbClr val="373737"/>
                </a:solidFill>
                <a:latin typeface="Arial"/>
              </a:rPr>
              <a:t>devolutionlab.com</a:t>
            </a:r>
          </a:p>
        </p:txBody>
      </p:sp>
      <p:sp>
        <p:nvSpPr>
          <p:cNvPr id="7" name="TextBox 6"/>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365760"/>
            <a:ext cx="7315200" cy="320040"/>
          </a:xfrm>
          <a:prstGeom prst="rect">
            <a:avLst/>
          </a:prstGeom>
          <a:noFill/>
        </p:spPr>
        <p:txBody>
          <a:bodyPr wrap="square">
            <a:spAutoFit/>
          </a:bodyPr>
          <a:lstStyle/>
          <a:p>
            <a:pPr algn="l"/>
            <a:r>
              <a:rPr sz="900" b="1" i="0">
                <a:solidFill>
                  <a:srgbClr val="22D3EE"/>
                </a:solidFill>
                <a:latin typeface="Arial"/>
              </a:rPr>
              <a:t>THE FULL SCALE PICTURE</a:t>
            </a:r>
          </a:p>
        </p:txBody>
      </p:sp>
      <p:sp>
        <p:nvSpPr>
          <p:cNvPr id="3" name="TextBox 2"/>
          <p:cNvSpPr txBox="1"/>
          <p:nvPr/>
        </p:nvSpPr>
        <p:spPr>
          <a:xfrm>
            <a:off x="731520" y="731520"/>
            <a:ext cx="10515600" cy="1280160"/>
          </a:xfrm>
          <a:prstGeom prst="rect">
            <a:avLst/>
          </a:prstGeom>
          <a:noFill/>
        </p:spPr>
        <p:txBody>
          <a:bodyPr wrap="square">
            <a:spAutoFit/>
          </a:bodyPr>
          <a:lstStyle/>
          <a:p>
            <a:r>
              <a:rPr sz="4400" b="1">
                <a:solidFill>
                  <a:srgbClr val="FFFFFF"/>
                </a:solidFill>
                <a:latin typeface="Arial"/>
              </a:rPr>
              <a:t>The pilot is $9M.</a:t>
            </a:r>
          </a:p>
          <a:p>
            <a:r>
              <a:rPr sz="4400" b="1">
                <a:solidFill>
                  <a:srgbClr val="22D3EE"/>
                </a:solidFill>
                <a:latin typeface="Arial"/>
              </a:rPr>
              <a:t>The full opportunity is $80M.</a:t>
            </a:r>
          </a:p>
        </p:txBody>
      </p:sp>
      <p:sp>
        <p:nvSpPr>
          <p:cNvPr id="4" name="TextBox 3"/>
          <p:cNvSpPr txBox="1"/>
          <p:nvPr/>
        </p:nvSpPr>
        <p:spPr>
          <a:xfrm>
            <a:off x="731520" y="2148840"/>
            <a:ext cx="10515600" cy="914400"/>
          </a:xfrm>
          <a:prstGeom prst="rect">
            <a:avLst/>
          </a:prstGeom>
          <a:noFill/>
        </p:spPr>
        <p:txBody>
          <a:bodyPr wrap="square">
            <a:spAutoFit/>
          </a:bodyPr>
          <a:lstStyle/>
          <a:p>
            <a:pPr algn="l"/>
            <a:r>
              <a:rPr sz="1300" b="0" i="0">
                <a:solidFill>
                  <a:srgbClr val="737373"/>
                </a:solidFill>
                <a:latin typeface="Arial"/>
              </a:rPr>
              <a:t>The 76ers operate a $150M-$200M organization outside of player salaries. Ticket operations, marketing, media, arena management, sponsorships, community programs, youth leagues, broadcast, merchandise, and retail — most of it still coordinated manually. Devolution Lab can systematically absorb that coordination layer. The pilot is where we prove it. The full deployment is where it changes the business.</a:t>
            </a:r>
          </a:p>
        </p:txBody>
      </p:sp>
      <p:sp>
        <p:nvSpPr>
          <p:cNvPr id="5" name="Rectangle 4"/>
          <p:cNvSpPr/>
          <p:nvPr/>
        </p:nvSpPr>
        <p:spPr>
          <a:xfrm>
            <a:off x="731520" y="3246120"/>
            <a:ext cx="3566160" cy="3200400"/>
          </a:xfrm>
          <a:prstGeom prst="rect">
            <a:avLst/>
          </a:prstGeom>
          <a:solidFill>
            <a:srgbClr val="080E1A"/>
          </a:solidFill>
          <a:ln w="127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3246120"/>
            <a:ext cx="356616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3364992"/>
            <a:ext cx="3200400" cy="256032"/>
          </a:xfrm>
          <a:prstGeom prst="rect">
            <a:avLst/>
          </a:prstGeom>
          <a:noFill/>
        </p:spPr>
        <p:txBody>
          <a:bodyPr wrap="square">
            <a:spAutoFit/>
          </a:bodyPr>
          <a:lstStyle/>
          <a:p>
            <a:pPr algn="l"/>
            <a:r>
              <a:rPr sz="1000" b="1" i="0">
                <a:solidFill>
                  <a:srgbClr val="22D3EE"/>
                </a:solidFill>
                <a:latin typeface="Arial"/>
              </a:rPr>
              <a:t>PHASE 1</a:t>
            </a:r>
          </a:p>
        </p:txBody>
      </p:sp>
      <p:sp>
        <p:nvSpPr>
          <p:cNvPr id="8" name="TextBox 7"/>
          <p:cNvSpPr txBox="1"/>
          <p:nvPr/>
        </p:nvSpPr>
        <p:spPr>
          <a:xfrm>
            <a:off x="914400" y="3657600"/>
            <a:ext cx="3200400" cy="411480"/>
          </a:xfrm>
          <a:prstGeom prst="rect">
            <a:avLst/>
          </a:prstGeom>
          <a:noFill/>
        </p:spPr>
        <p:txBody>
          <a:bodyPr wrap="square">
            <a:spAutoFit/>
          </a:bodyPr>
          <a:lstStyle/>
          <a:p>
            <a:pPr algn="l"/>
            <a:r>
              <a:rPr sz="1900" b="1" i="0">
                <a:solidFill>
                  <a:srgbClr val="FFFFFF"/>
                </a:solidFill>
                <a:latin typeface="Arial"/>
              </a:rPr>
              <a:t>Pilot Deployment</a:t>
            </a:r>
          </a:p>
        </p:txBody>
      </p:sp>
      <p:sp>
        <p:nvSpPr>
          <p:cNvPr id="9" name="TextBox 8"/>
          <p:cNvSpPr txBox="1"/>
          <p:nvPr/>
        </p:nvSpPr>
        <p:spPr>
          <a:xfrm>
            <a:off x="914400" y="4133087"/>
            <a:ext cx="3200400" cy="411480"/>
          </a:xfrm>
          <a:prstGeom prst="rect">
            <a:avLst/>
          </a:prstGeom>
          <a:noFill/>
        </p:spPr>
        <p:txBody>
          <a:bodyPr wrap="square">
            <a:spAutoFit/>
          </a:bodyPr>
          <a:lstStyle/>
          <a:p>
            <a:pPr algn="l"/>
            <a:r>
              <a:rPr sz="1300" b="0" i="0">
                <a:solidFill>
                  <a:srgbClr val="737373"/>
                </a:solidFill>
                <a:latin typeface="Arial"/>
              </a:rPr>
              <a:t>12 agents across core front office functions</a:t>
            </a:r>
          </a:p>
        </p:txBody>
      </p:sp>
      <p:sp>
        <p:nvSpPr>
          <p:cNvPr id="10" name="TextBox 9"/>
          <p:cNvSpPr txBox="1"/>
          <p:nvPr/>
        </p:nvSpPr>
        <p:spPr>
          <a:xfrm>
            <a:off x="914400" y="4681728"/>
            <a:ext cx="3200400" cy="502920"/>
          </a:xfrm>
          <a:prstGeom prst="rect">
            <a:avLst/>
          </a:prstGeom>
          <a:noFill/>
        </p:spPr>
        <p:txBody>
          <a:bodyPr wrap="square">
            <a:spAutoFit/>
          </a:bodyPr>
          <a:lstStyle/>
          <a:p>
            <a:pPr algn="l"/>
            <a:r>
              <a:rPr sz="2600" b="1" i="0">
                <a:solidFill>
                  <a:srgbClr val="22D3EE"/>
                </a:solidFill>
                <a:latin typeface="Arial"/>
              </a:rPr>
              <a:t>$5.2M-$9.2M / year</a:t>
            </a:r>
          </a:p>
        </p:txBody>
      </p:sp>
      <p:sp>
        <p:nvSpPr>
          <p:cNvPr id="11" name="TextBox 10"/>
          <p:cNvSpPr txBox="1"/>
          <p:nvPr/>
        </p:nvSpPr>
        <p:spPr>
          <a:xfrm>
            <a:off x="914400" y="5257800"/>
            <a:ext cx="3200400" cy="320040"/>
          </a:xfrm>
          <a:prstGeom prst="rect">
            <a:avLst/>
          </a:prstGeom>
          <a:noFill/>
        </p:spPr>
        <p:txBody>
          <a:bodyPr wrap="square">
            <a:spAutoFit/>
          </a:bodyPr>
          <a:lstStyle/>
          <a:p>
            <a:pPr algn="l"/>
            <a:r>
              <a:rPr sz="1200" b="0" i="1">
                <a:solidFill>
                  <a:srgbClr val="373737"/>
                </a:solidFill>
                <a:latin typeface="Arial"/>
              </a:rPr>
              <a:t>Conservative. Proven in 30 days.</a:t>
            </a:r>
          </a:p>
        </p:txBody>
      </p:sp>
      <p:sp>
        <p:nvSpPr>
          <p:cNvPr id="12" name="Rectangle 11"/>
          <p:cNvSpPr/>
          <p:nvPr/>
        </p:nvSpPr>
        <p:spPr>
          <a:xfrm>
            <a:off x="4526280" y="3246120"/>
            <a:ext cx="3566160" cy="3200400"/>
          </a:xfrm>
          <a:prstGeom prst="rect">
            <a:avLst/>
          </a:prstGeom>
          <a:solidFill>
            <a:srgbClr val="080E1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26280" y="3246120"/>
            <a:ext cx="356616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09160" y="3364992"/>
            <a:ext cx="3200400" cy="256032"/>
          </a:xfrm>
          <a:prstGeom prst="rect">
            <a:avLst/>
          </a:prstGeom>
          <a:noFill/>
        </p:spPr>
        <p:txBody>
          <a:bodyPr wrap="square">
            <a:spAutoFit/>
          </a:bodyPr>
          <a:lstStyle/>
          <a:p>
            <a:pPr algn="l"/>
            <a:r>
              <a:rPr sz="1000" b="1" i="0">
                <a:solidFill>
                  <a:srgbClr val="F59E0B"/>
                </a:solidFill>
                <a:latin typeface="Arial"/>
              </a:rPr>
              <a:t>PHASE 2</a:t>
            </a:r>
          </a:p>
        </p:txBody>
      </p:sp>
      <p:sp>
        <p:nvSpPr>
          <p:cNvPr id="15" name="TextBox 14"/>
          <p:cNvSpPr txBox="1"/>
          <p:nvPr/>
        </p:nvSpPr>
        <p:spPr>
          <a:xfrm>
            <a:off x="4709160" y="3657600"/>
            <a:ext cx="3200400" cy="411480"/>
          </a:xfrm>
          <a:prstGeom prst="rect">
            <a:avLst/>
          </a:prstGeom>
          <a:noFill/>
        </p:spPr>
        <p:txBody>
          <a:bodyPr wrap="square">
            <a:spAutoFit/>
          </a:bodyPr>
          <a:lstStyle/>
          <a:p>
            <a:pPr algn="l"/>
            <a:r>
              <a:rPr sz="1900" b="1" i="0">
                <a:solidFill>
                  <a:srgbClr val="FFFFFF"/>
                </a:solidFill>
                <a:latin typeface="Arial"/>
              </a:rPr>
              <a:t>Full Front Office</a:t>
            </a:r>
          </a:p>
        </p:txBody>
      </p:sp>
      <p:sp>
        <p:nvSpPr>
          <p:cNvPr id="16" name="TextBox 15"/>
          <p:cNvSpPr txBox="1"/>
          <p:nvPr/>
        </p:nvSpPr>
        <p:spPr>
          <a:xfrm>
            <a:off x="4709160" y="4133087"/>
            <a:ext cx="3200400" cy="411480"/>
          </a:xfrm>
          <a:prstGeom prst="rect">
            <a:avLst/>
          </a:prstGeom>
          <a:noFill/>
        </p:spPr>
        <p:txBody>
          <a:bodyPr wrap="square">
            <a:spAutoFit/>
          </a:bodyPr>
          <a:lstStyle/>
          <a:p>
            <a:pPr algn="l"/>
            <a:r>
              <a:rPr sz="1300" b="0" i="0">
                <a:solidFill>
                  <a:srgbClr val="737373"/>
                </a:solidFill>
                <a:latin typeface="Arial"/>
              </a:rPr>
              <a:t>40+ agents across all departments and divisions</a:t>
            </a:r>
          </a:p>
        </p:txBody>
      </p:sp>
      <p:sp>
        <p:nvSpPr>
          <p:cNvPr id="17" name="TextBox 16"/>
          <p:cNvSpPr txBox="1"/>
          <p:nvPr/>
        </p:nvSpPr>
        <p:spPr>
          <a:xfrm>
            <a:off x="4709160" y="4681728"/>
            <a:ext cx="3200400" cy="502920"/>
          </a:xfrm>
          <a:prstGeom prst="rect">
            <a:avLst/>
          </a:prstGeom>
          <a:noFill/>
        </p:spPr>
        <p:txBody>
          <a:bodyPr wrap="square">
            <a:spAutoFit/>
          </a:bodyPr>
          <a:lstStyle/>
          <a:p>
            <a:pPr algn="l"/>
            <a:r>
              <a:rPr sz="2600" b="1" i="0">
                <a:solidFill>
                  <a:srgbClr val="F59E0B"/>
                </a:solidFill>
                <a:latin typeface="Arial"/>
              </a:rPr>
              <a:t>$25M-$45M / year</a:t>
            </a:r>
          </a:p>
        </p:txBody>
      </p:sp>
      <p:sp>
        <p:nvSpPr>
          <p:cNvPr id="18" name="TextBox 17"/>
          <p:cNvSpPr txBox="1"/>
          <p:nvPr/>
        </p:nvSpPr>
        <p:spPr>
          <a:xfrm>
            <a:off x="4709160" y="5257800"/>
            <a:ext cx="3200400" cy="320040"/>
          </a:xfrm>
          <a:prstGeom prst="rect">
            <a:avLst/>
          </a:prstGeom>
          <a:noFill/>
        </p:spPr>
        <p:txBody>
          <a:bodyPr wrap="square">
            <a:spAutoFit/>
          </a:bodyPr>
          <a:lstStyle/>
          <a:p>
            <a:pPr algn="l"/>
            <a:r>
              <a:rPr sz="1200" b="0" i="1">
                <a:solidFill>
                  <a:srgbClr val="373737"/>
                </a:solidFill>
                <a:latin typeface="Arial"/>
              </a:rPr>
              <a:t>Full coordination layer replaced.</a:t>
            </a:r>
          </a:p>
        </p:txBody>
      </p:sp>
      <p:sp>
        <p:nvSpPr>
          <p:cNvPr id="19" name="Rectangle 18"/>
          <p:cNvSpPr/>
          <p:nvPr/>
        </p:nvSpPr>
        <p:spPr>
          <a:xfrm>
            <a:off x="8321040" y="3246120"/>
            <a:ext cx="3566160" cy="3200400"/>
          </a:xfrm>
          <a:prstGeom prst="rect">
            <a:avLst/>
          </a:prstGeom>
          <a:solidFill>
            <a:srgbClr val="080E1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321040" y="3246120"/>
            <a:ext cx="3566160"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03920" y="3364992"/>
            <a:ext cx="3200400" cy="256032"/>
          </a:xfrm>
          <a:prstGeom prst="rect">
            <a:avLst/>
          </a:prstGeom>
          <a:noFill/>
        </p:spPr>
        <p:txBody>
          <a:bodyPr wrap="square">
            <a:spAutoFit/>
          </a:bodyPr>
          <a:lstStyle/>
          <a:p>
            <a:pPr algn="l"/>
            <a:r>
              <a:rPr sz="1000" b="1" i="0">
                <a:solidFill>
                  <a:srgbClr val="10B981"/>
                </a:solidFill>
                <a:latin typeface="Arial"/>
              </a:rPr>
              <a:t>PHASE 3</a:t>
            </a:r>
          </a:p>
        </p:txBody>
      </p:sp>
      <p:sp>
        <p:nvSpPr>
          <p:cNvPr id="22" name="TextBox 21"/>
          <p:cNvSpPr txBox="1"/>
          <p:nvPr/>
        </p:nvSpPr>
        <p:spPr>
          <a:xfrm>
            <a:off x="8503920" y="3657600"/>
            <a:ext cx="3200400" cy="411480"/>
          </a:xfrm>
          <a:prstGeom prst="rect">
            <a:avLst/>
          </a:prstGeom>
          <a:noFill/>
        </p:spPr>
        <p:txBody>
          <a:bodyPr wrap="square">
            <a:spAutoFit/>
          </a:bodyPr>
          <a:lstStyle/>
          <a:p>
            <a:pPr algn="l"/>
            <a:r>
              <a:rPr sz="1900" b="1" i="0">
                <a:solidFill>
                  <a:srgbClr val="FFFFFF"/>
                </a:solidFill>
                <a:latin typeface="Arial"/>
              </a:rPr>
              <a:t>Enterprise-Wide</a:t>
            </a:r>
          </a:p>
        </p:txBody>
      </p:sp>
      <p:sp>
        <p:nvSpPr>
          <p:cNvPr id="23" name="TextBox 22"/>
          <p:cNvSpPr txBox="1"/>
          <p:nvPr/>
        </p:nvSpPr>
        <p:spPr>
          <a:xfrm>
            <a:off x="8503920" y="4133087"/>
            <a:ext cx="3200400" cy="411480"/>
          </a:xfrm>
          <a:prstGeom prst="rect">
            <a:avLst/>
          </a:prstGeom>
          <a:noFill/>
        </p:spPr>
        <p:txBody>
          <a:bodyPr wrap="square">
            <a:spAutoFit/>
          </a:bodyPr>
          <a:lstStyle/>
          <a:p>
            <a:pPr algn="l"/>
            <a:r>
              <a:rPr sz="1300" b="0" i="0">
                <a:solidFill>
                  <a:srgbClr val="737373"/>
                </a:solidFill>
                <a:latin typeface="Arial"/>
              </a:rPr>
              <a:t>Arena, broadcast, retail, youth leagues, community</a:t>
            </a:r>
          </a:p>
        </p:txBody>
      </p:sp>
      <p:sp>
        <p:nvSpPr>
          <p:cNvPr id="24" name="TextBox 23"/>
          <p:cNvSpPr txBox="1"/>
          <p:nvPr/>
        </p:nvSpPr>
        <p:spPr>
          <a:xfrm>
            <a:off x="8503920" y="4681728"/>
            <a:ext cx="3200400" cy="502920"/>
          </a:xfrm>
          <a:prstGeom prst="rect">
            <a:avLst/>
          </a:prstGeom>
          <a:noFill/>
        </p:spPr>
        <p:txBody>
          <a:bodyPr wrap="square">
            <a:spAutoFit/>
          </a:bodyPr>
          <a:lstStyle/>
          <a:p>
            <a:pPr algn="l"/>
            <a:r>
              <a:rPr sz="2600" b="1" i="0">
                <a:solidFill>
                  <a:srgbClr val="10B981"/>
                </a:solidFill>
                <a:latin typeface="Arial"/>
              </a:rPr>
              <a:t>$50M-$80M / year</a:t>
            </a:r>
          </a:p>
        </p:txBody>
      </p:sp>
      <p:sp>
        <p:nvSpPr>
          <p:cNvPr id="25" name="TextBox 24"/>
          <p:cNvSpPr txBox="1"/>
          <p:nvPr/>
        </p:nvSpPr>
        <p:spPr>
          <a:xfrm>
            <a:off x="8503920" y="5257800"/>
            <a:ext cx="3200400" cy="320040"/>
          </a:xfrm>
          <a:prstGeom prst="rect">
            <a:avLst/>
          </a:prstGeom>
          <a:noFill/>
        </p:spPr>
        <p:txBody>
          <a:bodyPr wrap="square">
            <a:spAutoFit/>
          </a:bodyPr>
          <a:lstStyle/>
          <a:p>
            <a:pPr algn="l"/>
            <a:r>
              <a:rPr sz="1200" b="0" i="1">
                <a:solidFill>
                  <a:srgbClr val="373737"/>
                </a:solidFill>
                <a:latin typeface="Arial"/>
              </a:rPr>
              <a:t>The entire non-player org automated.</a:t>
            </a:r>
          </a:p>
        </p:txBody>
      </p:sp>
      <p:sp>
        <p:nvSpPr>
          <p:cNvPr id="26" name="TextBox 25"/>
          <p:cNvSpPr txBox="1"/>
          <p:nvPr/>
        </p:nvSpPr>
        <p:spPr>
          <a:xfrm>
            <a:off x="731520" y="6446520"/>
            <a:ext cx="10515600" cy="320040"/>
          </a:xfrm>
          <a:prstGeom prst="rect">
            <a:avLst/>
          </a:prstGeom>
          <a:noFill/>
        </p:spPr>
        <p:txBody>
          <a:bodyPr wrap="square">
            <a:spAutoFit/>
          </a:bodyPr>
          <a:lstStyle/>
          <a:p>
            <a:pPr algn="l"/>
            <a:r>
              <a:rPr sz="1100" b="0" i="1">
                <a:solidFill>
                  <a:srgbClr val="373737"/>
                </a:solidFill>
                <a:latin typeface="Arial"/>
              </a:rPr>
              <a:t>Total operating budget outside player salaries: $150M-$200M/year. AI workforce addressable: 30-40%.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